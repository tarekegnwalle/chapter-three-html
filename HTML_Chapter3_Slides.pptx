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5BEC05-A57A-E2BB-900A-F79B57D26E9C}">
          <p14:sldIdLst>
            <p14:sldId id="256"/>
            <p14:sldId id="257"/>
          </p14:sldIdLst>
        </p14:section>
        <p14:section name="Foundations" id="{7256CBBB-D082-FBC5-1C9C-334404E32452}">
          <p14:sldIdLst>
            <p14:sldId id="258"/>
            <p14:sldId id="259"/>
            <p14:sldId id="260"/>
            <p14:sldId id="261"/>
          </p14:sldIdLst>
        </p14:section>
        <p14:section name="Text and Content" id="{2B09C5F1-8B4A-4548-8E2D-1AA0AD7EDD59}">
          <p14:sldIdLst>
            <p14:sldId id="262"/>
            <p14:sldId id="263"/>
            <p14:sldId id="264"/>
            <p14:sldId id="265"/>
            <p14:sldId id="266"/>
            <p14:sldId id="267"/>
          </p14:sldIdLst>
        </p14:section>
        <p14:section name="Tables" id="{72B6F451-2CDC-2B8F-6576-361E7C7C861E}">
          <p14:sldIdLst>
            <p14:sldId id="268"/>
            <p14:sldId id="269"/>
          </p14:sldIdLst>
        </p14:section>
        <p14:section name="Forms" id="{6B268871-ECB0-2470-3185-E28994C244A9}">
          <p14:sldIdLst>
            <p14:sldId id="270"/>
            <p14:sldId id="271"/>
            <p14:sldId id="272"/>
            <p14:sldId id="273"/>
          </p14:sldIdLst>
        </p14:section>
        <p14:section name="Semantics and SEO" id="{F4221D97-0033-058A-D47B-70ACF8C58479}">
          <p14:sldIdLst>
            <p14:sldId id="274"/>
            <p14:sldId id="275"/>
            <p14:sldId id="276"/>
          </p14:sldIdLst>
        </p14:section>
        <p14:section name="Quality and Practice" id="{E7F42260-59EF-F2EF-E8C7-5A08651DE25A}">
          <p14:sldIdLst>
            <p14:sldId id="277"/>
            <p14:sldId id="278"/>
            <p14:sldId id="279"/>
            <p14:sldId id="28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to Chapter 3. This chapter covers the HTML part of the syllabus: tags, attributes, text formatting, tables, forms, SEO and validation. It maps to CLO2 (apply frontend technologies), CLO3 (develop well-structured, standards-compliant pages) and CLO4 (debug, test and validate HTML). Show the small code sample on the right and tell students that by the end of the chapter they will understand every line of it and much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learning goals and link each to the course learning outcomes (CLOs). Then show the roadmap: six blocks over 25 slides. Remind students that the lab hours (45 hours in the syllabus) are where they will practise everything on these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 stands for HyperText Markup Language. Stress that it is a markup language, not a programming language: it describes the structure and meaning of content. Use the house analogy: HTML is the skeleton, CSS is the paint and decoration, JavaScript is the electricity and moving parts. Briefly walk through the timeline; the important point is that HTML5 is the modern standard and is now maintained as a living standard by WHATWG.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element is made of an opening tag, content and a closing tag. Attributes live inside the opening tag as name="value" pairs. Point at each coloured part of the big example. Mention void elements such as br, hr, img, input and meta: they have no content and no closing tag. Emphasise correct nesting: the last tag opened must be the first one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HTML5 page follows the same skeleton. Type this example live and open it in the browser. Ask students what is shown in the tab (the title) and what is shown in the page (the h1 and paragraph). Explain that the head is for information about the page while the body is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 never displays on the page but controls how the page behaves. Highlight the charset line: for Ethiopian languages such as Amharic UTF-8 is essential. The viewport meta tag is the foundation of responsive design, which will continue in the CSS chapter. The defer attribute lets the script load without blocking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 has six heading levels. Use h1 once for the main page title and then h2 to h6 for sub-sections in order. Headings are about structure, not about making text big: size is controlled by CSS later. The pre element preserves spaces, which browsers normally collapse. Show that two spaces or a line break in the source do not appear in the browser unless you use br or separate paragraphs.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semantic tags from purely visual ones. strong and em carry meaning (importance and emphasis) and are read differently by screen readers. b and i only change appearance. mark highlights relevant text. del and ins show edits. sub and sup are for chemical formulas and powers. Browsers give default styles, but later CSS can change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elements start on a new line and fill the available width: div, p, headings, lists, tables and forms. Inline elements sit inside a line of text: span, a, strong, em, img and input. Entities are used to display reserved characters or special symbols. Comments are for developers and are never shown to the visitor.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anchor tag is what makes the web a web. Show the four link types: external, relative, same-page anchors with id, and mailto/tel. Explain absolute versus relative paths using the project folder structure. Remind students that descriptive link text helps accessibility and SEO.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are void elements. src points to the file and alt describes it. Explain why alt matters for accessibility and SEO. figure with figcaption pairs an image with its caption. audio and video need no plug-in in modern browsers; the source element lets you offer several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kinds of list. ul is unordered with bullets, ol is ordered with numbers, and dl is a description list with terms and definitions. Every item of ul and ol is an li. Lists can be nested by placing a new list inside an li. Navigation menus are almost always built with lists, which you will style in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present data in rows and columns. tr is a row, th a header cell and td a data cell. Group rows semantically with thead, tbody and tfoot, and add a caption. This example uses the real assessment weights from the course syllabus. Stress that tables are for tabular data only, never for page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colspan merges cells across columns and rowspan merges them down rows. After a merged cell, leave out the cells it covers. Use scope on th to tell screen readers whether a header applies to a column or a row. Borders, spacing and colours should be applied with CSS rather than the old border attribute.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Forms collect user input such as registration data, logins and search terms. The form element has two key attributes: action, the URL that receives the data, and method, which is GET or POST. Each input needs a name, because the server receives data as name-value pairs. A label linked with for and id improves accessibility and lets users click the label to focus the field. Walk through the four-step flow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type attribute changes how an input behaves and what the browser checks. HTML5 added email, tel, number, date, range and color, which give mobile users suitable keyboards and pickers. Radio buttons share the same name so that only one can be chosen; checkboxes allow several. Demonstrate each type live in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combines the most common controls: text and email inputs, radio buttons, a select dropdown, a textarea and a submit button. Point out the pairing of label for and input id, and the required attribute. The mock-up on the right shows how the browser would draw it. Students should reproduce this form in the lab and then submit it to see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HTML5 can check input before it is sent, without writing any JavaScript. required stops empty fields, minlength and maxlength limit text, min and max limit numbers and dates, and pattern checks against a regular expression. The title attribute explains the expected format. Emphasise that this validation is a convenience for users: it can be bypassed, so the server must always validate again. Full JavaScript validation is covered in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elements describe the role of their content, unlike div and span which say nothing. Walk down the wireframe: header at the top, nav for main links, main for the unique content with article and aside inside, and footer at the bottom. Benefits: accessibility for screen readers, better SEO, easier reading and maintenance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wireframe from the previous slide written as code. Notice how readable it is compared to a page made only of div elements. Each landmark is a signal for browsers, search engines and assistive technology. Rule of thumb: use div only when no semantic element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Engine Optimisation helps people find your pages. Good HTML is the foundation. Walk through the six cards: a unique descriptive title, a meta description, a single h1 with logical headings, alt text, semantic structure and meaningful link text. The code sample shows the head of an SEO-friendly page. Mention that mobile-friendly design, optimised images, HTTPS and fast loading also influence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checks that your HTML follows the standard. This links directly to CLO4. Show the W3C Markup Validator at validator.w3.org, paste a page with a deliberate error and read the message with its line number. The most common mistakes are unclosed tags, bad nesting, missing alt and wrong file paths. Browser DevTools (F12) show how the browser actually interpreted your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habits that separate clean professional markup from messy code. Read through the Do column and then the Don't column. The two code snippets at the bottom show a correct and an outdated pattern. Encourage students to run the validator after every lab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combines everything in the chapter. Students build a one-page profile site using the skeleton on the right, then validate it with the W3C validator and push it to GitHub using the skills from Chapter 2. Suggested time: two lab sessions. Assessment ideas: correctness of structure, use of semantic tags, working form validation and zero validator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six key ideas and then use the review questions for a quick oral quiz or as homework. Suggested answers: strong carries importance while b is only visual; alt supports accessibility and SEO; GET shows data in the URL and POST hides it in the body; header, nav, main, article, section, aside and footer are semantic; use the W3C Markup Validator. Finish by previewing Chapter 4 on CSS styling and frameworks.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777240"/>
            <a:ext cx="11064240" cy="731520"/>
          </a:xfrm>
          <a:prstGeom prst="rect">
            <a:avLst/>
          </a:prstGeom>
          <a:noFill/>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00800"/>
            <a:ext cx="8229600" cy="274320"/>
          </a:xfrm>
          <a:prstGeom prst="rect">
            <a:avLst/>
          </a:prstGeom>
          <a:noFill/>
        </p:spPr>
        <p:txBody>
          <a:bodyPr wrap="square" lIns="0" tIns="0" rIns="0" bIns="0" rtlCol="0" anchor="ctr"/>
          <a:lstStyle/>
          <a:p>
            <a:pPr marL="0" indent="0">
              <a:buNone/>
            </a:pPr>
            <a:r>
              <a:rPr lang="en-US" sz="1000" dirty="0">
                <a:solidFill>
                  <a:schemeClr val="tx2"/>
                </a:solidFill>
              </a:rPr>
              <a:t>Internet and Web Programming I (InSy3061)  •  Chapter 3: Document Markup (HTML)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chip"/>
          <p:cNvSpPr/>
          <p:nvPr/>
        </p:nvSpPr>
        <p:spPr>
          <a:xfrm>
            <a:off x="731520" y="914400"/>
            <a:ext cx="1737360" cy="365760"/>
          </a:xfrm>
          <a:prstGeom prst="roundRect">
            <a:avLst>
              <a:gd name="adj" fmla="val 20000"/>
            </a:avLst>
          </a:prstGeom>
          <a:solidFill>
            <a:schemeClr val="accent1"/>
          </a:solidFill>
          <a:ln w="6350">
            <a:solidFill>
              <a:schemeClr val="accent1"/>
            </a:solidFill>
            <a:prstDash val="solid"/>
          </a:ln>
        </p:spPr>
      </p:sp>
      <p:sp>
        <p:nvSpPr>
          <p:cNvPr id="3" name="Text 1"/>
          <p:cNvSpPr txBox="1"/>
          <p:nvPr/>
        </p:nvSpPr>
        <p:spPr>
          <a:xfrm>
            <a:off x="731520" y="914400"/>
            <a:ext cx="1737360" cy="365760"/>
          </a:xfrm>
          <a:prstGeom prst="rect">
            <a:avLst/>
          </a:prstGeom>
          <a:noFill/>
        </p:spPr>
        <p:txBody>
          <a:bodyPr wrap="square" lIns="0" tIns="0" rIns="0" bIns="0" rtlCol="0" anchor="ctr"/>
          <a:lstStyle/>
          <a:p>
            <a:pPr marL="0" indent="0" algn="ctr">
              <a:buNone/>
            </a:pPr>
            <a:r>
              <a:rPr lang="en-US" sz="1400" b="1" dirty="0">
                <a:solidFill>
                  <a:schemeClr val="bg1"/>
                </a:solidFill>
              </a:rPr>
              <a:t>CHAPTER 3</a:t>
            </a:r>
            <a:endParaRPr lang="en-US" sz="1400" dirty="0"/>
          </a:p>
        </p:txBody>
      </p:sp>
      <p:sp>
        <p:nvSpPr>
          <p:cNvPr id="4" name="Text 2"/>
          <p:cNvSpPr txBox="1"/>
          <p:nvPr/>
        </p:nvSpPr>
        <p:spPr>
          <a:xfrm>
            <a:off x="731520" y="1554480"/>
            <a:ext cx="6035040" cy="2011680"/>
          </a:xfrm>
          <a:prstGeom prst="rect">
            <a:avLst/>
          </a:prstGeom>
          <a:noFill/>
        </p:spPr>
        <p:txBody>
          <a:bodyPr wrap="square" lIns="0" tIns="0" rIns="0" bIns="0" rtlCol="0" anchor="t"/>
          <a:lstStyle/>
          <a:p>
            <a:pPr marL="0" indent="0">
              <a:buNone/>
            </a:pPr>
            <a:r>
              <a:rPr lang="en-US" sz="5200" b="1" dirty="0">
                <a:solidFill>
                  <a:schemeClr val="bg1"/>
                </a:solidFill>
                <a:latin typeface="Cambria" panose="02040503050406030204" pitchFamily="34" charset="0"/>
                <a:ea typeface="Cambria" panose="02040503050406030204" pitchFamily="34" charset="-122"/>
                <a:cs typeface="Cambria" panose="02040503050406030204" pitchFamily="34" charset="-120"/>
              </a:rPr>
              <a:t>Document Markup:</a:t>
            </a:r>
            <a:endParaRPr lang="en-US" sz="5200" dirty="0"/>
          </a:p>
          <a:p>
            <a:pPr marL="0" indent="0">
              <a:buNone/>
            </a:pPr>
            <a:r>
              <a:rPr lang="en-US" sz="5200" b="1" dirty="0">
                <a:solidFill>
                  <a:schemeClr val="bg1"/>
                </a:solidFill>
                <a:latin typeface="Cambria" panose="02040503050406030204" pitchFamily="34" charset="0"/>
                <a:ea typeface="Cambria" panose="02040503050406030204" pitchFamily="34" charset="-122"/>
                <a:cs typeface="Cambria" panose="02040503050406030204" pitchFamily="34" charset="-120"/>
              </a:rPr>
              <a:t>HTML</a:t>
            </a:r>
            <a:endParaRPr lang="en-US" sz="5200" dirty="0"/>
          </a:p>
        </p:txBody>
      </p:sp>
      <p:sp>
        <p:nvSpPr>
          <p:cNvPr id="5" name="Text 3"/>
          <p:cNvSpPr txBox="1"/>
          <p:nvPr/>
        </p:nvSpPr>
        <p:spPr>
          <a:xfrm>
            <a:off x="731520" y="3703320"/>
            <a:ext cx="5852160" cy="822960"/>
          </a:xfrm>
          <a:prstGeom prst="rect">
            <a:avLst/>
          </a:prstGeom>
          <a:noFill/>
        </p:spPr>
        <p:txBody>
          <a:bodyPr wrap="square" lIns="0" tIns="0" rIns="0" bIns="0" rtlCol="0" anchor="t"/>
          <a:lstStyle/>
          <a:p>
            <a:pPr marL="0" indent="0">
              <a:buNone/>
            </a:pPr>
            <a:r>
              <a:rPr lang="en-US" sz="2000" dirty="0">
                <a:solidFill>
                  <a:srgbClr val="CBD0DC"/>
                </a:solidFill>
              </a:rPr>
              <a:t>Structure the web with tags, attributes, text, tables, forms and semantic markup</a:t>
            </a:r>
            <a:endParaRPr lang="en-US" sz="2000" dirty="0"/>
          </a:p>
        </p:txBody>
      </p:sp>
      <p:sp>
        <p:nvSpPr>
          <p:cNvPr id="6" name="CLO chip"/>
          <p:cNvSpPr/>
          <p:nvPr/>
        </p:nvSpPr>
        <p:spPr>
          <a:xfrm>
            <a:off x="731520" y="4709160"/>
            <a:ext cx="914400" cy="329184"/>
          </a:xfrm>
          <a:prstGeom prst="roundRect">
            <a:avLst>
              <a:gd name="adj" fmla="val 22222"/>
            </a:avLst>
          </a:prstGeom>
          <a:solidFill>
            <a:schemeClr val="tx2"/>
          </a:solidFill>
          <a:ln w="6350">
            <a:solidFill>
              <a:schemeClr val="tx2"/>
            </a:solidFill>
            <a:prstDash val="solid"/>
          </a:ln>
        </p:spPr>
      </p:sp>
      <p:sp>
        <p:nvSpPr>
          <p:cNvPr id="7" name="Text 5"/>
          <p:cNvSpPr txBox="1"/>
          <p:nvPr/>
        </p:nvSpPr>
        <p:spPr>
          <a:xfrm>
            <a:off x="731520" y="4709160"/>
            <a:ext cx="914400" cy="329184"/>
          </a:xfrm>
          <a:prstGeom prst="rect">
            <a:avLst/>
          </a:prstGeom>
          <a:noFill/>
        </p:spPr>
        <p:txBody>
          <a:bodyPr wrap="square" lIns="0" tIns="0" rIns="0" bIns="0" rtlCol="0" anchor="ctr"/>
          <a:lstStyle/>
          <a:p>
            <a:pPr marL="0" indent="0" algn="ctr">
              <a:buNone/>
            </a:pPr>
            <a:r>
              <a:rPr lang="en-US" sz="1300" b="1" dirty="0">
                <a:solidFill>
                  <a:schemeClr val="bg1"/>
                </a:solidFill>
              </a:rPr>
              <a:t>CLO2</a:t>
            </a:r>
            <a:endParaRPr lang="en-US" sz="1300" dirty="0"/>
          </a:p>
        </p:txBody>
      </p:sp>
      <p:sp>
        <p:nvSpPr>
          <p:cNvPr id="8" name="CLO chip"/>
          <p:cNvSpPr/>
          <p:nvPr/>
        </p:nvSpPr>
        <p:spPr>
          <a:xfrm>
            <a:off x="1783080" y="4709160"/>
            <a:ext cx="914400" cy="329184"/>
          </a:xfrm>
          <a:prstGeom prst="roundRect">
            <a:avLst>
              <a:gd name="adj" fmla="val 22222"/>
            </a:avLst>
          </a:prstGeom>
          <a:solidFill>
            <a:schemeClr val="tx2"/>
          </a:solidFill>
          <a:ln w="6350">
            <a:solidFill>
              <a:schemeClr val="tx2"/>
            </a:solidFill>
            <a:prstDash val="solid"/>
          </a:ln>
        </p:spPr>
      </p:sp>
      <p:sp>
        <p:nvSpPr>
          <p:cNvPr id="9" name="Text 7"/>
          <p:cNvSpPr txBox="1"/>
          <p:nvPr/>
        </p:nvSpPr>
        <p:spPr>
          <a:xfrm>
            <a:off x="1783080" y="4709160"/>
            <a:ext cx="914400" cy="329184"/>
          </a:xfrm>
          <a:prstGeom prst="rect">
            <a:avLst/>
          </a:prstGeom>
          <a:noFill/>
        </p:spPr>
        <p:txBody>
          <a:bodyPr wrap="square" lIns="0" tIns="0" rIns="0" bIns="0" rtlCol="0" anchor="ctr"/>
          <a:lstStyle/>
          <a:p>
            <a:pPr marL="0" indent="0" algn="ctr">
              <a:buNone/>
            </a:pPr>
            <a:r>
              <a:rPr lang="en-US" sz="1300" b="1" dirty="0">
                <a:solidFill>
                  <a:schemeClr val="bg1"/>
                </a:solidFill>
              </a:rPr>
              <a:t>CLO3</a:t>
            </a:r>
            <a:endParaRPr lang="en-US" sz="1300" dirty="0"/>
          </a:p>
        </p:txBody>
      </p:sp>
      <p:sp>
        <p:nvSpPr>
          <p:cNvPr id="10" name="CLO chip"/>
          <p:cNvSpPr/>
          <p:nvPr/>
        </p:nvSpPr>
        <p:spPr>
          <a:xfrm>
            <a:off x="2834640" y="4709160"/>
            <a:ext cx="914400" cy="329184"/>
          </a:xfrm>
          <a:prstGeom prst="roundRect">
            <a:avLst>
              <a:gd name="adj" fmla="val 22222"/>
            </a:avLst>
          </a:prstGeom>
          <a:solidFill>
            <a:schemeClr val="tx2"/>
          </a:solidFill>
          <a:ln w="6350">
            <a:solidFill>
              <a:schemeClr val="tx2"/>
            </a:solidFill>
            <a:prstDash val="solid"/>
          </a:ln>
        </p:spPr>
      </p:sp>
      <p:sp>
        <p:nvSpPr>
          <p:cNvPr id="11" name="Text 9"/>
          <p:cNvSpPr txBox="1"/>
          <p:nvPr/>
        </p:nvSpPr>
        <p:spPr>
          <a:xfrm>
            <a:off x="2834640" y="4709160"/>
            <a:ext cx="914400" cy="329184"/>
          </a:xfrm>
          <a:prstGeom prst="rect">
            <a:avLst/>
          </a:prstGeom>
          <a:noFill/>
        </p:spPr>
        <p:txBody>
          <a:bodyPr wrap="square" lIns="0" tIns="0" rIns="0" bIns="0" rtlCol="0" anchor="ctr"/>
          <a:lstStyle/>
          <a:p>
            <a:pPr marL="0" indent="0" algn="ctr">
              <a:buNone/>
            </a:pPr>
            <a:r>
              <a:rPr lang="en-US" sz="1300" b="1" dirty="0">
                <a:solidFill>
                  <a:schemeClr val="bg1"/>
                </a:solidFill>
              </a:rPr>
              <a:t>CLO4</a:t>
            </a:r>
            <a:endParaRPr lang="en-US" sz="1300" dirty="0"/>
          </a:p>
        </p:txBody>
      </p:sp>
      <p:sp>
        <p:nvSpPr>
          <p:cNvPr id="12" name="Text 10"/>
          <p:cNvSpPr txBox="1"/>
          <p:nvPr/>
        </p:nvSpPr>
        <p:spPr>
          <a:xfrm>
            <a:off x="731520" y="5669280"/>
            <a:ext cx="6400800" cy="274320"/>
          </a:xfrm>
          <a:prstGeom prst="rect">
            <a:avLst/>
          </a:prstGeom>
          <a:noFill/>
        </p:spPr>
        <p:txBody>
          <a:bodyPr wrap="square" lIns="0" tIns="0" rIns="0" bIns="0" rtlCol="0" anchor="ctr"/>
          <a:lstStyle/>
          <a:p>
            <a:pPr marL="0" indent="0">
              <a:buNone/>
            </a:pPr>
            <a:r>
              <a:rPr lang="en-US" sz="1500" b="1" dirty="0">
                <a:solidFill>
                  <a:schemeClr val="bg1"/>
                </a:solidFill>
              </a:rPr>
              <a:t>Internet and Web Programming I (InSy3061)</a:t>
            </a:r>
            <a:endParaRPr lang="en-US" sz="1500" dirty="0"/>
          </a:p>
        </p:txBody>
      </p:sp>
      <p:sp>
        <p:nvSpPr>
          <p:cNvPr id="13" name="Text 11"/>
          <p:cNvSpPr txBox="1"/>
          <p:nvPr/>
        </p:nvSpPr>
        <p:spPr>
          <a:xfrm>
            <a:off x="731520" y="5989320"/>
            <a:ext cx="7315200" cy="274320"/>
          </a:xfrm>
          <a:prstGeom prst="rect">
            <a:avLst/>
          </a:prstGeom>
          <a:noFill/>
        </p:spPr>
        <p:txBody>
          <a:bodyPr wrap="square" lIns="0" tIns="0" rIns="0" bIns="0" rtlCol="0" anchor="ctr"/>
          <a:lstStyle/>
          <a:p>
            <a:pPr marL="0" indent="0">
              <a:buNone/>
            </a:pPr>
            <a:r>
              <a:rPr lang="en-US" sz="1300" dirty="0">
                <a:solidFill>
                  <a:srgbClr val="CBD0DC"/>
                </a:solidFill>
              </a:rPr>
              <a:t>Wollo University  •  College of Informatics  •  Department of Information Systems</a:t>
            </a:r>
            <a:endParaRPr lang="en-US" sz="1300" dirty="0"/>
          </a:p>
        </p:txBody>
      </p:sp>
      <p:sp>
        <p:nvSpPr>
          <p:cNvPr id="14" name="Hero code backdrop"/>
          <p:cNvSpPr/>
          <p:nvPr/>
        </p:nvSpPr>
        <p:spPr>
          <a:xfrm>
            <a:off x="7223760" y="1280160"/>
            <a:ext cx="4297680" cy="3566160"/>
          </a:xfrm>
          <a:prstGeom prst="roundRect">
            <a:avLst>
              <a:gd name="adj" fmla="val 3846"/>
            </a:avLst>
          </a:prstGeom>
          <a:solidFill>
            <a:srgbClr val="000000"/>
          </a:solidFill>
          <a:ln w="6350">
            <a:solidFill>
              <a:srgbClr val="333333"/>
            </a:solidFill>
            <a:prstDash val="solid"/>
          </a:ln>
        </p:spPr>
      </p:sp>
      <p:sp>
        <p:nvSpPr>
          <p:cNvPr id="15" name="Code panel"/>
          <p:cNvSpPr/>
          <p:nvPr/>
        </p:nvSpPr>
        <p:spPr>
          <a:xfrm>
            <a:off x="7406640" y="1508760"/>
            <a:ext cx="3931920" cy="3108960"/>
          </a:xfrm>
          <a:prstGeom prst="roundRect">
            <a:avLst>
              <a:gd name="adj" fmla="val 2941"/>
            </a:avLst>
          </a:prstGeom>
          <a:solidFill>
            <a:schemeClr val="tx1"/>
          </a:solidFill>
          <a:ln w="6350">
            <a:solidFill>
              <a:schemeClr val="tx1"/>
            </a:solidFill>
            <a:prstDash val="solid"/>
          </a:ln>
        </p:spPr>
      </p:sp>
      <p:sp>
        <p:nvSpPr>
          <p:cNvPr id="16" name="Window dot"/>
          <p:cNvSpPr/>
          <p:nvPr/>
        </p:nvSpPr>
        <p:spPr>
          <a:xfrm>
            <a:off x="7635240" y="1691640"/>
            <a:ext cx="118872" cy="118872"/>
          </a:xfrm>
          <a:prstGeom prst="ellipse">
            <a:avLst/>
          </a:prstGeom>
          <a:solidFill>
            <a:srgbClr val="FF5F56"/>
          </a:solidFill>
          <a:ln w="3175">
            <a:solidFill>
              <a:srgbClr val="FF5F56"/>
            </a:solidFill>
            <a:prstDash val="solid"/>
          </a:ln>
        </p:spPr>
      </p:sp>
      <p:sp>
        <p:nvSpPr>
          <p:cNvPr id="17" name="Window dot"/>
          <p:cNvSpPr/>
          <p:nvPr/>
        </p:nvSpPr>
        <p:spPr>
          <a:xfrm>
            <a:off x="7818120" y="1691640"/>
            <a:ext cx="118872" cy="118872"/>
          </a:xfrm>
          <a:prstGeom prst="ellipse">
            <a:avLst/>
          </a:prstGeom>
          <a:solidFill>
            <a:srgbClr val="FFBD2E"/>
          </a:solidFill>
          <a:ln w="3175">
            <a:solidFill>
              <a:srgbClr val="FFBD2E"/>
            </a:solidFill>
            <a:prstDash val="solid"/>
          </a:ln>
        </p:spPr>
      </p:sp>
      <p:sp>
        <p:nvSpPr>
          <p:cNvPr id="18" name="Window dot"/>
          <p:cNvSpPr/>
          <p:nvPr/>
        </p:nvSpPr>
        <p:spPr>
          <a:xfrm>
            <a:off x="8001000" y="1691640"/>
            <a:ext cx="118872" cy="118872"/>
          </a:xfrm>
          <a:prstGeom prst="ellipse">
            <a:avLst/>
          </a:prstGeom>
          <a:solidFill>
            <a:srgbClr val="27C93F"/>
          </a:solidFill>
          <a:ln w="3175">
            <a:solidFill>
              <a:srgbClr val="27C93F"/>
            </a:solidFill>
            <a:prstDash val="solid"/>
          </a:ln>
        </p:spPr>
      </p:sp>
      <p:sp>
        <p:nvSpPr>
          <p:cNvPr id="19" name="Text 17"/>
          <p:cNvSpPr txBox="1"/>
          <p:nvPr/>
        </p:nvSpPr>
        <p:spPr>
          <a:xfrm>
            <a:off x="8275320" y="1645920"/>
            <a:ext cx="283464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index.html</a:t>
            </a:r>
            <a:endParaRPr lang="en-US" sz="1000" dirty="0"/>
          </a:p>
        </p:txBody>
      </p:sp>
      <p:sp>
        <p:nvSpPr>
          <p:cNvPr id="20" name="Text 18"/>
          <p:cNvSpPr txBox="1"/>
          <p:nvPr/>
        </p:nvSpPr>
        <p:spPr>
          <a:xfrm>
            <a:off x="7635240" y="2011680"/>
            <a:ext cx="3474720" cy="2468880"/>
          </a:xfrm>
          <a:prstGeom prst="rect">
            <a:avLst/>
          </a:prstGeom>
          <a:noFill/>
        </p:spPr>
        <p:txBody>
          <a:bodyPr wrap="square" lIns="0" tIns="0" rIns="0" bIns="0" rtlCol="0" anchor="t"/>
          <a:lstStyle/>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&lt;!DOCTYPE</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html</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&lt;html</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lang</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"en"</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Hello</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Hello, Web!</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My first page.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&lt;/html</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41732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41732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Chapter 3</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What You Will Learn</a:t>
            </a:r>
            <a:endParaRPr lang="en-US" sz="3200" dirty="0"/>
          </a:p>
        </p:txBody>
      </p:sp>
      <p:sp>
        <p:nvSpPr>
          <p:cNvPr id="6" name="Text 3"/>
          <p:cNvSpPr txBox="1"/>
          <p:nvPr/>
        </p:nvSpPr>
        <p:spPr>
          <a:xfrm>
            <a:off x="548640" y="1691640"/>
            <a:ext cx="4937760" cy="365760"/>
          </a:xfrm>
          <a:prstGeom prst="rect">
            <a:avLst/>
          </a:prstGeom>
          <a:noFill/>
        </p:spPr>
        <p:txBody>
          <a:bodyPr wrap="square" lIns="0" tIns="0" rIns="0" bIns="0" rtlCol="0" anchor="ctr"/>
          <a:lstStyle/>
          <a:p>
            <a:pPr marL="0" indent="0">
              <a:buNone/>
            </a:pPr>
            <a:r>
              <a:rPr lang="en-US" sz="1700" b="1" dirty="0">
                <a:solidFill>
                  <a:schemeClr val="tx1"/>
                </a:solidFill>
              </a:rPr>
              <a:t>By the end of this chapter you will be able to:</a:t>
            </a:r>
            <a:endParaRPr lang="en-US" sz="1700" dirty="0"/>
          </a:p>
        </p:txBody>
      </p:sp>
      <p:sp>
        <p:nvSpPr>
          <p:cNvPr id="7" name="Text 4"/>
          <p:cNvSpPr txBox="1"/>
          <p:nvPr/>
        </p:nvSpPr>
        <p:spPr>
          <a:xfrm>
            <a:off x="548640" y="2194560"/>
            <a:ext cx="4937760" cy="2926080"/>
          </a:xfrm>
          <a:prstGeom prst="rect">
            <a:avLst/>
          </a:prstGeom>
          <a:noFill/>
        </p:spPr>
        <p:txBody>
          <a:bodyPr wrap="square" lIns="0" tIns="0" rIns="0" bIns="0" rtlCol="0" anchor="t"/>
          <a:lstStyle/>
          <a:p>
            <a:pPr marL="0" indent="0">
              <a:spcAft>
                <a:spcPts val="700"/>
              </a:spcAft>
              <a:buNone/>
            </a:pPr>
            <a:r>
              <a:rPr lang="en-US" sz="1600" b="1" dirty="0">
                <a:solidFill>
                  <a:schemeClr val="tx1"/>
                </a:solidFill>
              </a:rPr>
              <a:t>Write </a:t>
            </a:r>
            <a:r>
              <a:rPr lang="en-US" sz="1600" dirty="0">
                <a:solidFill>
                  <a:schemeClr val="tx1"/>
                </a:solidFill>
              </a:rPr>
              <a:t>well-structured HTML5 documents (CLO3)</a:t>
            </a:r>
            <a:endParaRPr lang="en-US" sz="1600" dirty="0"/>
          </a:p>
          <a:p>
            <a:pPr marL="0" indent="0">
              <a:spcAft>
                <a:spcPts val="700"/>
              </a:spcAft>
              <a:buNone/>
            </a:pPr>
            <a:r>
              <a:rPr lang="en-US" sz="1600" b="1" dirty="0">
                <a:solidFill>
                  <a:schemeClr val="tx1"/>
                </a:solidFill>
              </a:rPr>
              <a:t>Use </a:t>
            </a:r>
            <a:r>
              <a:rPr lang="en-US" sz="1600" dirty="0">
                <a:solidFill>
                  <a:schemeClr val="tx1"/>
                </a:solidFill>
              </a:rPr>
              <a:t>tags, attributes, text formatting, lists, tables and forms (CLO2)</a:t>
            </a:r>
            <a:endParaRPr lang="en-US" sz="1600" dirty="0"/>
          </a:p>
          <a:p>
            <a:pPr marL="0" indent="0">
              <a:spcAft>
                <a:spcPts val="700"/>
              </a:spcAft>
              <a:buNone/>
            </a:pPr>
            <a:r>
              <a:rPr lang="en-US" sz="1600" b="1" dirty="0">
                <a:solidFill>
                  <a:schemeClr val="tx1"/>
                </a:solidFill>
              </a:rPr>
              <a:t>Apply </a:t>
            </a:r>
            <a:r>
              <a:rPr lang="en-US" sz="1600" dirty="0">
                <a:solidFill>
                  <a:schemeClr val="tx1"/>
                </a:solidFill>
              </a:rPr>
              <a:t>semantic markup and basic SEO techniques (CLO2, CLO3)</a:t>
            </a:r>
            <a:endParaRPr lang="en-US" sz="1600" dirty="0"/>
          </a:p>
          <a:p>
            <a:pPr marL="0" indent="0">
              <a:spcAft>
                <a:spcPts val="700"/>
              </a:spcAft>
              <a:buNone/>
            </a:pPr>
            <a:r>
              <a:rPr lang="en-US" sz="1600" b="1" dirty="0">
                <a:solidFill>
                  <a:schemeClr val="tx1"/>
                </a:solidFill>
              </a:rPr>
              <a:t>Validate </a:t>
            </a:r>
            <a:r>
              <a:rPr lang="en-US" sz="1600" dirty="0">
                <a:solidFill>
                  <a:schemeClr val="tx1"/>
                </a:solidFill>
              </a:rPr>
              <a:t>and debug HTML code with standard tools (CLO4)</a:t>
            </a:r>
            <a:endParaRPr lang="en-US" sz="1600" dirty="0"/>
          </a:p>
        </p:txBody>
      </p:sp>
      <p:sp>
        <p:nvSpPr>
          <p:cNvPr id="8" name="Note callout"/>
          <p:cNvSpPr/>
          <p:nvPr/>
        </p:nvSpPr>
        <p:spPr>
          <a:xfrm>
            <a:off x="548640" y="5212080"/>
            <a:ext cx="4937760" cy="1005840"/>
          </a:xfrm>
          <a:prstGeom prst="roundRect">
            <a:avLst>
              <a:gd name="adj" fmla="val 9091"/>
            </a:avLst>
          </a:prstGeom>
          <a:solidFill>
            <a:schemeClr val="accent3">
              <a:alpha val="22000"/>
            </a:schemeClr>
          </a:solidFill>
          <a:ln w="12700">
            <a:solidFill>
              <a:schemeClr val="accent3"/>
            </a:solidFill>
            <a:prstDash val="solid"/>
          </a:ln>
        </p:spPr>
      </p:sp>
      <p:sp>
        <p:nvSpPr>
          <p:cNvPr id="9" name="Text 6"/>
          <p:cNvSpPr txBox="1"/>
          <p:nvPr/>
        </p:nvSpPr>
        <p:spPr>
          <a:xfrm>
            <a:off x="731520" y="5303520"/>
            <a:ext cx="4572000" cy="822960"/>
          </a:xfrm>
          <a:prstGeom prst="rect">
            <a:avLst/>
          </a:prstGeom>
          <a:noFill/>
        </p:spPr>
        <p:txBody>
          <a:bodyPr wrap="square" lIns="0" tIns="0" rIns="0" bIns="0" rtlCol="0" anchor="ctr"/>
          <a:lstStyle/>
          <a:p>
            <a:pPr marL="0" indent="0">
              <a:buNone/>
            </a:pPr>
            <a:r>
              <a:rPr lang="en-US" sz="1300" b="1" dirty="0">
                <a:solidFill>
                  <a:schemeClr val="tx1"/>
                </a:solidFill>
              </a:rPr>
              <a:t>Tip  </a:t>
            </a:r>
            <a:r>
              <a:rPr lang="en-US" sz="1300" dirty="0">
                <a:solidFill>
                  <a:schemeClr val="tx1"/>
                </a:solidFill>
              </a:rPr>
              <a:t>Open VS Code with the Live Server extension and type every example yourself.</a:t>
            </a:r>
            <a:endParaRPr lang="en-US" sz="1300" dirty="0"/>
          </a:p>
        </p:txBody>
      </p:sp>
      <p:sp>
        <p:nvSpPr>
          <p:cNvPr id="10" name="Agenda card"/>
          <p:cNvSpPr/>
          <p:nvPr/>
        </p:nvSpPr>
        <p:spPr>
          <a:xfrm>
            <a:off x="5943600" y="1691640"/>
            <a:ext cx="2743200" cy="1371600"/>
          </a:xfrm>
          <a:prstGeom prst="roundRect">
            <a:avLst>
              <a:gd name="adj" fmla="val 6667"/>
            </a:avLst>
          </a:prstGeom>
          <a:solidFill>
            <a:schemeClr val="bg2"/>
          </a:solidFill>
          <a:ln w="6350">
            <a:solidFill>
              <a:schemeClr val="bg2"/>
            </a:solidFill>
            <a:prstDash val="solid"/>
          </a:ln>
        </p:spPr>
      </p:sp>
      <p:sp>
        <p:nvSpPr>
          <p:cNvPr id="11" name="Number badge"/>
          <p:cNvSpPr/>
          <p:nvPr/>
        </p:nvSpPr>
        <p:spPr>
          <a:xfrm>
            <a:off x="6126480" y="1856232"/>
            <a:ext cx="384048" cy="384048"/>
          </a:xfrm>
          <a:prstGeom prst="ellipse">
            <a:avLst/>
          </a:prstGeom>
          <a:solidFill>
            <a:schemeClr val="accent1"/>
          </a:solidFill>
          <a:ln w="6350">
            <a:solidFill>
              <a:schemeClr val="accent1"/>
            </a:solidFill>
            <a:prstDash val="solid"/>
          </a:ln>
        </p:spPr>
      </p:sp>
      <p:sp>
        <p:nvSpPr>
          <p:cNvPr id="12" name="Text 9"/>
          <p:cNvSpPr txBox="1"/>
          <p:nvPr/>
        </p:nvSpPr>
        <p:spPr>
          <a:xfrm>
            <a:off x="6126480" y="1856232"/>
            <a:ext cx="384048" cy="384048"/>
          </a:xfrm>
          <a:prstGeom prst="rect">
            <a:avLst/>
          </a:prstGeom>
          <a:noFill/>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3" name="Text 10"/>
          <p:cNvSpPr txBox="1"/>
          <p:nvPr/>
        </p:nvSpPr>
        <p:spPr>
          <a:xfrm>
            <a:off x="6629400" y="1856232"/>
            <a:ext cx="1920240" cy="384048"/>
          </a:xfrm>
          <a:prstGeom prst="rect">
            <a:avLst/>
          </a:prstGeom>
          <a:noFill/>
        </p:spPr>
        <p:txBody>
          <a:bodyPr wrap="square" lIns="0" tIns="0" rIns="0" bIns="0" rtlCol="0" anchor="ctr"/>
          <a:lstStyle/>
          <a:p>
            <a:pPr marL="0" indent="0">
              <a:buNone/>
            </a:pPr>
            <a:r>
              <a:rPr lang="en-US" sz="1500" b="1" dirty="0">
                <a:solidFill>
                  <a:schemeClr val="tx1"/>
                </a:solidFill>
              </a:rPr>
              <a:t>Foundations</a:t>
            </a:r>
            <a:endParaRPr lang="en-US" sz="1500" dirty="0"/>
          </a:p>
        </p:txBody>
      </p:sp>
      <p:sp>
        <p:nvSpPr>
          <p:cNvPr id="14" name="Text 11"/>
          <p:cNvSpPr txBox="1"/>
          <p:nvPr/>
        </p:nvSpPr>
        <p:spPr>
          <a:xfrm>
            <a:off x="6126480" y="2350008"/>
            <a:ext cx="2377440" cy="228600"/>
          </a:xfrm>
          <a:prstGeom prst="rect">
            <a:avLst/>
          </a:prstGeom>
          <a:noFill/>
        </p:spPr>
        <p:txBody>
          <a:bodyPr wrap="square" lIns="0" tIns="0" rIns="0" bIns="0" rtlCol="0" anchor="ctr"/>
          <a:lstStyle/>
          <a:p>
            <a:pPr marL="0" indent="0">
              <a:buNone/>
            </a:pPr>
            <a:r>
              <a:rPr lang="en-US" sz="1200" b="1" dirty="0">
                <a:solidFill>
                  <a:schemeClr val="accent2"/>
                </a:solidFill>
              </a:rPr>
              <a:t>Slides 3–6</a:t>
            </a:r>
            <a:endParaRPr lang="en-US" sz="1200" dirty="0"/>
          </a:p>
        </p:txBody>
      </p:sp>
      <p:sp>
        <p:nvSpPr>
          <p:cNvPr id="15" name="Text 12"/>
          <p:cNvSpPr txBox="1"/>
          <p:nvPr/>
        </p:nvSpPr>
        <p:spPr>
          <a:xfrm>
            <a:off x="6126480" y="2587752"/>
            <a:ext cx="2423160" cy="411480"/>
          </a:xfrm>
          <a:prstGeom prst="rect">
            <a:avLst/>
          </a:prstGeom>
          <a:noFill/>
        </p:spPr>
        <p:txBody>
          <a:bodyPr wrap="square" lIns="0" tIns="0" rIns="0" bIns="0" rtlCol="0" anchor="t"/>
          <a:lstStyle/>
          <a:p>
            <a:pPr marL="0" indent="0">
              <a:buNone/>
            </a:pPr>
            <a:r>
              <a:rPr lang="en-US" sz="1200" dirty="0">
                <a:solidFill>
                  <a:schemeClr val="tx2"/>
                </a:solidFill>
              </a:rPr>
              <a:t>What HTML is, elements, document structure, head</a:t>
            </a:r>
            <a:endParaRPr lang="en-US" sz="1200" dirty="0"/>
          </a:p>
        </p:txBody>
      </p:sp>
      <p:sp>
        <p:nvSpPr>
          <p:cNvPr id="16" name="Agenda card"/>
          <p:cNvSpPr/>
          <p:nvPr/>
        </p:nvSpPr>
        <p:spPr>
          <a:xfrm>
            <a:off x="8869680" y="1691640"/>
            <a:ext cx="2743200" cy="1371600"/>
          </a:xfrm>
          <a:prstGeom prst="roundRect">
            <a:avLst>
              <a:gd name="adj" fmla="val 6667"/>
            </a:avLst>
          </a:prstGeom>
          <a:solidFill>
            <a:schemeClr val="bg2"/>
          </a:solidFill>
          <a:ln w="6350">
            <a:solidFill>
              <a:schemeClr val="bg2"/>
            </a:solidFill>
            <a:prstDash val="solid"/>
          </a:ln>
        </p:spPr>
      </p:sp>
      <p:sp>
        <p:nvSpPr>
          <p:cNvPr id="17" name="Number badge"/>
          <p:cNvSpPr/>
          <p:nvPr/>
        </p:nvSpPr>
        <p:spPr>
          <a:xfrm>
            <a:off x="9052560" y="1856232"/>
            <a:ext cx="384048" cy="384048"/>
          </a:xfrm>
          <a:prstGeom prst="ellipse">
            <a:avLst/>
          </a:prstGeom>
          <a:solidFill>
            <a:schemeClr val="accent1"/>
          </a:solidFill>
          <a:ln w="6350">
            <a:solidFill>
              <a:schemeClr val="accent1"/>
            </a:solidFill>
            <a:prstDash val="solid"/>
          </a:ln>
        </p:spPr>
      </p:sp>
      <p:sp>
        <p:nvSpPr>
          <p:cNvPr id="18" name="Text 15"/>
          <p:cNvSpPr txBox="1"/>
          <p:nvPr/>
        </p:nvSpPr>
        <p:spPr>
          <a:xfrm>
            <a:off x="9052560" y="1856232"/>
            <a:ext cx="384048" cy="384048"/>
          </a:xfrm>
          <a:prstGeom prst="rect">
            <a:avLst/>
          </a:prstGeom>
          <a:noFill/>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9" name="Text 16"/>
          <p:cNvSpPr txBox="1"/>
          <p:nvPr/>
        </p:nvSpPr>
        <p:spPr>
          <a:xfrm>
            <a:off x="9555480" y="1856232"/>
            <a:ext cx="1920240" cy="384048"/>
          </a:xfrm>
          <a:prstGeom prst="rect">
            <a:avLst/>
          </a:prstGeom>
          <a:noFill/>
        </p:spPr>
        <p:txBody>
          <a:bodyPr wrap="square" lIns="0" tIns="0" rIns="0" bIns="0" rtlCol="0" anchor="ctr"/>
          <a:lstStyle/>
          <a:p>
            <a:pPr marL="0" indent="0">
              <a:buNone/>
            </a:pPr>
            <a:r>
              <a:rPr lang="en-US" sz="1500" b="1" dirty="0">
                <a:solidFill>
                  <a:schemeClr val="tx1"/>
                </a:solidFill>
              </a:rPr>
              <a:t>Text and Content</a:t>
            </a:r>
            <a:endParaRPr lang="en-US" sz="1500" dirty="0"/>
          </a:p>
        </p:txBody>
      </p:sp>
      <p:sp>
        <p:nvSpPr>
          <p:cNvPr id="20" name="Text 17"/>
          <p:cNvSpPr txBox="1"/>
          <p:nvPr/>
        </p:nvSpPr>
        <p:spPr>
          <a:xfrm>
            <a:off x="9052560" y="2350008"/>
            <a:ext cx="2377440" cy="228600"/>
          </a:xfrm>
          <a:prstGeom prst="rect">
            <a:avLst/>
          </a:prstGeom>
          <a:noFill/>
        </p:spPr>
        <p:txBody>
          <a:bodyPr wrap="square" lIns="0" tIns="0" rIns="0" bIns="0" rtlCol="0" anchor="ctr"/>
          <a:lstStyle/>
          <a:p>
            <a:pPr marL="0" indent="0">
              <a:buNone/>
            </a:pPr>
            <a:r>
              <a:rPr lang="en-US" sz="1200" b="1" dirty="0">
                <a:solidFill>
                  <a:schemeClr val="accent2"/>
                </a:solidFill>
              </a:rPr>
              <a:t>Slides 7–12</a:t>
            </a:r>
            <a:endParaRPr lang="en-US" sz="1200" dirty="0"/>
          </a:p>
        </p:txBody>
      </p:sp>
      <p:sp>
        <p:nvSpPr>
          <p:cNvPr id="21" name="Text 18"/>
          <p:cNvSpPr txBox="1"/>
          <p:nvPr/>
        </p:nvSpPr>
        <p:spPr>
          <a:xfrm>
            <a:off x="9052560" y="2587752"/>
            <a:ext cx="2423160" cy="411480"/>
          </a:xfrm>
          <a:prstGeom prst="rect">
            <a:avLst/>
          </a:prstGeom>
          <a:noFill/>
        </p:spPr>
        <p:txBody>
          <a:bodyPr wrap="square" lIns="0" tIns="0" rIns="0" bIns="0" rtlCol="0" anchor="t"/>
          <a:lstStyle/>
          <a:p>
            <a:pPr marL="0" indent="0">
              <a:buNone/>
            </a:pPr>
            <a:r>
              <a:rPr lang="en-US" sz="1200" dirty="0">
                <a:solidFill>
                  <a:schemeClr val="tx2"/>
                </a:solidFill>
              </a:rPr>
              <a:t>Headings, formatting, links, images, lists</a:t>
            </a:r>
            <a:endParaRPr lang="en-US" sz="1200" dirty="0"/>
          </a:p>
        </p:txBody>
      </p:sp>
      <p:sp>
        <p:nvSpPr>
          <p:cNvPr id="22" name="Agenda card"/>
          <p:cNvSpPr/>
          <p:nvPr/>
        </p:nvSpPr>
        <p:spPr>
          <a:xfrm>
            <a:off x="5943600" y="3264408"/>
            <a:ext cx="2743200" cy="1371600"/>
          </a:xfrm>
          <a:prstGeom prst="roundRect">
            <a:avLst>
              <a:gd name="adj" fmla="val 6667"/>
            </a:avLst>
          </a:prstGeom>
          <a:solidFill>
            <a:schemeClr val="bg2"/>
          </a:solidFill>
          <a:ln w="6350">
            <a:solidFill>
              <a:schemeClr val="bg2"/>
            </a:solidFill>
            <a:prstDash val="solid"/>
          </a:ln>
        </p:spPr>
      </p:sp>
      <p:sp>
        <p:nvSpPr>
          <p:cNvPr id="23" name="Number badge"/>
          <p:cNvSpPr/>
          <p:nvPr/>
        </p:nvSpPr>
        <p:spPr>
          <a:xfrm>
            <a:off x="6126480" y="3429000"/>
            <a:ext cx="384048" cy="384048"/>
          </a:xfrm>
          <a:prstGeom prst="ellipse">
            <a:avLst/>
          </a:prstGeom>
          <a:solidFill>
            <a:schemeClr val="accent1"/>
          </a:solidFill>
          <a:ln w="6350">
            <a:solidFill>
              <a:schemeClr val="accent1"/>
            </a:solidFill>
            <a:prstDash val="solid"/>
          </a:ln>
        </p:spPr>
      </p:sp>
      <p:sp>
        <p:nvSpPr>
          <p:cNvPr id="24" name="Text 21"/>
          <p:cNvSpPr txBox="1"/>
          <p:nvPr/>
        </p:nvSpPr>
        <p:spPr>
          <a:xfrm>
            <a:off x="6126480" y="3429000"/>
            <a:ext cx="384048" cy="384048"/>
          </a:xfrm>
          <a:prstGeom prst="rect">
            <a:avLst/>
          </a:prstGeom>
          <a:noFill/>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5" name="Text 22"/>
          <p:cNvSpPr txBox="1"/>
          <p:nvPr/>
        </p:nvSpPr>
        <p:spPr>
          <a:xfrm>
            <a:off x="6629400" y="3429000"/>
            <a:ext cx="1920240" cy="384048"/>
          </a:xfrm>
          <a:prstGeom prst="rect">
            <a:avLst/>
          </a:prstGeom>
          <a:noFill/>
        </p:spPr>
        <p:txBody>
          <a:bodyPr wrap="square" lIns="0" tIns="0" rIns="0" bIns="0" rtlCol="0" anchor="ctr"/>
          <a:lstStyle/>
          <a:p>
            <a:pPr marL="0" indent="0">
              <a:buNone/>
            </a:pPr>
            <a:r>
              <a:rPr lang="en-US" sz="1500" b="1" dirty="0">
                <a:solidFill>
                  <a:schemeClr val="tx1"/>
                </a:solidFill>
              </a:rPr>
              <a:t>Tables</a:t>
            </a:r>
            <a:endParaRPr lang="en-US" sz="1500" dirty="0"/>
          </a:p>
        </p:txBody>
      </p:sp>
      <p:sp>
        <p:nvSpPr>
          <p:cNvPr id="26" name="Text 23"/>
          <p:cNvSpPr txBox="1"/>
          <p:nvPr/>
        </p:nvSpPr>
        <p:spPr>
          <a:xfrm>
            <a:off x="6126480" y="3922776"/>
            <a:ext cx="2377440" cy="228600"/>
          </a:xfrm>
          <a:prstGeom prst="rect">
            <a:avLst/>
          </a:prstGeom>
          <a:noFill/>
        </p:spPr>
        <p:txBody>
          <a:bodyPr wrap="square" lIns="0" tIns="0" rIns="0" bIns="0" rtlCol="0" anchor="ctr"/>
          <a:lstStyle/>
          <a:p>
            <a:pPr marL="0" indent="0">
              <a:buNone/>
            </a:pPr>
            <a:r>
              <a:rPr lang="en-US" sz="1200" b="1" dirty="0">
                <a:solidFill>
                  <a:schemeClr val="accent2"/>
                </a:solidFill>
              </a:rPr>
              <a:t>Slides 13–14</a:t>
            </a:r>
            <a:endParaRPr lang="en-US" sz="1200" dirty="0"/>
          </a:p>
        </p:txBody>
      </p:sp>
      <p:sp>
        <p:nvSpPr>
          <p:cNvPr id="27" name="Text 24"/>
          <p:cNvSpPr txBox="1"/>
          <p:nvPr/>
        </p:nvSpPr>
        <p:spPr>
          <a:xfrm>
            <a:off x="6126480" y="4160520"/>
            <a:ext cx="2423160" cy="411480"/>
          </a:xfrm>
          <a:prstGeom prst="rect">
            <a:avLst/>
          </a:prstGeom>
          <a:noFill/>
        </p:spPr>
        <p:txBody>
          <a:bodyPr wrap="square" lIns="0" tIns="0" rIns="0" bIns="0" rtlCol="0" anchor="t"/>
          <a:lstStyle/>
          <a:p>
            <a:pPr marL="0" indent="0">
              <a:buNone/>
            </a:pPr>
            <a:r>
              <a:rPr lang="en-US" sz="1200" dirty="0">
                <a:solidFill>
                  <a:schemeClr val="tx2"/>
                </a:solidFill>
              </a:rPr>
              <a:t>Rows, cells, headers, merged cells</a:t>
            </a:r>
            <a:endParaRPr lang="en-US" sz="1200" dirty="0"/>
          </a:p>
        </p:txBody>
      </p:sp>
      <p:sp>
        <p:nvSpPr>
          <p:cNvPr id="28" name="Agenda card"/>
          <p:cNvSpPr/>
          <p:nvPr/>
        </p:nvSpPr>
        <p:spPr>
          <a:xfrm>
            <a:off x="8869680" y="3264408"/>
            <a:ext cx="2743200" cy="1371600"/>
          </a:xfrm>
          <a:prstGeom prst="roundRect">
            <a:avLst>
              <a:gd name="adj" fmla="val 6667"/>
            </a:avLst>
          </a:prstGeom>
          <a:solidFill>
            <a:schemeClr val="bg2"/>
          </a:solidFill>
          <a:ln w="6350">
            <a:solidFill>
              <a:schemeClr val="bg2"/>
            </a:solidFill>
            <a:prstDash val="solid"/>
          </a:ln>
        </p:spPr>
      </p:sp>
      <p:sp>
        <p:nvSpPr>
          <p:cNvPr id="29" name="Number badge"/>
          <p:cNvSpPr/>
          <p:nvPr/>
        </p:nvSpPr>
        <p:spPr>
          <a:xfrm>
            <a:off x="9052560" y="3429000"/>
            <a:ext cx="384048" cy="384048"/>
          </a:xfrm>
          <a:prstGeom prst="ellipse">
            <a:avLst/>
          </a:prstGeom>
          <a:solidFill>
            <a:schemeClr val="accent1"/>
          </a:solidFill>
          <a:ln w="6350">
            <a:solidFill>
              <a:schemeClr val="accent1"/>
            </a:solidFill>
            <a:prstDash val="solid"/>
          </a:ln>
        </p:spPr>
      </p:sp>
      <p:sp>
        <p:nvSpPr>
          <p:cNvPr id="30" name="Text 27"/>
          <p:cNvSpPr txBox="1"/>
          <p:nvPr/>
        </p:nvSpPr>
        <p:spPr>
          <a:xfrm>
            <a:off x="9052560" y="3429000"/>
            <a:ext cx="384048" cy="384048"/>
          </a:xfrm>
          <a:prstGeom prst="rect">
            <a:avLst/>
          </a:prstGeom>
          <a:noFill/>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31" name="Text 28"/>
          <p:cNvSpPr txBox="1"/>
          <p:nvPr/>
        </p:nvSpPr>
        <p:spPr>
          <a:xfrm>
            <a:off x="9555480" y="3429000"/>
            <a:ext cx="1920240" cy="384048"/>
          </a:xfrm>
          <a:prstGeom prst="rect">
            <a:avLst/>
          </a:prstGeom>
          <a:noFill/>
        </p:spPr>
        <p:txBody>
          <a:bodyPr wrap="square" lIns="0" tIns="0" rIns="0" bIns="0" rtlCol="0" anchor="ctr"/>
          <a:lstStyle/>
          <a:p>
            <a:pPr marL="0" indent="0">
              <a:buNone/>
            </a:pPr>
            <a:r>
              <a:rPr lang="en-US" sz="1500" b="1" dirty="0">
                <a:solidFill>
                  <a:schemeClr val="tx1"/>
                </a:solidFill>
              </a:rPr>
              <a:t>Forms</a:t>
            </a:r>
            <a:endParaRPr lang="en-US" sz="1500" dirty="0"/>
          </a:p>
        </p:txBody>
      </p:sp>
      <p:sp>
        <p:nvSpPr>
          <p:cNvPr id="32" name="Text 29"/>
          <p:cNvSpPr txBox="1"/>
          <p:nvPr/>
        </p:nvSpPr>
        <p:spPr>
          <a:xfrm>
            <a:off x="9052560" y="3922776"/>
            <a:ext cx="2377440" cy="228600"/>
          </a:xfrm>
          <a:prstGeom prst="rect">
            <a:avLst/>
          </a:prstGeom>
          <a:noFill/>
        </p:spPr>
        <p:txBody>
          <a:bodyPr wrap="square" lIns="0" tIns="0" rIns="0" bIns="0" rtlCol="0" anchor="ctr"/>
          <a:lstStyle/>
          <a:p>
            <a:pPr marL="0" indent="0">
              <a:buNone/>
            </a:pPr>
            <a:r>
              <a:rPr lang="en-US" sz="1200" b="1" dirty="0">
                <a:solidFill>
                  <a:schemeClr val="accent2"/>
                </a:solidFill>
              </a:rPr>
              <a:t>Slides 15–18</a:t>
            </a:r>
            <a:endParaRPr lang="en-US" sz="1200" dirty="0"/>
          </a:p>
        </p:txBody>
      </p:sp>
      <p:sp>
        <p:nvSpPr>
          <p:cNvPr id="33" name="Text 30"/>
          <p:cNvSpPr txBox="1"/>
          <p:nvPr/>
        </p:nvSpPr>
        <p:spPr>
          <a:xfrm>
            <a:off x="9052560" y="4160520"/>
            <a:ext cx="2423160" cy="411480"/>
          </a:xfrm>
          <a:prstGeom prst="rect">
            <a:avLst/>
          </a:prstGeom>
          <a:noFill/>
        </p:spPr>
        <p:txBody>
          <a:bodyPr wrap="square" lIns="0" tIns="0" rIns="0" bIns="0" rtlCol="0" anchor="t"/>
          <a:lstStyle/>
          <a:p>
            <a:pPr marL="0" indent="0">
              <a:buNone/>
            </a:pPr>
            <a:r>
              <a:rPr lang="en-US" sz="1200" dirty="0">
                <a:solidFill>
                  <a:schemeClr val="tx2"/>
                </a:solidFill>
              </a:rPr>
              <a:t>Inputs, form example, HTML5 validation</a:t>
            </a:r>
            <a:endParaRPr lang="en-US" sz="1200" dirty="0"/>
          </a:p>
        </p:txBody>
      </p:sp>
      <p:sp>
        <p:nvSpPr>
          <p:cNvPr id="34" name="Agenda card"/>
          <p:cNvSpPr/>
          <p:nvPr/>
        </p:nvSpPr>
        <p:spPr>
          <a:xfrm>
            <a:off x="5943600" y="4837176"/>
            <a:ext cx="2743200" cy="1371600"/>
          </a:xfrm>
          <a:prstGeom prst="roundRect">
            <a:avLst>
              <a:gd name="adj" fmla="val 6667"/>
            </a:avLst>
          </a:prstGeom>
          <a:solidFill>
            <a:schemeClr val="bg2"/>
          </a:solidFill>
          <a:ln w="6350">
            <a:solidFill>
              <a:schemeClr val="bg2"/>
            </a:solidFill>
            <a:prstDash val="solid"/>
          </a:ln>
        </p:spPr>
      </p:sp>
      <p:sp>
        <p:nvSpPr>
          <p:cNvPr id="35" name="Number badge"/>
          <p:cNvSpPr/>
          <p:nvPr/>
        </p:nvSpPr>
        <p:spPr>
          <a:xfrm>
            <a:off x="6126480" y="5001768"/>
            <a:ext cx="384048" cy="384048"/>
          </a:xfrm>
          <a:prstGeom prst="ellipse">
            <a:avLst/>
          </a:prstGeom>
          <a:solidFill>
            <a:schemeClr val="accent1"/>
          </a:solidFill>
          <a:ln w="6350">
            <a:solidFill>
              <a:schemeClr val="accent1"/>
            </a:solidFill>
            <a:prstDash val="solid"/>
          </a:ln>
        </p:spPr>
      </p:sp>
      <p:sp>
        <p:nvSpPr>
          <p:cNvPr id="36" name="Text 33"/>
          <p:cNvSpPr txBox="1"/>
          <p:nvPr/>
        </p:nvSpPr>
        <p:spPr>
          <a:xfrm>
            <a:off x="6126480" y="5001768"/>
            <a:ext cx="384048" cy="384048"/>
          </a:xfrm>
          <a:prstGeom prst="rect">
            <a:avLst/>
          </a:prstGeom>
          <a:noFill/>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37" name="Text 34"/>
          <p:cNvSpPr txBox="1"/>
          <p:nvPr/>
        </p:nvSpPr>
        <p:spPr>
          <a:xfrm>
            <a:off x="6629400" y="5001768"/>
            <a:ext cx="1920240" cy="384048"/>
          </a:xfrm>
          <a:prstGeom prst="rect">
            <a:avLst/>
          </a:prstGeom>
          <a:noFill/>
        </p:spPr>
        <p:txBody>
          <a:bodyPr wrap="square" lIns="0" tIns="0" rIns="0" bIns="0" rtlCol="0" anchor="ctr"/>
          <a:lstStyle/>
          <a:p>
            <a:pPr marL="0" indent="0">
              <a:buNone/>
            </a:pPr>
            <a:r>
              <a:rPr lang="en-US" sz="1500" b="1" dirty="0">
                <a:solidFill>
                  <a:schemeClr val="tx1"/>
                </a:solidFill>
              </a:rPr>
              <a:t>Semantics and SEO</a:t>
            </a:r>
            <a:endParaRPr lang="en-US" sz="1500" dirty="0"/>
          </a:p>
        </p:txBody>
      </p:sp>
      <p:sp>
        <p:nvSpPr>
          <p:cNvPr id="38" name="Text 35"/>
          <p:cNvSpPr txBox="1"/>
          <p:nvPr/>
        </p:nvSpPr>
        <p:spPr>
          <a:xfrm>
            <a:off x="6126480" y="5495544"/>
            <a:ext cx="2377440" cy="228600"/>
          </a:xfrm>
          <a:prstGeom prst="rect">
            <a:avLst/>
          </a:prstGeom>
          <a:noFill/>
        </p:spPr>
        <p:txBody>
          <a:bodyPr wrap="square" lIns="0" tIns="0" rIns="0" bIns="0" rtlCol="0" anchor="ctr"/>
          <a:lstStyle/>
          <a:p>
            <a:pPr marL="0" indent="0">
              <a:buNone/>
            </a:pPr>
            <a:r>
              <a:rPr lang="en-US" sz="1200" b="1" dirty="0">
                <a:solidFill>
                  <a:schemeClr val="accent2"/>
                </a:solidFill>
              </a:rPr>
              <a:t>Slides 19–21</a:t>
            </a:r>
            <a:endParaRPr lang="en-US" sz="1200" dirty="0"/>
          </a:p>
        </p:txBody>
      </p:sp>
      <p:sp>
        <p:nvSpPr>
          <p:cNvPr id="39" name="Text 36"/>
          <p:cNvSpPr txBox="1"/>
          <p:nvPr/>
        </p:nvSpPr>
        <p:spPr>
          <a:xfrm>
            <a:off x="6126480" y="5733288"/>
            <a:ext cx="2423160" cy="411480"/>
          </a:xfrm>
          <a:prstGeom prst="rect">
            <a:avLst/>
          </a:prstGeom>
          <a:noFill/>
        </p:spPr>
        <p:txBody>
          <a:bodyPr wrap="square" lIns="0" tIns="0" rIns="0" bIns="0" rtlCol="0" anchor="t"/>
          <a:lstStyle/>
          <a:p>
            <a:pPr marL="0" indent="0">
              <a:buNone/>
            </a:pPr>
            <a:r>
              <a:rPr lang="en-US" sz="1200" dirty="0">
                <a:solidFill>
                  <a:schemeClr val="tx2"/>
                </a:solidFill>
              </a:rPr>
              <a:t>Semantic tags, layout, search optimisation</a:t>
            </a:r>
            <a:endParaRPr lang="en-US" sz="1200" dirty="0"/>
          </a:p>
        </p:txBody>
      </p:sp>
      <p:sp>
        <p:nvSpPr>
          <p:cNvPr id="40" name="Agenda card"/>
          <p:cNvSpPr/>
          <p:nvPr/>
        </p:nvSpPr>
        <p:spPr>
          <a:xfrm>
            <a:off x="8869680" y="4837176"/>
            <a:ext cx="2743200" cy="1371600"/>
          </a:xfrm>
          <a:prstGeom prst="roundRect">
            <a:avLst>
              <a:gd name="adj" fmla="val 6667"/>
            </a:avLst>
          </a:prstGeom>
          <a:solidFill>
            <a:schemeClr val="bg2"/>
          </a:solidFill>
          <a:ln w="6350">
            <a:solidFill>
              <a:schemeClr val="bg2"/>
            </a:solidFill>
            <a:prstDash val="solid"/>
          </a:ln>
        </p:spPr>
      </p:sp>
      <p:sp>
        <p:nvSpPr>
          <p:cNvPr id="41" name="Number badge"/>
          <p:cNvSpPr/>
          <p:nvPr/>
        </p:nvSpPr>
        <p:spPr>
          <a:xfrm>
            <a:off x="9052560" y="5001768"/>
            <a:ext cx="384048" cy="384048"/>
          </a:xfrm>
          <a:prstGeom prst="ellipse">
            <a:avLst/>
          </a:prstGeom>
          <a:solidFill>
            <a:schemeClr val="accent1"/>
          </a:solidFill>
          <a:ln w="6350">
            <a:solidFill>
              <a:schemeClr val="accent1"/>
            </a:solidFill>
            <a:prstDash val="solid"/>
          </a:ln>
        </p:spPr>
      </p:sp>
      <p:sp>
        <p:nvSpPr>
          <p:cNvPr id="42" name="Text 39"/>
          <p:cNvSpPr txBox="1"/>
          <p:nvPr/>
        </p:nvSpPr>
        <p:spPr>
          <a:xfrm>
            <a:off x="9052560" y="5001768"/>
            <a:ext cx="384048" cy="384048"/>
          </a:xfrm>
          <a:prstGeom prst="rect">
            <a:avLst/>
          </a:prstGeom>
          <a:noFill/>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43" name="Text 40"/>
          <p:cNvSpPr txBox="1"/>
          <p:nvPr/>
        </p:nvSpPr>
        <p:spPr>
          <a:xfrm>
            <a:off x="9555480" y="5001768"/>
            <a:ext cx="1920240" cy="384048"/>
          </a:xfrm>
          <a:prstGeom prst="rect">
            <a:avLst/>
          </a:prstGeom>
          <a:noFill/>
        </p:spPr>
        <p:txBody>
          <a:bodyPr wrap="square" lIns="0" tIns="0" rIns="0" bIns="0" rtlCol="0" anchor="ctr"/>
          <a:lstStyle/>
          <a:p>
            <a:pPr marL="0" indent="0">
              <a:buNone/>
            </a:pPr>
            <a:r>
              <a:rPr lang="en-US" sz="1500" b="1" dirty="0">
                <a:solidFill>
                  <a:schemeClr val="tx1"/>
                </a:solidFill>
              </a:rPr>
              <a:t>Validate and Practise</a:t>
            </a:r>
            <a:endParaRPr lang="en-US" sz="1500" dirty="0"/>
          </a:p>
        </p:txBody>
      </p:sp>
      <p:sp>
        <p:nvSpPr>
          <p:cNvPr id="44" name="Text 41"/>
          <p:cNvSpPr txBox="1"/>
          <p:nvPr/>
        </p:nvSpPr>
        <p:spPr>
          <a:xfrm>
            <a:off x="9052560" y="5495544"/>
            <a:ext cx="2377440" cy="228600"/>
          </a:xfrm>
          <a:prstGeom prst="rect">
            <a:avLst/>
          </a:prstGeom>
          <a:noFill/>
        </p:spPr>
        <p:txBody>
          <a:bodyPr wrap="square" lIns="0" tIns="0" rIns="0" bIns="0" rtlCol="0" anchor="ctr"/>
          <a:lstStyle/>
          <a:p>
            <a:pPr marL="0" indent="0">
              <a:buNone/>
            </a:pPr>
            <a:r>
              <a:rPr lang="en-US" sz="1200" b="1" dirty="0">
                <a:solidFill>
                  <a:schemeClr val="accent2"/>
                </a:solidFill>
              </a:rPr>
              <a:t>Slides 22–25</a:t>
            </a:r>
            <a:endParaRPr lang="en-US" sz="1200" dirty="0"/>
          </a:p>
        </p:txBody>
      </p:sp>
      <p:sp>
        <p:nvSpPr>
          <p:cNvPr id="45" name="Text 42"/>
          <p:cNvSpPr txBox="1"/>
          <p:nvPr/>
        </p:nvSpPr>
        <p:spPr>
          <a:xfrm>
            <a:off x="9052560" y="5733288"/>
            <a:ext cx="2423160" cy="411480"/>
          </a:xfrm>
          <a:prstGeom prst="rect">
            <a:avLst/>
          </a:prstGeom>
          <a:noFill/>
        </p:spPr>
        <p:txBody>
          <a:bodyPr wrap="square" lIns="0" tIns="0" rIns="0" bIns="0" rtlCol="0" anchor="t"/>
          <a:lstStyle/>
          <a:p>
            <a:pPr marL="0" indent="0">
              <a:buNone/>
            </a:pPr>
            <a:r>
              <a:rPr lang="en-US" sz="1200" dirty="0">
                <a:solidFill>
                  <a:schemeClr val="tx2"/>
                </a:solidFill>
              </a:rPr>
              <a:t>Debugging, best practices, lab, review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88392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88392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HTML</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What Is HTML?</a:t>
            </a:r>
            <a:endParaRPr lang="en-US" sz="3200" dirty="0"/>
          </a:p>
        </p:txBody>
      </p:sp>
      <p:sp>
        <p:nvSpPr>
          <p:cNvPr id="6" name="Definition card"/>
          <p:cNvSpPr/>
          <p:nvPr/>
        </p:nvSpPr>
        <p:spPr>
          <a:xfrm>
            <a:off x="548640" y="1691640"/>
            <a:ext cx="5486400" cy="3017520"/>
          </a:xfrm>
          <a:prstGeom prst="roundRect">
            <a:avLst>
              <a:gd name="adj" fmla="val 3030"/>
            </a:avLst>
          </a:prstGeom>
          <a:solidFill>
            <a:schemeClr val="bg2"/>
          </a:solidFill>
          <a:ln w="6350">
            <a:solidFill>
              <a:schemeClr val="bg2"/>
            </a:solidFill>
            <a:prstDash val="solid"/>
          </a:ln>
        </p:spPr>
      </p:sp>
      <p:sp>
        <p:nvSpPr>
          <p:cNvPr id="7" name="Text 4"/>
          <p:cNvSpPr txBox="1"/>
          <p:nvPr/>
        </p:nvSpPr>
        <p:spPr>
          <a:xfrm>
            <a:off x="777240" y="1874520"/>
            <a:ext cx="5029200" cy="2697480"/>
          </a:xfrm>
          <a:prstGeom prst="rect">
            <a:avLst/>
          </a:prstGeom>
          <a:noFill/>
        </p:spPr>
        <p:txBody>
          <a:bodyPr wrap="square" lIns="0" tIns="0" rIns="0" bIns="0" rtlCol="0" anchor="t"/>
          <a:lstStyle/>
          <a:p>
            <a:pPr marL="0" indent="0">
              <a:spcAft>
                <a:spcPts val="700"/>
              </a:spcAft>
              <a:buNone/>
            </a:pPr>
            <a:r>
              <a:rPr lang="en-US" sz="1500" b="1" dirty="0">
                <a:solidFill>
                  <a:schemeClr val="tx1"/>
                </a:solidFill>
              </a:rPr>
              <a:t>HTML </a:t>
            </a:r>
            <a:r>
              <a:rPr lang="en-US" sz="1500" dirty="0">
                <a:solidFill>
                  <a:schemeClr val="tx1"/>
                </a:solidFill>
              </a:rPr>
              <a:t>= HyperText Markup Language</a:t>
            </a:r>
            <a:endParaRPr lang="en-US" sz="1500" dirty="0"/>
          </a:p>
          <a:p>
            <a:pPr marL="177800" indent="-177800">
              <a:spcAft>
                <a:spcPts val="700"/>
              </a:spcAft>
              <a:buSzPct val="100000"/>
              <a:buChar char="•"/>
            </a:pPr>
            <a:r>
              <a:rPr lang="en-US" sz="1500" dirty="0">
                <a:solidFill>
                  <a:schemeClr val="tx1"/>
                </a:solidFill>
              </a:rPr>
              <a:t>The standard language for describing the structure of web pages</a:t>
            </a:r>
            <a:endParaRPr lang="en-US" sz="1500" dirty="0"/>
          </a:p>
          <a:p>
            <a:pPr marL="177800" indent="-177800">
              <a:spcAft>
                <a:spcPts val="700"/>
              </a:spcAft>
              <a:buSzPct val="100000"/>
              <a:buChar char="•"/>
            </a:pPr>
            <a:r>
              <a:rPr lang="en-US" sz="1500" dirty="0">
                <a:solidFill>
                  <a:schemeClr val="tx1"/>
                </a:solidFill>
              </a:rPr>
              <a:t>Markup, not programming: tags label headings, paragraphs, links, images and more</a:t>
            </a:r>
            <a:endParaRPr lang="en-US" sz="1500" dirty="0"/>
          </a:p>
          <a:p>
            <a:pPr marL="177800" indent="-177800">
              <a:spcAft>
                <a:spcPts val="700"/>
              </a:spcAft>
              <a:buSzPct val="100000"/>
              <a:buChar char="•"/>
            </a:pPr>
            <a:r>
              <a:rPr lang="en-US" sz="1500" dirty="0">
                <a:solidFill>
                  <a:schemeClr val="tx1"/>
                </a:solidFill>
              </a:rPr>
              <a:t>Browsers read the HTML file and render it on screen</a:t>
            </a:r>
            <a:endParaRPr lang="en-US" sz="1500" dirty="0"/>
          </a:p>
          <a:p>
            <a:pPr marL="177800" indent="-177800">
              <a:spcAft>
                <a:spcPts val="700"/>
              </a:spcAft>
              <a:buSzPct val="100000"/>
              <a:buChar char="•"/>
            </a:pPr>
            <a:r>
              <a:rPr lang="en-US" sz="1500" dirty="0">
                <a:solidFill>
                  <a:schemeClr val="tx1"/>
                </a:solidFill>
              </a:rPr>
              <a:t>Saved as plain text with the .html extension</a:t>
            </a:r>
            <a:endParaRPr lang="en-US" sz="1500" dirty="0"/>
          </a:p>
        </p:txBody>
      </p:sp>
      <p:sp>
        <p:nvSpPr>
          <p:cNvPr id="8" name="Technology card"/>
          <p:cNvSpPr/>
          <p:nvPr/>
        </p:nvSpPr>
        <p:spPr>
          <a:xfrm>
            <a:off x="6309360" y="1691640"/>
            <a:ext cx="5330952" cy="914400"/>
          </a:xfrm>
          <a:prstGeom prst="roundRect">
            <a:avLst>
              <a:gd name="adj" fmla="val 10000"/>
            </a:avLst>
          </a:prstGeom>
          <a:solidFill>
            <a:schemeClr val="bg2"/>
          </a:solidFill>
          <a:ln w="6350">
            <a:solidFill>
              <a:schemeClr val="bg2"/>
            </a:solidFill>
            <a:prstDash val="solid"/>
          </a:ln>
        </p:spPr>
      </p:sp>
      <p:sp>
        <p:nvSpPr>
          <p:cNvPr id="9" name="Tech badge"/>
          <p:cNvSpPr/>
          <p:nvPr/>
        </p:nvSpPr>
        <p:spPr>
          <a:xfrm>
            <a:off x="6492240" y="1828800"/>
            <a:ext cx="640080" cy="640080"/>
          </a:xfrm>
          <a:prstGeom prst="ellipse">
            <a:avLst/>
          </a:prstGeom>
          <a:solidFill>
            <a:schemeClr val="accent1"/>
          </a:solidFill>
          <a:ln w="6350">
            <a:solidFill>
              <a:schemeClr val="accent1"/>
            </a:solidFill>
            <a:prstDash val="solid"/>
          </a:ln>
        </p:spPr>
      </p:sp>
      <p:sp>
        <p:nvSpPr>
          <p:cNvPr id="10" name="Text 7"/>
          <p:cNvSpPr txBox="1"/>
          <p:nvPr/>
        </p:nvSpPr>
        <p:spPr>
          <a:xfrm>
            <a:off x="6492240" y="1828800"/>
            <a:ext cx="640080" cy="640080"/>
          </a:xfrm>
          <a:prstGeom prst="rect">
            <a:avLst/>
          </a:prstGeom>
          <a:noFill/>
        </p:spPr>
        <p:txBody>
          <a:bodyPr wrap="square" lIns="0" tIns="0" rIns="0" bIns="0" rtlCol="0" anchor="ctr"/>
          <a:lstStyle/>
          <a:p>
            <a:pPr marL="0" indent="0" algn="ctr">
              <a:buNone/>
            </a:pPr>
            <a:r>
              <a:rPr lang="en-US" sz="1400" b="1" dirty="0">
                <a:solidFill>
                  <a:schemeClr val="bg1"/>
                </a:solidFill>
              </a:rPr>
              <a:t>HTML</a:t>
            </a:r>
            <a:endParaRPr lang="en-US" sz="1400" dirty="0"/>
          </a:p>
        </p:txBody>
      </p:sp>
      <p:sp>
        <p:nvSpPr>
          <p:cNvPr id="11" name="Text 8"/>
          <p:cNvSpPr txBox="1"/>
          <p:nvPr/>
        </p:nvSpPr>
        <p:spPr>
          <a:xfrm>
            <a:off x="7360920" y="1819656"/>
            <a:ext cx="4114800" cy="365760"/>
          </a:xfrm>
          <a:prstGeom prst="rect">
            <a:avLst/>
          </a:prstGeom>
          <a:noFill/>
        </p:spPr>
        <p:txBody>
          <a:bodyPr wrap="square" lIns="0" tIns="0" rIns="0" bIns="0" rtlCol="0" anchor="ctr"/>
          <a:lstStyle/>
          <a:p>
            <a:pPr marL="0" indent="0">
              <a:buNone/>
            </a:pPr>
            <a:r>
              <a:rPr lang="en-US" sz="1800" b="1" dirty="0">
                <a:solidFill>
                  <a:schemeClr val="tx1"/>
                </a:solidFill>
              </a:rPr>
              <a:t>Structure</a:t>
            </a:r>
            <a:endParaRPr lang="en-US" sz="1800" dirty="0"/>
          </a:p>
        </p:txBody>
      </p:sp>
      <p:sp>
        <p:nvSpPr>
          <p:cNvPr id="12" name="Text 9"/>
          <p:cNvSpPr txBox="1"/>
          <p:nvPr/>
        </p:nvSpPr>
        <p:spPr>
          <a:xfrm>
            <a:off x="7360920" y="2194560"/>
            <a:ext cx="4114800" cy="292608"/>
          </a:xfrm>
          <a:prstGeom prst="rect">
            <a:avLst/>
          </a:prstGeom>
          <a:noFill/>
        </p:spPr>
        <p:txBody>
          <a:bodyPr wrap="square" lIns="0" tIns="0" rIns="0" bIns="0" rtlCol="0" anchor="ctr"/>
          <a:lstStyle/>
          <a:p>
            <a:pPr marL="0" indent="0">
              <a:buNone/>
            </a:pPr>
            <a:r>
              <a:rPr lang="en-US" sz="1400" dirty="0">
                <a:solidFill>
                  <a:schemeClr val="tx2"/>
                </a:solidFill>
              </a:rPr>
              <a:t>Headings, paragraphs, images, forms</a:t>
            </a:r>
            <a:endParaRPr lang="en-US" sz="1400" dirty="0"/>
          </a:p>
        </p:txBody>
      </p:sp>
      <p:sp>
        <p:nvSpPr>
          <p:cNvPr id="13" name="Technology card"/>
          <p:cNvSpPr/>
          <p:nvPr/>
        </p:nvSpPr>
        <p:spPr>
          <a:xfrm>
            <a:off x="6309360" y="2743200"/>
            <a:ext cx="5330952" cy="914400"/>
          </a:xfrm>
          <a:prstGeom prst="roundRect">
            <a:avLst>
              <a:gd name="adj" fmla="val 10000"/>
            </a:avLst>
          </a:prstGeom>
          <a:solidFill>
            <a:schemeClr val="bg2"/>
          </a:solidFill>
          <a:ln w="6350">
            <a:solidFill>
              <a:schemeClr val="bg2"/>
            </a:solidFill>
            <a:prstDash val="solid"/>
          </a:ln>
        </p:spPr>
      </p:sp>
      <p:sp>
        <p:nvSpPr>
          <p:cNvPr id="14" name="Tech badge"/>
          <p:cNvSpPr/>
          <p:nvPr/>
        </p:nvSpPr>
        <p:spPr>
          <a:xfrm>
            <a:off x="6492240" y="2880360"/>
            <a:ext cx="640080" cy="640080"/>
          </a:xfrm>
          <a:prstGeom prst="ellipse">
            <a:avLst/>
          </a:prstGeom>
          <a:solidFill>
            <a:schemeClr val="accent2"/>
          </a:solidFill>
          <a:ln w="6350">
            <a:solidFill>
              <a:schemeClr val="accent2"/>
            </a:solidFill>
            <a:prstDash val="solid"/>
          </a:ln>
        </p:spPr>
      </p:sp>
      <p:sp>
        <p:nvSpPr>
          <p:cNvPr id="15" name="Text 12"/>
          <p:cNvSpPr txBox="1"/>
          <p:nvPr/>
        </p:nvSpPr>
        <p:spPr>
          <a:xfrm>
            <a:off x="6492240" y="2880360"/>
            <a:ext cx="640080" cy="640080"/>
          </a:xfrm>
          <a:prstGeom prst="rect">
            <a:avLst/>
          </a:prstGeom>
          <a:noFill/>
        </p:spPr>
        <p:txBody>
          <a:bodyPr wrap="square" lIns="0" tIns="0" rIns="0" bIns="0" rtlCol="0" anchor="ctr"/>
          <a:lstStyle/>
          <a:p>
            <a:pPr marL="0" indent="0" algn="ctr">
              <a:buNone/>
            </a:pPr>
            <a:r>
              <a:rPr lang="en-US" sz="1400" b="1" dirty="0">
                <a:solidFill>
                  <a:schemeClr val="bg1"/>
                </a:solidFill>
              </a:rPr>
              <a:t>CSS</a:t>
            </a:r>
            <a:endParaRPr lang="en-US" sz="1400" dirty="0"/>
          </a:p>
        </p:txBody>
      </p:sp>
      <p:sp>
        <p:nvSpPr>
          <p:cNvPr id="16" name="Text 13"/>
          <p:cNvSpPr txBox="1"/>
          <p:nvPr/>
        </p:nvSpPr>
        <p:spPr>
          <a:xfrm>
            <a:off x="7360920" y="2871216"/>
            <a:ext cx="4114800" cy="365760"/>
          </a:xfrm>
          <a:prstGeom prst="rect">
            <a:avLst/>
          </a:prstGeom>
          <a:noFill/>
        </p:spPr>
        <p:txBody>
          <a:bodyPr wrap="square" lIns="0" tIns="0" rIns="0" bIns="0" rtlCol="0" anchor="ctr"/>
          <a:lstStyle/>
          <a:p>
            <a:pPr marL="0" indent="0">
              <a:buNone/>
            </a:pPr>
            <a:r>
              <a:rPr lang="en-US" sz="1800" b="1" dirty="0">
                <a:solidFill>
                  <a:schemeClr val="tx1"/>
                </a:solidFill>
              </a:rPr>
              <a:t>Presentation</a:t>
            </a:r>
            <a:endParaRPr lang="en-US" sz="1800" dirty="0"/>
          </a:p>
        </p:txBody>
      </p:sp>
      <p:sp>
        <p:nvSpPr>
          <p:cNvPr id="17" name="Text 14"/>
          <p:cNvSpPr txBox="1"/>
          <p:nvPr/>
        </p:nvSpPr>
        <p:spPr>
          <a:xfrm>
            <a:off x="7360920" y="3246120"/>
            <a:ext cx="4114800" cy="292608"/>
          </a:xfrm>
          <a:prstGeom prst="rect">
            <a:avLst/>
          </a:prstGeom>
          <a:noFill/>
        </p:spPr>
        <p:txBody>
          <a:bodyPr wrap="square" lIns="0" tIns="0" rIns="0" bIns="0" rtlCol="0" anchor="ctr"/>
          <a:lstStyle/>
          <a:p>
            <a:pPr marL="0" indent="0">
              <a:buNone/>
            </a:pPr>
            <a:r>
              <a:rPr lang="en-US" sz="1400" dirty="0">
                <a:solidFill>
                  <a:schemeClr val="tx2"/>
                </a:solidFill>
              </a:rPr>
              <a:t>Colours, fonts and page layout</a:t>
            </a:r>
            <a:endParaRPr lang="en-US" sz="1400" dirty="0"/>
          </a:p>
        </p:txBody>
      </p:sp>
      <p:sp>
        <p:nvSpPr>
          <p:cNvPr id="18" name="Technology card"/>
          <p:cNvSpPr/>
          <p:nvPr/>
        </p:nvSpPr>
        <p:spPr>
          <a:xfrm>
            <a:off x="6309360" y="3794760"/>
            <a:ext cx="5330952" cy="914400"/>
          </a:xfrm>
          <a:prstGeom prst="roundRect">
            <a:avLst>
              <a:gd name="adj" fmla="val 10000"/>
            </a:avLst>
          </a:prstGeom>
          <a:solidFill>
            <a:schemeClr val="bg2"/>
          </a:solidFill>
          <a:ln w="6350">
            <a:solidFill>
              <a:schemeClr val="bg2"/>
            </a:solidFill>
            <a:prstDash val="solid"/>
          </a:ln>
        </p:spPr>
      </p:sp>
      <p:sp>
        <p:nvSpPr>
          <p:cNvPr id="19" name="Tech badge"/>
          <p:cNvSpPr/>
          <p:nvPr/>
        </p:nvSpPr>
        <p:spPr>
          <a:xfrm>
            <a:off x="6492240" y="3931920"/>
            <a:ext cx="640080" cy="640080"/>
          </a:xfrm>
          <a:prstGeom prst="ellipse">
            <a:avLst/>
          </a:prstGeom>
          <a:solidFill>
            <a:schemeClr val="accent3"/>
          </a:solidFill>
          <a:ln w="6350">
            <a:solidFill>
              <a:schemeClr val="accent3"/>
            </a:solidFill>
            <a:prstDash val="solid"/>
          </a:ln>
        </p:spPr>
      </p:sp>
      <p:sp>
        <p:nvSpPr>
          <p:cNvPr id="20" name="Text 17"/>
          <p:cNvSpPr txBox="1"/>
          <p:nvPr/>
        </p:nvSpPr>
        <p:spPr>
          <a:xfrm>
            <a:off x="6492240" y="3931920"/>
            <a:ext cx="640080" cy="640080"/>
          </a:xfrm>
          <a:prstGeom prst="rect">
            <a:avLst/>
          </a:prstGeom>
          <a:noFill/>
        </p:spPr>
        <p:txBody>
          <a:bodyPr wrap="square" lIns="0" tIns="0" rIns="0" bIns="0" rtlCol="0" anchor="ctr"/>
          <a:lstStyle/>
          <a:p>
            <a:pPr marL="0" indent="0" algn="ctr">
              <a:buNone/>
            </a:pPr>
            <a:r>
              <a:rPr lang="en-US" sz="1400" b="1" dirty="0">
                <a:solidFill>
                  <a:schemeClr val="tx1"/>
                </a:solidFill>
              </a:rPr>
              <a:t>JS</a:t>
            </a:r>
            <a:endParaRPr lang="en-US" sz="1400" dirty="0"/>
          </a:p>
        </p:txBody>
      </p:sp>
      <p:sp>
        <p:nvSpPr>
          <p:cNvPr id="21" name="Text 18"/>
          <p:cNvSpPr txBox="1"/>
          <p:nvPr/>
        </p:nvSpPr>
        <p:spPr>
          <a:xfrm>
            <a:off x="7360920" y="3922776"/>
            <a:ext cx="4114800" cy="365760"/>
          </a:xfrm>
          <a:prstGeom prst="rect">
            <a:avLst/>
          </a:prstGeom>
          <a:noFill/>
        </p:spPr>
        <p:txBody>
          <a:bodyPr wrap="square" lIns="0" tIns="0" rIns="0" bIns="0" rtlCol="0" anchor="ctr"/>
          <a:lstStyle/>
          <a:p>
            <a:pPr marL="0" indent="0">
              <a:buNone/>
            </a:pPr>
            <a:r>
              <a:rPr lang="en-US" sz="1800" b="1" dirty="0">
                <a:solidFill>
                  <a:schemeClr val="tx1"/>
                </a:solidFill>
              </a:rPr>
              <a:t>Behaviour</a:t>
            </a:r>
            <a:endParaRPr lang="en-US" sz="1800" dirty="0"/>
          </a:p>
        </p:txBody>
      </p:sp>
      <p:sp>
        <p:nvSpPr>
          <p:cNvPr id="22" name="Text 19"/>
          <p:cNvSpPr txBox="1"/>
          <p:nvPr/>
        </p:nvSpPr>
        <p:spPr>
          <a:xfrm>
            <a:off x="7360920" y="4297680"/>
            <a:ext cx="4114800" cy="292608"/>
          </a:xfrm>
          <a:prstGeom prst="rect">
            <a:avLst/>
          </a:prstGeom>
          <a:noFill/>
        </p:spPr>
        <p:txBody>
          <a:bodyPr wrap="square" lIns="0" tIns="0" rIns="0" bIns="0" rtlCol="0" anchor="ctr"/>
          <a:lstStyle/>
          <a:p>
            <a:pPr marL="0" indent="0">
              <a:buNone/>
            </a:pPr>
            <a:r>
              <a:rPr lang="en-US" sz="1400" dirty="0">
                <a:solidFill>
                  <a:schemeClr val="tx2"/>
                </a:solidFill>
              </a:rPr>
              <a:t>Interaction, validation, APIs</a:t>
            </a:r>
            <a:endParaRPr lang="en-US" sz="1400" dirty="0"/>
          </a:p>
        </p:txBody>
      </p:sp>
      <p:sp>
        <p:nvSpPr>
          <p:cNvPr id="23" name="Timeline card"/>
          <p:cNvSpPr/>
          <p:nvPr/>
        </p:nvSpPr>
        <p:spPr>
          <a:xfrm>
            <a:off x="548640" y="4983480"/>
            <a:ext cx="2084832" cy="1234440"/>
          </a:xfrm>
          <a:prstGeom prst="roundRect">
            <a:avLst>
              <a:gd name="adj" fmla="val 7407"/>
            </a:avLst>
          </a:prstGeom>
          <a:solidFill>
            <a:schemeClr val="bg2"/>
          </a:solidFill>
          <a:ln w="6350">
            <a:solidFill>
              <a:schemeClr val="bg2"/>
            </a:solidFill>
            <a:prstDash val="solid"/>
          </a:ln>
        </p:spPr>
      </p:sp>
      <p:sp>
        <p:nvSpPr>
          <p:cNvPr id="24" name="Text 21"/>
          <p:cNvSpPr txBox="1"/>
          <p:nvPr/>
        </p:nvSpPr>
        <p:spPr>
          <a:xfrm>
            <a:off x="685800" y="5074920"/>
            <a:ext cx="1828800" cy="365760"/>
          </a:xfrm>
          <a:prstGeom prst="rect">
            <a:avLst/>
          </a:prstGeom>
          <a:noFill/>
        </p:spPr>
        <p:txBody>
          <a:bodyPr wrap="square" lIns="0" tIns="0" rIns="0" bIns="0" rtlCol="0" anchor="ctr"/>
          <a:lstStyle/>
          <a:p>
            <a:pPr marL="0" indent="0">
              <a:buNone/>
            </a:pPr>
            <a:r>
              <a:rPr lang="en-US" sz="2000" b="1" dirty="0">
                <a:solidFill>
                  <a:schemeClr val="accent1"/>
                </a:solidFill>
              </a:rPr>
              <a:t>1991</a:t>
            </a:r>
            <a:endParaRPr lang="en-US" sz="2000" dirty="0"/>
          </a:p>
        </p:txBody>
      </p:sp>
      <p:sp>
        <p:nvSpPr>
          <p:cNvPr id="25" name="Text 22"/>
          <p:cNvSpPr txBox="1"/>
          <p:nvPr/>
        </p:nvSpPr>
        <p:spPr>
          <a:xfrm>
            <a:off x="685800" y="5468112"/>
            <a:ext cx="1828800" cy="685800"/>
          </a:xfrm>
          <a:prstGeom prst="rect">
            <a:avLst/>
          </a:prstGeom>
          <a:noFill/>
        </p:spPr>
        <p:txBody>
          <a:bodyPr wrap="square" lIns="0" tIns="0" rIns="0" bIns="0" rtlCol="0" anchor="t"/>
          <a:lstStyle/>
          <a:p>
            <a:pPr marL="0" indent="0">
              <a:buNone/>
            </a:pPr>
            <a:r>
              <a:rPr lang="en-US" sz="1300" dirty="0">
                <a:solidFill>
                  <a:schemeClr val="tx1"/>
                </a:solidFill>
              </a:rPr>
              <a:t>First HTML described by Tim Berners-Lee</a:t>
            </a:r>
            <a:endParaRPr lang="en-US" sz="1300" dirty="0"/>
          </a:p>
        </p:txBody>
      </p:sp>
      <p:sp>
        <p:nvSpPr>
          <p:cNvPr id="26" name="Timeline card"/>
          <p:cNvSpPr/>
          <p:nvPr/>
        </p:nvSpPr>
        <p:spPr>
          <a:xfrm>
            <a:off x="2798064" y="4983480"/>
            <a:ext cx="2084832" cy="1234440"/>
          </a:xfrm>
          <a:prstGeom prst="roundRect">
            <a:avLst>
              <a:gd name="adj" fmla="val 7407"/>
            </a:avLst>
          </a:prstGeom>
          <a:solidFill>
            <a:schemeClr val="bg2"/>
          </a:solidFill>
          <a:ln w="6350">
            <a:solidFill>
              <a:schemeClr val="bg2"/>
            </a:solidFill>
            <a:prstDash val="solid"/>
          </a:ln>
        </p:spPr>
      </p:sp>
      <p:sp>
        <p:nvSpPr>
          <p:cNvPr id="27" name="Text 24"/>
          <p:cNvSpPr txBox="1"/>
          <p:nvPr/>
        </p:nvSpPr>
        <p:spPr>
          <a:xfrm>
            <a:off x="2935224" y="5074920"/>
            <a:ext cx="1828800" cy="365760"/>
          </a:xfrm>
          <a:prstGeom prst="rect">
            <a:avLst/>
          </a:prstGeom>
          <a:noFill/>
        </p:spPr>
        <p:txBody>
          <a:bodyPr wrap="square" lIns="0" tIns="0" rIns="0" bIns="0" rtlCol="0" anchor="ctr"/>
          <a:lstStyle/>
          <a:p>
            <a:pPr marL="0" indent="0">
              <a:buNone/>
            </a:pPr>
            <a:r>
              <a:rPr lang="en-US" sz="2000" b="1" dirty="0">
                <a:solidFill>
                  <a:schemeClr val="accent1"/>
                </a:solidFill>
              </a:rPr>
              <a:t>1995</a:t>
            </a:r>
            <a:endParaRPr lang="en-US" sz="2000" dirty="0"/>
          </a:p>
        </p:txBody>
      </p:sp>
      <p:sp>
        <p:nvSpPr>
          <p:cNvPr id="28" name="Text 25"/>
          <p:cNvSpPr txBox="1"/>
          <p:nvPr/>
        </p:nvSpPr>
        <p:spPr>
          <a:xfrm>
            <a:off x="2935224" y="5468112"/>
            <a:ext cx="1828800" cy="685800"/>
          </a:xfrm>
          <a:prstGeom prst="rect">
            <a:avLst/>
          </a:prstGeom>
          <a:noFill/>
        </p:spPr>
        <p:txBody>
          <a:bodyPr wrap="square" lIns="0" tIns="0" rIns="0" bIns="0" rtlCol="0" anchor="t"/>
          <a:lstStyle/>
          <a:p>
            <a:pPr marL="0" indent="0">
              <a:buNone/>
            </a:pPr>
            <a:r>
              <a:rPr lang="en-US" sz="1300" dirty="0">
                <a:solidFill>
                  <a:schemeClr val="tx1"/>
                </a:solidFill>
              </a:rPr>
              <a:t>HTML 2.0 first standard</a:t>
            </a:r>
            <a:endParaRPr lang="en-US" sz="1300" dirty="0"/>
          </a:p>
        </p:txBody>
      </p:sp>
      <p:sp>
        <p:nvSpPr>
          <p:cNvPr id="29" name="Timeline card"/>
          <p:cNvSpPr/>
          <p:nvPr/>
        </p:nvSpPr>
        <p:spPr>
          <a:xfrm>
            <a:off x="5047488" y="4983480"/>
            <a:ext cx="2084832" cy="1234440"/>
          </a:xfrm>
          <a:prstGeom prst="roundRect">
            <a:avLst>
              <a:gd name="adj" fmla="val 7407"/>
            </a:avLst>
          </a:prstGeom>
          <a:solidFill>
            <a:schemeClr val="bg2"/>
          </a:solidFill>
          <a:ln w="6350">
            <a:solidFill>
              <a:schemeClr val="bg2"/>
            </a:solidFill>
            <a:prstDash val="solid"/>
          </a:ln>
        </p:spPr>
      </p:sp>
      <p:sp>
        <p:nvSpPr>
          <p:cNvPr id="30" name="Text 27"/>
          <p:cNvSpPr txBox="1"/>
          <p:nvPr/>
        </p:nvSpPr>
        <p:spPr>
          <a:xfrm>
            <a:off x="5184648" y="5074920"/>
            <a:ext cx="1828800" cy="365760"/>
          </a:xfrm>
          <a:prstGeom prst="rect">
            <a:avLst/>
          </a:prstGeom>
          <a:noFill/>
        </p:spPr>
        <p:txBody>
          <a:bodyPr wrap="square" lIns="0" tIns="0" rIns="0" bIns="0" rtlCol="0" anchor="ctr"/>
          <a:lstStyle/>
          <a:p>
            <a:pPr marL="0" indent="0">
              <a:buNone/>
            </a:pPr>
            <a:r>
              <a:rPr lang="en-US" sz="2000" b="1" dirty="0">
                <a:solidFill>
                  <a:schemeClr val="accent1"/>
                </a:solidFill>
              </a:rPr>
              <a:t>1999</a:t>
            </a:r>
            <a:endParaRPr lang="en-US" sz="2000" dirty="0"/>
          </a:p>
        </p:txBody>
      </p:sp>
      <p:sp>
        <p:nvSpPr>
          <p:cNvPr id="31" name="Text 28"/>
          <p:cNvSpPr txBox="1"/>
          <p:nvPr/>
        </p:nvSpPr>
        <p:spPr>
          <a:xfrm>
            <a:off x="5184648" y="5468112"/>
            <a:ext cx="1828800" cy="685800"/>
          </a:xfrm>
          <a:prstGeom prst="rect">
            <a:avLst/>
          </a:prstGeom>
          <a:noFill/>
        </p:spPr>
        <p:txBody>
          <a:bodyPr wrap="square" lIns="0" tIns="0" rIns="0" bIns="0" rtlCol="0" anchor="t"/>
          <a:lstStyle/>
          <a:p>
            <a:pPr marL="0" indent="0">
              <a:buNone/>
            </a:pPr>
            <a:r>
              <a:rPr lang="en-US" sz="1300" dirty="0">
                <a:solidFill>
                  <a:schemeClr val="tx1"/>
                </a:solidFill>
              </a:rPr>
              <a:t>HTML 4.01</a:t>
            </a:r>
            <a:endParaRPr lang="en-US" sz="1300" dirty="0"/>
          </a:p>
        </p:txBody>
      </p:sp>
      <p:sp>
        <p:nvSpPr>
          <p:cNvPr id="32" name="Timeline card"/>
          <p:cNvSpPr/>
          <p:nvPr/>
        </p:nvSpPr>
        <p:spPr>
          <a:xfrm>
            <a:off x="7296912" y="4983480"/>
            <a:ext cx="2084832" cy="1234440"/>
          </a:xfrm>
          <a:prstGeom prst="roundRect">
            <a:avLst>
              <a:gd name="adj" fmla="val 7407"/>
            </a:avLst>
          </a:prstGeom>
          <a:solidFill>
            <a:schemeClr val="bg2"/>
          </a:solidFill>
          <a:ln w="6350">
            <a:solidFill>
              <a:schemeClr val="bg2"/>
            </a:solidFill>
            <a:prstDash val="solid"/>
          </a:ln>
        </p:spPr>
      </p:sp>
      <p:sp>
        <p:nvSpPr>
          <p:cNvPr id="33" name="Text 30"/>
          <p:cNvSpPr txBox="1"/>
          <p:nvPr/>
        </p:nvSpPr>
        <p:spPr>
          <a:xfrm>
            <a:off x="7434072" y="5074920"/>
            <a:ext cx="1828800" cy="365760"/>
          </a:xfrm>
          <a:prstGeom prst="rect">
            <a:avLst/>
          </a:prstGeom>
          <a:noFill/>
        </p:spPr>
        <p:txBody>
          <a:bodyPr wrap="square" lIns="0" tIns="0" rIns="0" bIns="0" rtlCol="0" anchor="ctr"/>
          <a:lstStyle/>
          <a:p>
            <a:pPr marL="0" indent="0">
              <a:buNone/>
            </a:pPr>
            <a:r>
              <a:rPr lang="en-US" sz="2000" b="1" dirty="0">
                <a:solidFill>
                  <a:schemeClr val="accent1"/>
                </a:solidFill>
              </a:rPr>
              <a:t>2014</a:t>
            </a:r>
            <a:endParaRPr lang="en-US" sz="2000" dirty="0"/>
          </a:p>
        </p:txBody>
      </p:sp>
      <p:sp>
        <p:nvSpPr>
          <p:cNvPr id="34" name="Text 31"/>
          <p:cNvSpPr txBox="1"/>
          <p:nvPr/>
        </p:nvSpPr>
        <p:spPr>
          <a:xfrm>
            <a:off x="7434072" y="5468112"/>
            <a:ext cx="1828800" cy="685800"/>
          </a:xfrm>
          <a:prstGeom prst="rect">
            <a:avLst/>
          </a:prstGeom>
          <a:noFill/>
        </p:spPr>
        <p:txBody>
          <a:bodyPr wrap="square" lIns="0" tIns="0" rIns="0" bIns="0" rtlCol="0" anchor="t"/>
          <a:lstStyle/>
          <a:p>
            <a:pPr marL="0" indent="0">
              <a:buNone/>
            </a:pPr>
            <a:r>
              <a:rPr lang="en-US" sz="1300" dirty="0">
                <a:solidFill>
                  <a:schemeClr val="tx1"/>
                </a:solidFill>
              </a:rPr>
              <a:t>HTML5 W3C Recommendation</a:t>
            </a:r>
            <a:endParaRPr lang="en-US" sz="1300" dirty="0"/>
          </a:p>
        </p:txBody>
      </p:sp>
      <p:sp>
        <p:nvSpPr>
          <p:cNvPr id="35" name="Timeline card"/>
          <p:cNvSpPr/>
          <p:nvPr/>
        </p:nvSpPr>
        <p:spPr>
          <a:xfrm>
            <a:off x="9546336" y="4983480"/>
            <a:ext cx="2084832" cy="1234440"/>
          </a:xfrm>
          <a:prstGeom prst="roundRect">
            <a:avLst>
              <a:gd name="adj" fmla="val 7407"/>
            </a:avLst>
          </a:prstGeom>
          <a:solidFill>
            <a:schemeClr val="bg2"/>
          </a:solidFill>
          <a:ln w="6350">
            <a:solidFill>
              <a:schemeClr val="bg2"/>
            </a:solidFill>
            <a:prstDash val="solid"/>
          </a:ln>
        </p:spPr>
      </p:sp>
      <p:sp>
        <p:nvSpPr>
          <p:cNvPr id="36" name="Text 33"/>
          <p:cNvSpPr txBox="1"/>
          <p:nvPr/>
        </p:nvSpPr>
        <p:spPr>
          <a:xfrm>
            <a:off x="9683496" y="5074920"/>
            <a:ext cx="1828800" cy="365760"/>
          </a:xfrm>
          <a:prstGeom prst="rect">
            <a:avLst/>
          </a:prstGeom>
          <a:noFill/>
        </p:spPr>
        <p:txBody>
          <a:bodyPr wrap="square" lIns="0" tIns="0" rIns="0" bIns="0" rtlCol="0" anchor="ctr"/>
          <a:lstStyle/>
          <a:p>
            <a:pPr marL="0" indent="0">
              <a:buNone/>
            </a:pPr>
            <a:r>
              <a:rPr lang="en-US" sz="2000" b="1" dirty="0">
                <a:solidFill>
                  <a:schemeClr val="accent1"/>
                </a:solidFill>
              </a:rPr>
              <a:t>Today</a:t>
            </a:r>
            <a:endParaRPr lang="en-US" sz="2000" dirty="0"/>
          </a:p>
        </p:txBody>
      </p:sp>
      <p:sp>
        <p:nvSpPr>
          <p:cNvPr id="37" name="Text 34"/>
          <p:cNvSpPr txBox="1"/>
          <p:nvPr/>
        </p:nvSpPr>
        <p:spPr>
          <a:xfrm>
            <a:off x="9683496" y="5468112"/>
            <a:ext cx="1828800" cy="685800"/>
          </a:xfrm>
          <a:prstGeom prst="rect">
            <a:avLst/>
          </a:prstGeom>
          <a:noFill/>
        </p:spPr>
        <p:txBody>
          <a:bodyPr wrap="square" lIns="0" tIns="0" rIns="0" bIns="0" rtlCol="0" anchor="t"/>
          <a:lstStyle/>
          <a:p>
            <a:pPr marL="0" indent="0">
              <a:buNone/>
            </a:pPr>
            <a:r>
              <a:rPr lang="en-US" sz="1300" dirty="0">
                <a:solidFill>
                  <a:schemeClr val="tx1"/>
                </a:solidFill>
              </a:rPr>
              <a:t>HTML Living Standard (WHATWG)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7772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7772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&lt;p&gt;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Anatomy of an HTML Element</a:t>
            </a:r>
            <a:endParaRPr lang="en-US" sz="3200" dirty="0"/>
          </a:p>
        </p:txBody>
      </p:sp>
      <p:sp>
        <p:nvSpPr>
          <p:cNvPr id="6" name="Hero code panel"/>
          <p:cNvSpPr/>
          <p:nvPr/>
        </p:nvSpPr>
        <p:spPr>
          <a:xfrm>
            <a:off x="548640" y="1691640"/>
            <a:ext cx="11091672" cy="1097280"/>
          </a:xfrm>
          <a:prstGeom prst="roundRect">
            <a:avLst>
              <a:gd name="adj" fmla="val 10000"/>
            </a:avLst>
          </a:prstGeom>
          <a:solidFill>
            <a:schemeClr val="tx1"/>
          </a:solidFill>
          <a:ln w="6350">
            <a:solidFill>
              <a:schemeClr val="tx1"/>
            </a:solidFill>
            <a:prstDash val="solid"/>
          </a:ln>
        </p:spPr>
      </p:sp>
      <p:sp>
        <p:nvSpPr>
          <p:cNvPr id="7" name="Text 4"/>
          <p:cNvSpPr txBox="1"/>
          <p:nvPr/>
        </p:nvSpPr>
        <p:spPr>
          <a:xfrm>
            <a:off x="731520" y="1691640"/>
            <a:ext cx="10725912" cy="1097280"/>
          </a:xfrm>
          <a:prstGeom prst="rect">
            <a:avLst/>
          </a:prstGeom>
          <a:noFill/>
        </p:spPr>
        <p:txBody>
          <a:bodyPr wrap="square" lIns="0" tIns="0" rIns="0" bIns="0" rtlCol="0" anchor="ctr"/>
          <a:lstStyle/>
          <a:p>
            <a:pPr marL="0" indent="0" algn="ctr">
              <a:buNone/>
            </a:pPr>
            <a:r>
              <a:rPr lang="en-US" sz="36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36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36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class</a:t>
            </a:r>
            <a:r>
              <a:rPr lang="en-US" sz="36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36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"intro"</a:t>
            </a:r>
            <a:r>
              <a:rPr lang="en-US" sz="36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36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Hello, Web!</a:t>
            </a:r>
            <a:r>
              <a:rPr lang="en-US" sz="36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36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3600" dirty="0"/>
          </a:p>
        </p:txBody>
      </p:sp>
      <p:sp>
        <p:nvSpPr>
          <p:cNvPr id="8" name="Part card"/>
          <p:cNvSpPr/>
          <p:nvPr/>
        </p:nvSpPr>
        <p:spPr>
          <a:xfrm>
            <a:off x="548640" y="3017520"/>
            <a:ext cx="2679192" cy="1828800"/>
          </a:xfrm>
          <a:prstGeom prst="roundRect">
            <a:avLst>
              <a:gd name="adj" fmla="val 5000"/>
            </a:avLst>
          </a:prstGeom>
          <a:solidFill>
            <a:schemeClr val="bg2"/>
          </a:solidFill>
          <a:ln w="6350">
            <a:solidFill>
              <a:schemeClr val="bg2"/>
            </a:solidFill>
            <a:prstDash val="solid"/>
          </a:ln>
        </p:spPr>
      </p:sp>
      <p:sp>
        <p:nvSpPr>
          <p:cNvPr id="9" name="Text 6"/>
          <p:cNvSpPr txBox="1"/>
          <p:nvPr/>
        </p:nvSpPr>
        <p:spPr>
          <a:xfrm>
            <a:off x="731520" y="3127248"/>
            <a:ext cx="2331720" cy="320040"/>
          </a:xfrm>
          <a:prstGeom prst="rect">
            <a:avLst/>
          </a:prstGeom>
          <a:noFill/>
        </p:spPr>
        <p:txBody>
          <a:bodyPr wrap="square" lIns="0" tIns="0" rIns="0" bIns="0" rtlCol="0" anchor="ctr"/>
          <a:lstStyle/>
          <a:p>
            <a:pPr marL="0" indent="0">
              <a:buNone/>
            </a:pPr>
            <a:r>
              <a:rPr lang="en-US" sz="1600" b="1" dirty="0">
                <a:solidFill>
                  <a:schemeClr val="tx1"/>
                </a:solidFill>
              </a:rPr>
              <a:t>Opening tag</a:t>
            </a:r>
            <a:endParaRPr lang="en-US" sz="1600" dirty="0"/>
          </a:p>
        </p:txBody>
      </p:sp>
      <p:sp>
        <p:nvSpPr>
          <p:cNvPr id="10" name="Text 7"/>
          <p:cNvSpPr txBox="1"/>
          <p:nvPr/>
        </p:nvSpPr>
        <p:spPr>
          <a:xfrm>
            <a:off x="731520" y="3493008"/>
            <a:ext cx="237744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&lt;p class="intro"&gt;</a:t>
            </a:r>
            <a:endParaRPr lang="en-US" sz="1400" dirty="0"/>
          </a:p>
        </p:txBody>
      </p:sp>
      <p:sp>
        <p:nvSpPr>
          <p:cNvPr id="11" name="Text 8"/>
          <p:cNvSpPr txBox="1"/>
          <p:nvPr/>
        </p:nvSpPr>
        <p:spPr>
          <a:xfrm>
            <a:off x="731520" y="3931920"/>
            <a:ext cx="2377440" cy="822960"/>
          </a:xfrm>
          <a:prstGeom prst="rect">
            <a:avLst/>
          </a:prstGeom>
          <a:noFill/>
        </p:spPr>
        <p:txBody>
          <a:bodyPr wrap="square" lIns="0" tIns="0" rIns="0" bIns="0" rtlCol="0" anchor="t"/>
          <a:lstStyle/>
          <a:p>
            <a:pPr marL="0" indent="0">
              <a:buNone/>
            </a:pPr>
            <a:r>
              <a:rPr lang="en-US" sz="1400" dirty="0">
                <a:solidFill>
                  <a:schemeClr val="tx2"/>
                </a:solidFill>
              </a:rPr>
              <a:t>Starts the element and holds its attributes</a:t>
            </a:r>
            <a:endParaRPr lang="en-US" sz="1400" dirty="0"/>
          </a:p>
        </p:txBody>
      </p:sp>
      <p:sp>
        <p:nvSpPr>
          <p:cNvPr id="12" name="Part card"/>
          <p:cNvSpPr/>
          <p:nvPr/>
        </p:nvSpPr>
        <p:spPr>
          <a:xfrm>
            <a:off x="3383280" y="3017520"/>
            <a:ext cx="2679192" cy="1828800"/>
          </a:xfrm>
          <a:prstGeom prst="roundRect">
            <a:avLst>
              <a:gd name="adj" fmla="val 5000"/>
            </a:avLst>
          </a:prstGeom>
          <a:solidFill>
            <a:schemeClr val="bg2"/>
          </a:solidFill>
          <a:ln w="6350">
            <a:solidFill>
              <a:schemeClr val="bg2"/>
            </a:solidFill>
            <a:prstDash val="solid"/>
          </a:ln>
        </p:spPr>
      </p:sp>
      <p:sp>
        <p:nvSpPr>
          <p:cNvPr id="13" name="Text 10"/>
          <p:cNvSpPr txBox="1"/>
          <p:nvPr/>
        </p:nvSpPr>
        <p:spPr>
          <a:xfrm>
            <a:off x="3566160" y="3127248"/>
            <a:ext cx="2331720" cy="320040"/>
          </a:xfrm>
          <a:prstGeom prst="rect">
            <a:avLst/>
          </a:prstGeom>
          <a:noFill/>
        </p:spPr>
        <p:txBody>
          <a:bodyPr wrap="square" lIns="0" tIns="0" rIns="0" bIns="0" rtlCol="0" anchor="ctr"/>
          <a:lstStyle/>
          <a:p>
            <a:pPr marL="0" indent="0">
              <a:buNone/>
            </a:pPr>
            <a:r>
              <a:rPr lang="en-US" sz="1600" b="1" dirty="0">
                <a:solidFill>
                  <a:schemeClr val="tx1"/>
                </a:solidFill>
              </a:rPr>
              <a:t>Content</a:t>
            </a:r>
            <a:endParaRPr lang="en-US" sz="1600" dirty="0"/>
          </a:p>
        </p:txBody>
      </p:sp>
      <p:sp>
        <p:nvSpPr>
          <p:cNvPr id="14" name="Text 11"/>
          <p:cNvSpPr txBox="1"/>
          <p:nvPr/>
        </p:nvSpPr>
        <p:spPr>
          <a:xfrm>
            <a:off x="3566160" y="3493008"/>
            <a:ext cx="237744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Hello, Web!</a:t>
            </a:r>
            <a:endParaRPr lang="en-US" sz="1400" dirty="0"/>
          </a:p>
        </p:txBody>
      </p:sp>
      <p:sp>
        <p:nvSpPr>
          <p:cNvPr id="15" name="Text 12"/>
          <p:cNvSpPr txBox="1"/>
          <p:nvPr/>
        </p:nvSpPr>
        <p:spPr>
          <a:xfrm>
            <a:off x="3566160" y="3931920"/>
            <a:ext cx="2377440" cy="822960"/>
          </a:xfrm>
          <a:prstGeom prst="rect">
            <a:avLst/>
          </a:prstGeom>
          <a:noFill/>
        </p:spPr>
        <p:txBody>
          <a:bodyPr wrap="square" lIns="0" tIns="0" rIns="0" bIns="0" rtlCol="0" anchor="t"/>
          <a:lstStyle/>
          <a:p>
            <a:pPr marL="0" indent="0">
              <a:buNone/>
            </a:pPr>
            <a:r>
              <a:rPr lang="en-US" sz="1400" dirty="0">
                <a:solidFill>
                  <a:schemeClr val="tx2"/>
                </a:solidFill>
              </a:rPr>
              <a:t>The text or child elements inside</a:t>
            </a:r>
            <a:endParaRPr lang="en-US" sz="1400" dirty="0"/>
          </a:p>
        </p:txBody>
      </p:sp>
      <p:sp>
        <p:nvSpPr>
          <p:cNvPr id="16" name="Part card"/>
          <p:cNvSpPr/>
          <p:nvPr/>
        </p:nvSpPr>
        <p:spPr>
          <a:xfrm>
            <a:off x="6217920" y="3017520"/>
            <a:ext cx="2679192" cy="1828800"/>
          </a:xfrm>
          <a:prstGeom prst="roundRect">
            <a:avLst>
              <a:gd name="adj" fmla="val 5000"/>
            </a:avLst>
          </a:prstGeom>
          <a:solidFill>
            <a:schemeClr val="bg2"/>
          </a:solidFill>
          <a:ln w="6350">
            <a:solidFill>
              <a:schemeClr val="bg2"/>
            </a:solidFill>
            <a:prstDash val="solid"/>
          </a:ln>
        </p:spPr>
      </p:sp>
      <p:sp>
        <p:nvSpPr>
          <p:cNvPr id="17" name="Text 14"/>
          <p:cNvSpPr txBox="1"/>
          <p:nvPr/>
        </p:nvSpPr>
        <p:spPr>
          <a:xfrm>
            <a:off x="6400800" y="3127248"/>
            <a:ext cx="2331720" cy="320040"/>
          </a:xfrm>
          <a:prstGeom prst="rect">
            <a:avLst/>
          </a:prstGeom>
          <a:noFill/>
        </p:spPr>
        <p:txBody>
          <a:bodyPr wrap="square" lIns="0" tIns="0" rIns="0" bIns="0" rtlCol="0" anchor="ctr"/>
          <a:lstStyle/>
          <a:p>
            <a:pPr marL="0" indent="0">
              <a:buNone/>
            </a:pPr>
            <a:r>
              <a:rPr lang="en-US" sz="1600" b="1" dirty="0">
                <a:solidFill>
                  <a:schemeClr val="tx1"/>
                </a:solidFill>
              </a:rPr>
              <a:t>Closing tag</a:t>
            </a:r>
            <a:endParaRPr lang="en-US" sz="1600" dirty="0"/>
          </a:p>
        </p:txBody>
      </p:sp>
      <p:sp>
        <p:nvSpPr>
          <p:cNvPr id="18" name="Text 15"/>
          <p:cNvSpPr txBox="1"/>
          <p:nvPr/>
        </p:nvSpPr>
        <p:spPr>
          <a:xfrm>
            <a:off x="6400800" y="3493008"/>
            <a:ext cx="237744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&lt;/p&gt;</a:t>
            </a:r>
            <a:endParaRPr lang="en-US" sz="1400" dirty="0"/>
          </a:p>
        </p:txBody>
      </p:sp>
      <p:sp>
        <p:nvSpPr>
          <p:cNvPr id="19" name="Text 16"/>
          <p:cNvSpPr txBox="1"/>
          <p:nvPr/>
        </p:nvSpPr>
        <p:spPr>
          <a:xfrm>
            <a:off x="6400800" y="3931920"/>
            <a:ext cx="2377440" cy="822960"/>
          </a:xfrm>
          <a:prstGeom prst="rect">
            <a:avLst/>
          </a:prstGeom>
          <a:noFill/>
        </p:spPr>
        <p:txBody>
          <a:bodyPr wrap="square" lIns="0" tIns="0" rIns="0" bIns="0" rtlCol="0" anchor="t"/>
          <a:lstStyle/>
          <a:p>
            <a:pPr marL="0" indent="0">
              <a:buNone/>
            </a:pPr>
            <a:r>
              <a:rPr lang="en-US" sz="1400" dirty="0">
                <a:solidFill>
                  <a:schemeClr val="tx2"/>
                </a:solidFill>
              </a:rPr>
              <a:t>Same name with a forward slash</a:t>
            </a:r>
            <a:endParaRPr lang="en-US" sz="1400" dirty="0"/>
          </a:p>
        </p:txBody>
      </p:sp>
      <p:sp>
        <p:nvSpPr>
          <p:cNvPr id="20" name="Part card"/>
          <p:cNvSpPr/>
          <p:nvPr/>
        </p:nvSpPr>
        <p:spPr>
          <a:xfrm>
            <a:off x="9052560" y="3017520"/>
            <a:ext cx="2679192" cy="1828800"/>
          </a:xfrm>
          <a:prstGeom prst="roundRect">
            <a:avLst>
              <a:gd name="adj" fmla="val 5000"/>
            </a:avLst>
          </a:prstGeom>
          <a:solidFill>
            <a:schemeClr val="bg2"/>
          </a:solidFill>
          <a:ln w="6350">
            <a:solidFill>
              <a:schemeClr val="bg2"/>
            </a:solidFill>
            <a:prstDash val="solid"/>
          </a:ln>
        </p:spPr>
      </p:sp>
      <p:sp>
        <p:nvSpPr>
          <p:cNvPr id="21" name="Text 18"/>
          <p:cNvSpPr txBox="1"/>
          <p:nvPr/>
        </p:nvSpPr>
        <p:spPr>
          <a:xfrm>
            <a:off x="9235440" y="3127248"/>
            <a:ext cx="2331720" cy="320040"/>
          </a:xfrm>
          <a:prstGeom prst="rect">
            <a:avLst/>
          </a:prstGeom>
          <a:noFill/>
        </p:spPr>
        <p:txBody>
          <a:bodyPr wrap="square" lIns="0" tIns="0" rIns="0" bIns="0" rtlCol="0" anchor="ctr"/>
          <a:lstStyle/>
          <a:p>
            <a:pPr marL="0" indent="0">
              <a:buNone/>
            </a:pPr>
            <a:r>
              <a:rPr lang="en-US" sz="1600" b="1" dirty="0">
                <a:solidFill>
                  <a:schemeClr val="tx1"/>
                </a:solidFill>
              </a:rPr>
              <a:t>Attribute</a:t>
            </a:r>
            <a:endParaRPr lang="en-US" sz="1600" dirty="0"/>
          </a:p>
        </p:txBody>
      </p:sp>
      <p:sp>
        <p:nvSpPr>
          <p:cNvPr id="22" name="Text 19"/>
          <p:cNvSpPr txBox="1"/>
          <p:nvPr/>
        </p:nvSpPr>
        <p:spPr>
          <a:xfrm>
            <a:off x="9235440" y="3493008"/>
            <a:ext cx="237744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class="intro"</a:t>
            </a:r>
            <a:endParaRPr lang="en-US" sz="1400" dirty="0"/>
          </a:p>
        </p:txBody>
      </p:sp>
      <p:sp>
        <p:nvSpPr>
          <p:cNvPr id="23" name="Text 20"/>
          <p:cNvSpPr txBox="1"/>
          <p:nvPr/>
        </p:nvSpPr>
        <p:spPr>
          <a:xfrm>
            <a:off x="9235440" y="3931920"/>
            <a:ext cx="2377440" cy="822960"/>
          </a:xfrm>
          <a:prstGeom prst="rect">
            <a:avLst/>
          </a:prstGeom>
          <a:noFill/>
        </p:spPr>
        <p:txBody>
          <a:bodyPr wrap="square" lIns="0" tIns="0" rIns="0" bIns="0" rtlCol="0" anchor="t"/>
          <a:lstStyle/>
          <a:p>
            <a:pPr marL="0" indent="0">
              <a:buNone/>
            </a:pPr>
            <a:r>
              <a:rPr lang="en-US" sz="1400" dirty="0">
                <a:solidFill>
                  <a:schemeClr val="tx2"/>
                </a:solidFill>
              </a:rPr>
              <a:t>Name and value giving extra information</a:t>
            </a:r>
            <a:endParaRPr lang="en-US" sz="1400" dirty="0"/>
          </a:p>
        </p:txBody>
      </p:sp>
      <p:sp>
        <p:nvSpPr>
          <p:cNvPr id="24" name="Note callout"/>
          <p:cNvSpPr/>
          <p:nvPr/>
        </p:nvSpPr>
        <p:spPr>
          <a:xfrm>
            <a:off x="548640" y="5074920"/>
            <a:ext cx="5440680" cy="1143000"/>
          </a:xfrm>
          <a:prstGeom prst="roundRect">
            <a:avLst>
              <a:gd name="adj" fmla="val 8000"/>
            </a:avLst>
          </a:prstGeom>
          <a:solidFill>
            <a:schemeClr val="accent3">
              <a:alpha val="22000"/>
            </a:schemeClr>
          </a:solidFill>
          <a:ln w="12700">
            <a:solidFill>
              <a:schemeClr val="accent3"/>
            </a:solidFill>
            <a:prstDash val="solid"/>
          </a:ln>
        </p:spPr>
      </p:sp>
      <p:sp>
        <p:nvSpPr>
          <p:cNvPr id="25" name="Text 22"/>
          <p:cNvSpPr txBox="1"/>
          <p:nvPr/>
        </p:nvSpPr>
        <p:spPr>
          <a:xfrm>
            <a:off x="731520" y="5166360"/>
            <a:ext cx="5074920" cy="960120"/>
          </a:xfrm>
          <a:prstGeom prst="rect">
            <a:avLst/>
          </a:prstGeom>
          <a:noFill/>
        </p:spPr>
        <p:txBody>
          <a:bodyPr wrap="square" lIns="0" tIns="0" rIns="0" bIns="0" rtlCol="0" anchor="ctr"/>
          <a:lstStyle/>
          <a:p>
            <a:pPr marL="0" indent="0">
              <a:buNone/>
            </a:pPr>
            <a:r>
              <a:rPr lang="en-US" sz="1300" b="1" dirty="0">
                <a:solidFill>
                  <a:schemeClr val="tx1"/>
                </a:solidFill>
              </a:rPr>
              <a:t>Void elements  </a:t>
            </a:r>
            <a:r>
              <a:rPr lang="en-US" sz="1300" dirty="0">
                <a:solidFill>
                  <a:schemeClr val="tx1"/>
                </a:solidFill>
              </a:rPr>
              <a:t>&lt;br&gt;, &lt;hr&gt;, &lt;img&gt;, &lt;input&gt; and &lt;meta&gt; have no content and no closing tag.</a:t>
            </a:r>
            <a:endParaRPr lang="en-US" sz="1300" dirty="0"/>
          </a:p>
        </p:txBody>
      </p:sp>
      <p:sp>
        <p:nvSpPr>
          <p:cNvPr id="26" name="Note callout"/>
          <p:cNvSpPr/>
          <p:nvPr/>
        </p:nvSpPr>
        <p:spPr>
          <a:xfrm>
            <a:off x="6199632" y="5074920"/>
            <a:ext cx="5440680" cy="1143000"/>
          </a:xfrm>
          <a:prstGeom prst="roundRect">
            <a:avLst>
              <a:gd name="adj" fmla="val 8000"/>
            </a:avLst>
          </a:prstGeom>
          <a:solidFill>
            <a:schemeClr val="accent3">
              <a:alpha val="22000"/>
            </a:schemeClr>
          </a:solidFill>
          <a:ln w="12700">
            <a:solidFill>
              <a:schemeClr val="accent3"/>
            </a:solidFill>
            <a:prstDash val="solid"/>
          </a:ln>
        </p:spPr>
      </p:sp>
      <p:sp>
        <p:nvSpPr>
          <p:cNvPr id="27" name="Text 24"/>
          <p:cNvSpPr txBox="1"/>
          <p:nvPr/>
        </p:nvSpPr>
        <p:spPr>
          <a:xfrm>
            <a:off x="6382512" y="5166360"/>
            <a:ext cx="5074920" cy="960120"/>
          </a:xfrm>
          <a:prstGeom prst="rect">
            <a:avLst/>
          </a:prstGeom>
          <a:noFill/>
        </p:spPr>
        <p:txBody>
          <a:bodyPr wrap="square" lIns="0" tIns="0" rIns="0" bIns="0" rtlCol="0" anchor="ctr"/>
          <a:lstStyle/>
          <a:p>
            <a:pPr marL="0" indent="0">
              <a:buNone/>
            </a:pPr>
            <a:r>
              <a:rPr lang="en-US" sz="1300" b="1" dirty="0">
                <a:solidFill>
                  <a:schemeClr val="tx1"/>
                </a:solidFill>
              </a:rPr>
              <a:t>Nesting  </a:t>
            </a:r>
            <a:r>
              <a:rPr lang="en-US" sz="1300" dirty="0">
                <a:solidFill>
                  <a:schemeClr val="tx1"/>
                </a:solidFill>
              </a:rPr>
              <a:t>Close inner tags first: &lt;b&gt;&lt;i&gt;text&lt;/i&gt;&lt;/b&gt;, never &lt;b&gt;&lt;i&gt;text&lt;/b&gt;&lt;/i&gt;.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09728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09728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&lt;html&gt;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Structure of an HTML Document</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index.html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&lt;!DOCTYPE</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html</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&lt;html</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lang</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"en"</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charset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"UTF-8"</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My First Page</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Welcome to Wollo University</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This is my first HTML page.</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&lt;/html</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p:txBody>
      </p:sp>
      <p:sp>
        <p:nvSpPr>
          <p:cNvPr id="12" name="Key points card"/>
          <p:cNvSpPr/>
          <p:nvPr/>
        </p:nvSpPr>
        <p:spPr>
          <a:xfrm>
            <a:off x="7406640" y="1691640"/>
            <a:ext cx="4233672" cy="3154680"/>
          </a:xfrm>
          <a:prstGeom prst="roundRect">
            <a:avLst>
              <a:gd name="adj" fmla="val 2899"/>
            </a:avLst>
          </a:prstGeom>
          <a:solidFill>
            <a:schemeClr val="bg2"/>
          </a:solidFill>
          <a:ln w="6350">
            <a:solidFill>
              <a:schemeClr val="bg2"/>
            </a:solidFill>
            <a:prstDash val="solid"/>
          </a:ln>
        </p:spPr>
      </p:sp>
      <p:sp>
        <p:nvSpPr>
          <p:cNvPr id="13" name="Text 10"/>
          <p:cNvSpPr txBox="1"/>
          <p:nvPr/>
        </p:nvSpPr>
        <p:spPr>
          <a:xfrm>
            <a:off x="7635240" y="1828800"/>
            <a:ext cx="3794760" cy="320040"/>
          </a:xfrm>
          <a:prstGeom prst="rect">
            <a:avLst/>
          </a:prstGeom>
          <a:noFill/>
        </p:spPr>
        <p:txBody>
          <a:bodyPr wrap="square" lIns="0" tIns="0" rIns="0" bIns="0" rtlCol="0" anchor="ctr"/>
          <a:lstStyle/>
          <a:p>
            <a:pPr marL="0" indent="0">
              <a:buNone/>
            </a:pPr>
            <a:r>
              <a:rPr lang="en-US" sz="1700" b="1" dirty="0">
                <a:solidFill>
                  <a:schemeClr val="tx1"/>
                </a:solidFill>
              </a:rPr>
              <a:t>Key points</a:t>
            </a:r>
            <a:endParaRPr lang="en-US" sz="1700" dirty="0"/>
          </a:p>
        </p:txBody>
      </p:sp>
      <p:sp>
        <p:nvSpPr>
          <p:cNvPr id="14" name="Text 11"/>
          <p:cNvSpPr txBox="1"/>
          <p:nvPr/>
        </p:nvSpPr>
        <p:spPr>
          <a:xfrm>
            <a:off x="7635240" y="2240280"/>
            <a:ext cx="3794760" cy="251460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&lt;!DOCTYPE html&gt; </a:t>
            </a:r>
            <a:r>
              <a:rPr lang="en-US" sz="1400" dirty="0">
                <a:solidFill>
                  <a:schemeClr val="tx1"/>
                </a:solidFill>
              </a:rPr>
              <a:t>tells the browser this is HTML5</a:t>
            </a:r>
            <a:endParaRPr lang="en-US" sz="1400" dirty="0"/>
          </a:p>
          <a:p>
            <a:pPr marL="0" indent="0">
              <a:spcAft>
                <a:spcPts val="700"/>
              </a:spcAft>
              <a:buNone/>
            </a:pPr>
            <a:r>
              <a:rPr lang="en-US" sz="1400" b="1" dirty="0">
                <a:solidFill>
                  <a:schemeClr val="tx1"/>
                </a:solidFill>
              </a:rPr>
              <a:t>&lt;html lang&gt; </a:t>
            </a:r>
            <a:r>
              <a:rPr lang="en-US" sz="1400" dirty="0">
                <a:solidFill>
                  <a:schemeClr val="tx1"/>
                </a:solidFill>
              </a:rPr>
              <a:t>root element; lang helps screen readers and SEO</a:t>
            </a:r>
            <a:endParaRPr lang="en-US" sz="1400" dirty="0"/>
          </a:p>
          <a:p>
            <a:pPr marL="0" indent="0">
              <a:spcAft>
                <a:spcPts val="700"/>
              </a:spcAft>
              <a:buNone/>
            </a:pPr>
            <a:r>
              <a:rPr lang="en-US" sz="1400" b="1" dirty="0">
                <a:solidFill>
                  <a:schemeClr val="tx1"/>
                </a:solidFill>
              </a:rPr>
              <a:t>&lt;head&gt; </a:t>
            </a:r>
            <a:r>
              <a:rPr lang="en-US" sz="1400" dirty="0">
                <a:solidFill>
                  <a:schemeClr val="tx1"/>
                </a:solidFill>
              </a:rPr>
              <a:t>metadata, not displayed on the page</a:t>
            </a:r>
            <a:endParaRPr lang="en-US" sz="1400" dirty="0"/>
          </a:p>
          <a:p>
            <a:pPr marL="0" indent="0">
              <a:spcAft>
                <a:spcPts val="700"/>
              </a:spcAft>
              <a:buNone/>
            </a:pPr>
            <a:r>
              <a:rPr lang="en-US" sz="1400" b="1" dirty="0">
                <a:solidFill>
                  <a:schemeClr val="tx1"/>
                </a:solidFill>
              </a:rPr>
              <a:t>&lt;body&gt; </a:t>
            </a:r>
            <a:r>
              <a:rPr lang="en-US" sz="1400" dirty="0">
                <a:solidFill>
                  <a:schemeClr val="tx1"/>
                </a:solidFill>
              </a:rPr>
              <a:t>everything the visitor sees</a:t>
            </a:r>
            <a:endParaRPr lang="en-US" sz="1400" dirty="0"/>
          </a:p>
        </p:txBody>
      </p:sp>
      <p:sp>
        <p:nvSpPr>
          <p:cNvPr id="15" name="Note callout"/>
          <p:cNvSpPr/>
          <p:nvPr/>
        </p:nvSpPr>
        <p:spPr>
          <a:xfrm>
            <a:off x="7406640" y="5029200"/>
            <a:ext cx="4233672" cy="1188720"/>
          </a:xfrm>
          <a:prstGeom prst="roundRect">
            <a:avLst>
              <a:gd name="adj" fmla="val 7692"/>
            </a:avLst>
          </a:prstGeom>
          <a:solidFill>
            <a:schemeClr val="accent3">
              <a:alpha val="22000"/>
            </a:schemeClr>
          </a:solidFill>
          <a:ln w="12700">
            <a:solidFill>
              <a:schemeClr val="accent3"/>
            </a:solidFill>
            <a:prstDash val="solid"/>
          </a:ln>
        </p:spPr>
      </p:sp>
      <p:sp>
        <p:nvSpPr>
          <p:cNvPr id="16" name="Text 13"/>
          <p:cNvSpPr txBox="1"/>
          <p:nvPr/>
        </p:nvSpPr>
        <p:spPr>
          <a:xfrm>
            <a:off x="7589520" y="5120640"/>
            <a:ext cx="3867912" cy="1005840"/>
          </a:xfrm>
          <a:prstGeom prst="rect">
            <a:avLst/>
          </a:prstGeom>
          <a:noFill/>
        </p:spPr>
        <p:txBody>
          <a:bodyPr wrap="square" lIns="0" tIns="0" rIns="0" bIns="0" rtlCol="0" anchor="ctr"/>
          <a:lstStyle/>
          <a:p>
            <a:pPr marL="0" indent="0">
              <a:buNone/>
            </a:pPr>
            <a:r>
              <a:rPr lang="en-US" sz="1300" b="1" dirty="0">
                <a:solidFill>
                  <a:schemeClr val="tx1"/>
                </a:solidFill>
              </a:rPr>
              <a:t>Tip  </a:t>
            </a:r>
            <a:r>
              <a:rPr lang="en-US" sz="1300" dirty="0">
                <a:solidFill>
                  <a:schemeClr val="tx1"/>
                </a:solidFill>
              </a:rPr>
              <a:t>Name your home page index.html. Servers load it by default.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09728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09728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&lt;head&gt;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The Head Section and Metadata</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head.html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charset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"UTF-8"</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"viewport"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content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"width=device-width, initial-scale=1"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"description"</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content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"Course project page"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"author"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content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"Student Name"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Home | Wollo Project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&lt;link</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rel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"stylesheet"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"style.css"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&lt;link</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rel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"icon"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"favicon.ico"</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&lt;script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src</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"app.js"</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defer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&lt;/script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Key points card"/>
          <p:cNvSpPr/>
          <p:nvPr/>
        </p:nvSpPr>
        <p:spPr>
          <a:xfrm>
            <a:off x="7406640" y="1691640"/>
            <a:ext cx="4233672" cy="3154680"/>
          </a:xfrm>
          <a:prstGeom prst="roundRect">
            <a:avLst>
              <a:gd name="adj" fmla="val 2899"/>
            </a:avLst>
          </a:prstGeom>
          <a:solidFill>
            <a:schemeClr val="bg2"/>
          </a:solidFill>
          <a:ln w="6350">
            <a:solidFill>
              <a:schemeClr val="bg2"/>
            </a:solidFill>
            <a:prstDash val="solid"/>
          </a:ln>
        </p:spPr>
      </p:sp>
      <p:sp>
        <p:nvSpPr>
          <p:cNvPr id="13" name="Text 10"/>
          <p:cNvSpPr txBox="1"/>
          <p:nvPr/>
        </p:nvSpPr>
        <p:spPr>
          <a:xfrm>
            <a:off x="7635240" y="1828800"/>
            <a:ext cx="3794760" cy="320040"/>
          </a:xfrm>
          <a:prstGeom prst="rect">
            <a:avLst/>
          </a:prstGeom>
          <a:noFill/>
        </p:spPr>
        <p:txBody>
          <a:bodyPr wrap="square" lIns="0" tIns="0" rIns="0" bIns="0" rtlCol="0" anchor="ctr"/>
          <a:lstStyle/>
          <a:p>
            <a:pPr marL="0" indent="0">
              <a:buNone/>
            </a:pPr>
            <a:r>
              <a:rPr lang="en-US" sz="1700" b="1" dirty="0">
                <a:solidFill>
                  <a:schemeClr val="tx1"/>
                </a:solidFill>
              </a:rPr>
              <a:t>Key points</a:t>
            </a:r>
            <a:endParaRPr lang="en-US" sz="1700" dirty="0"/>
          </a:p>
        </p:txBody>
      </p:sp>
      <p:sp>
        <p:nvSpPr>
          <p:cNvPr id="14" name="Text 11"/>
          <p:cNvSpPr txBox="1"/>
          <p:nvPr/>
        </p:nvSpPr>
        <p:spPr>
          <a:xfrm>
            <a:off x="7635240" y="2240280"/>
            <a:ext cx="3794760" cy="251460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charset </a:t>
            </a:r>
            <a:r>
              <a:rPr lang="en-US" sz="1400" dirty="0">
                <a:solidFill>
                  <a:schemeClr val="tx1"/>
                </a:solidFill>
              </a:rPr>
              <a:t>UTF-8 shows all languages, including Amharic</a:t>
            </a:r>
            <a:endParaRPr lang="en-US" sz="1400" dirty="0"/>
          </a:p>
          <a:p>
            <a:pPr marL="0" indent="0">
              <a:spcAft>
                <a:spcPts val="700"/>
              </a:spcAft>
              <a:buNone/>
            </a:pPr>
            <a:r>
              <a:rPr lang="en-US" sz="1400" b="1" dirty="0">
                <a:solidFill>
                  <a:schemeClr val="tx1"/>
                </a:solidFill>
              </a:rPr>
              <a:t>viewport </a:t>
            </a:r>
            <a:r>
              <a:rPr lang="en-US" sz="1400" dirty="0">
                <a:solidFill>
                  <a:schemeClr val="tx1"/>
                </a:solidFill>
              </a:rPr>
              <a:t>makes pages fit phones and tablets</a:t>
            </a:r>
            <a:endParaRPr lang="en-US" sz="1400" dirty="0"/>
          </a:p>
          <a:p>
            <a:pPr marL="0" indent="0">
              <a:spcAft>
                <a:spcPts val="700"/>
              </a:spcAft>
              <a:buNone/>
            </a:pPr>
            <a:r>
              <a:rPr lang="en-US" sz="1400" b="1" dirty="0">
                <a:solidFill>
                  <a:schemeClr val="tx1"/>
                </a:solidFill>
              </a:rPr>
              <a:t>title </a:t>
            </a:r>
            <a:r>
              <a:rPr lang="en-US" sz="1400" dirty="0">
                <a:solidFill>
                  <a:schemeClr val="tx1"/>
                </a:solidFill>
              </a:rPr>
              <a:t>appears in the browser tab and search results</a:t>
            </a:r>
            <a:endParaRPr lang="en-US" sz="1400" dirty="0"/>
          </a:p>
          <a:p>
            <a:pPr marL="0" indent="0">
              <a:spcAft>
                <a:spcPts val="700"/>
              </a:spcAft>
              <a:buNone/>
            </a:pPr>
            <a:r>
              <a:rPr lang="en-US" sz="1400" b="1" dirty="0">
                <a:solidFill>
                  <a:schemeClr val="tx1"/>
                </a:solidFill>
              </a:rPr>
              <a:t>link / script </a:t>
            </a:r>
            <a:r>
              <a:rPr lang="en-US" sz="1400" dirty="0">
                <a:solidFill>
                  <a:schemeClr val="tx1"/>
                </a:solidFill>
              </a:rPr>
              <a:t>attach CSS and JavaScript files</a:t>
            </a:r>
            <a:endParaRPr lang="en-US" sz="1400" dirty="0"/>
          </a:p>
        </p:txBody>
      </p:sp>
      <p:sp>
        <p:nvSpPr>
          <p:cNvPr id="15" name="Note callout"/>
          <p:cNvSpPr/>
          <p:nvPr/>
        </p:nvSpPr>
        <p:spPr>
          <a:xfrm>
            <a:off x="7406640" y="5029200"/>
            <a:ext cx="4233672" cy="1188720"/>
          </a:xfrm>
          <a:prstGeom prst="roundRect">
            <a:avLst>
              <a:gd name="adj" fmla="val 7692"/>
            </a:avLst>
          </a:prstGeom>
          <a:solidFill>
            <a:schemeClr val="accent3">
              <a:alpha val="22000"/>
            </a:schemeClr>
          </a:solidFill>
          <a:ln w="12700">
            <a:solidFill>
              <a:schemeClr val="accent3"/>
            </a:solidFill>
            <a:prstDash val="solid"/>
          </a:ln>
        </p:spPr>
      </p:sp>
      <p:sp>
        <p:nvSpPr>
          <p:cNvPr id="16" name="Text 13"/>
          <p:cNvSpPr txBox="1"/>
          <p:nvPr/>
        </p:nvSpPr>
        <p:spPr>
          <a:xfrm>
            <a:off x="7589520" y="5120640"/>
            <a:ext cx="3867912" cy="1005840"/>
          </a:xfrm>
          <a:prstGeom prst="rect">
            <a:avLst/>
          </a:prstGeom>
          <a:noFill/>
        </p:spPr>
        <p:txBody>
          <a:bodyPr wrap="square" lIns="0" tIns="0" rIns="0" bIns="0" rtlCol="0" anchor="ctr"/>
          <a:lstStyle/>
          <a:p>
            <a:pPr marL="0" indent="0">
              <a:buNone/>
            </a:pPr>
            <a:r>
              <a:rPr lang="en-US" sz="1300" b="1" dirty="0">
                <a:solidFill>
                  <a:schemeClr val="tx1"/>
                </a:solidFill>
              </a:rPr>
              <a:t>Why UTF-8?  </a:t>
            </a:r>
            <a:r>
              <a:rPr lang="en-US" sz="1300" dirty="0">
                <a:solidFill>
                  <a:schemeClr val="tx1"/>
                </a:solidFill>
              </a:rPr>
              <a:t>Without it, Amharic (ግዕዝ) text may appear as broken symbols.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88392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88392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&lt;h1&gt;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Headings and Paragraphs</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text.html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Wollo University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College of Informatics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&lt;h3</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Department of Information Systems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&lt;/h3</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Welcome to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InSy3061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Learn HTML, CSS and JavaScript.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&lt;blockquote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Practice makes perfect.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&lt;/blockquote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&lt;pre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Preformatted   text keeps</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its spaces.</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&lt;/pre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Rendered heading ladder"/>
          <p:cNvSpPr/>
          <p:nvPr/>
        </p:nvSpPr>
        <p:spPr>
          <a:xfrm>
            <a:off x="7406640" y="1691640"/>
            <a:ext cx="4233672" cy="2286000"/>
          </a:xfrm>
          <a:prstGeom prst="roundRect">
            <a:avLst>
              <a:gd name="adj" fmla="val 4000"/>
            </a:avLst>
          </a:prstGeom>
          <a:solidFill>
            <a:schemeClr val="bg2"/>
          </a:solidFill>
          <a:ln w="6350">
            <a:solidFill>
              <a:schemeClr val="bg2"/>
            </a:solidFill>
            <a:prstDash val="solid"/>
          </a:ln>
        </p:spPr>
      </p:sp>
      <p:sp>
        <p:nvSpPr>
          <p:cNvPr id="13" name="Text 10"/>
          <p:cNvSpPr txBox="1"/>
          <p:nvPr/>
        </p:nvSpPr>
        <p:spPr>
          <a:xfrm>
            <a:off x="7635240" y="1783080"/>
            <a:ext cx="3657600" cy="256032"/>
          </a:xfrm>
          <a:prstGeom prst="rect">
            <a:avLst/>
          </a:prstGeom>
          <a:noFill/>
        </p:spPr>
        <p:txBody>
          <a:bodyPr wrap="square" lIns="0" tIns="0" rIns="0" bIns="0" rtlCol="0" anchor="ctr"/>
          <a:lstStyle/>
          <a:p>
            <a:pPr marL="0" indent="0">
              <a:buNone/>
            </a:pPr>
            <a:r>
              <a:rPr lang="en-US" sz="1200" b="1" dirty="0">
                <a:solidFill>
                  <a:schemeClr val="tx2"/>
                </a:solidFill>
              </a:rPr>
              <a:t>Rendered sizes</a:t>
            </a:r>
            <a:endParaRPr lang="en-US" sz="1200" dirty="0"/>
          </a:p>
        </p:txBody>
      </p:sp>
      <p:sp>
        <p:nvSpPr>
          <p:cNvPr id="14" name="Text 11"/>
          <p:cNvSpPr txBox="1"/>
          <p:nvPr/>
        </p:nvSpPr>
        <p:spPr>
          <a:xfrm>
            <a:off x="7635240" y="2057400"/>
            <a:ext cx="3840480" cy="329184"/>
          </a:xfrm>
          <a:prstGeom prst="rect">
            <a:avLst/>
          </a:prstGeom>
          <a:noFill/>
        </p:spPr>
        <p:txBody>
          <a:bodyPr wrap="square" lIns="0" tIns="0" rIns="0" bIns="0" rtlCol="0" anchor="ctr"/>
          <a:lstStyle/>
          <a:p>
            <a:pPr marL="0" indent="0">
              <a:buNone/>
            </a:pPr>
            <a:r>
              <a:rPr lang="en-US" sz="2200" b="1" dirty="0">
                <a:solidFill>
                  <a:schemeClr val="tx1"/>
                </a:solidFill>
              </a:rPr>
              <a:t>h1  Heading 1</a:t>
            </a:r>
            <a:endParaRPr lang="en-US" sz="2200" dirty="0"/>
          </a:p>
        </p:txBody>
      </p:sp>
      <p:sp>
        <p:nvSpPr>
          <p:cNvPr id="15" name="Text 12"/>
          <p:cNvSpPr txBox="1"/>
          <p:nvPr/>
        </p:nvSpPr>
        <p:spPr>
          <a:xfrm>
            <a:off x="7635240" y="2395728"/>
            <a:ext cx="3840480" cy="329184"/>
          </a:xfrm>
          <a:prstGeom prst="rect">
            <a:avLst/>
          </a:prstGeom>
          <a:noFill/>
        </p:spPr>
        <p:txBody>
          <a:bodyPr wrap="square" lIns="0" tIns="0" rIns="0" bIns="0" rtlCol="0" anchor="ctr"/>
          <a:lstStyle/>
          <a:p>
            <a:pPr marL="0" indent="0">
              <a:buNone/>
            </a:pPr>
            <a:r>
              <a:rPr lang="en-US" sz="1900" b="1" dirty="0">
                <a:solidFill>
                  <a:schemeClr val="tx1"/>
                </a:solidFill>
              </a:rPr>
              <a:t>h2  Heading 2</a:t>
            </a:r>
            <a:endParaRPr lang="en-US" sz="1900" dirty="0"/>
          </a:p>
        </p:txBody>
      </p:sp>
      <p:sp>
        <p:nvSpPr>
          <p:cNvPr id="16" name="Text 13"/>
          <p:cNvSpPr txBox="1"/>
          <p:nvPr/>
        </p:nvSpPr>
        <p:spPr>
          <a:xfrm>
            <a:off x="7635240" y="2697480"/>
            <a:ext cx="3840480" cy="329184"/>
          </a:xfrm>
          <a:prstGeom prst="rect">
            <a:avLst/>
          </a:prstGeom>
          <a:noFill/>
        </p:spPr>
        <p:txBody>
          <a:bodyPr wrap="square" lIns="0" tIns="0" rIns="0" bIns="0" rtlCol="0" anchor="ctr"/>
          <a:lstStyle/>
          <a:p>
            <a:pPr marL="0" indent="0">
              <a:buNone/>
            </a:pPr>
            <a:r>
              <a:rPr lang="en-US" sz="1600" b="1" dirty="0">
                <a:solidFill>
                  <a:schemeClr val="tx1"/>
                </a:solidFill>
              </a:rPr>
              <a:t>h3  Heading 3</a:t>
            </a:r>
            <a:endParaRPr lang="en-US" sz="1600" dirty="0"/>
          </a:p>
        </p:txBody>
      </p:sp>
      <p:sp>
        <p:nvSpPr>
          <p:cNvPr id="17" name="Text 14"/>
          <p:cNvSpPr txBox="1"/>
          <p:nvPr/>
        </p:nvSpPr>
        <p:spPr>
          <a:xfrm>
            <a:off x="7635240" y="2971800"/>
            <a:ext cx="3840480" cy="329184"/>
          </a:xfrm>
          <a:prstGeom prst="rect">
            <a:avLst/>
          </a:prstGeom>
          <a:noFill/>
        </p:spPr>
        <p:txBody>
          <a:bodyPr wrap="square" lIns="0" tIns="0" rIns="0" bIns="0" rtlCol="0" anchor="ctr"/>
          <a:lstStyle/>
          <a:p>
            <a:pPr marL="0" indent="0">
              <a:buNone/>
            </a:pPr>
            <a:r>
              <a:rPr lang="en-US" sz="1400" b="1" dirty="0">
                <a:solidFill>
                  <a:schemeClr val="tx1"/>
                </a:solidFill>
              </a:rPr>
              <a:t>h4  Heading 4</a:t>
            </a:r>
            <a:endParaRPr lang="en-US" sz="1400" dirty="0"/>
          </a:p>
        </p:txBody>
      </p:sp>
      <p:sp>
        <p:nvSpPr>
          <p:cNvPr id="18" name="Text 15"/>
          <p:cNvSpPr txBox="1"/>
          <p:nvPr/>
        </p:nvSpPr>
        <p:spPr>
          <a:xfrm>
            <a:off x="7635240" y="3218688"/>
            <a:ext cx="3840480" cy="329184"/>
          </a:xfrm>
          <a:prstGeom prst="rect">
            <a:avLst/>
          </a:prstGeom>
          <a:noFill/>
        </p:spPr>
        <p:txBody>
          <a:bodyPr wrap="square" lIns="0" tIns="0" rIns="0" bIns="0" rtlCol="0" anchor="ctr"/>
          <a:lstStyle/>
          <a:p>
            <a:pPr marL="0" indent="0">
              <a:buNone/>
            </a:pPr>
            <a:r>
              <a:rPr lang="en-US" sz="1200" b="1" dirty="0">
                <a:solidFill>
                  <a:schemeClr val="tx1"/>
                </a:solidFill>
              </a:rPr>
              <a:t>h5  Heading 5</a:t>
            </a:r>
            <a:endParaRPr lang="en-US" sz="1200" dirty="0"/>
          </a:p>
        </p:txBody>
      </p:sp>
      <p:sp>
        <p:nvSpPr>
          <p:cNvPr id="19" name="Text 16"/>
          <p:cNvSpPr txBox="1"/>
          <p:nvPr/>
        </p:nvSpPr>
        <p:spPr>
          <a:xfrm>
            <a:off x="7635240" y="3438144"/>
            <a:ext cx="3840480" cy="329184"/>
          </a:xfrm>
          <a:prstGeom prst="rect">
            <a:avLst/>
          </a:prstGeom>
          <a:noFill/>
        </p:spPr>
        <p:txBody>
          <a:bodyPr wrap="square" lIns="0" tIns="0" rIns="0" bIns="0" rtlCol="0" anchor="ctr"/>
          <a:lstStyle/>
          <a:p>
            <a:pPr marL="0" indent="0">
              <a:buNone/>
            </a:pPr>
            <a:r>
              <a:rPr lang="en-US" sz="1100" b="1" dirty="0">
                <a:solidFill>
                  <a:schemeClr val="tx1"/>
                </a:solidFill>
              </a:rPr>
              <a:t>h6  Heading 6</a:t>
            </a:r>
            <a:endParaRPr lang="en-US" sz="1100" dirty="0"/>
          </a:p>
        </p:txBody>
      </p:sp>
      <p:sp>
        <p:nvSpPr>
          <p:cNvPr id="20" name="Text 17"/>
          <p:cNvSpPr txBox="1"/>
          <p:nvPr/>
        </p:nvSpPr>
        <p:spPr>
          <a:xfrm>
            <a:off x="7406640" y="4160520"/>
            <a:ext cx="4233672" cy="118872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&lt;h1&gt;–&lt;h6&gt; </a:t>
            </a:r>
            <a:r>
              <a:rPr lang="en-US" sz="1400" dirty="0">
                <a:solidFill>
                  <a:schemeClr val="tx1"/>
                </a:solidFill>
              </a:rPr>
              <a:t>level 1 is most important</a:t>
            </a:r>
            <a:endParaRPr lang="en-US" sz="1400" dirty="0"/>
          </a:p>
          <a:p>
            <a:pPr marL="0" indent="0">
              <a:spcAft>
                <a:spcPts val="700"/>
              </a:spcAft>
              <a:buNone/>
            </a:pPr>
            <a:r>
              <a:rPr lang="en-US" sz="1400" b="1" dirty="0">
                <a:solidFill>
                  <a:schemeClr val="tx1"/>
                </a:solidFill>
              </a:rPr>
              <a:t>&lt;br&gt; </a:t>
            </a:r>
            <a:r>
              <a:rPr lang="en-US" sz="1400" dirty="0">
                <a:solidFill>
                  <a:schemeClr val="tx1"/>
                </a:solidFill>
              </a:rPr>
              <a:t>line break; &lt;hr&gt; thematic line</a:t>
            </a:r>
            <a:endParaRPr lang="en-US" sz="1400" dirty="0"/>
          </a:p>
          <a:p>
            <a:pPr marL="177800" indent="-177800">
              <a:spcAft>
                <a:spcPts val="700"/>
              </a:spcAft>
              <a:buSzPct val="100000"/>
              <a:buChar char="•"/>
            </a:pPr>
            <a:r>
              <a:rPr lang="en-US" sz="1400" dirty="0">
                <a:solidFill>
                  <a:schemeClr val="tx1"/>
                </a:solidFill>
              </a:rPr>
              <a:t>One h1 per page; never skip levels</a:t>
            </a:r>
            <a:endParaRPr lang="en-US" sz="1400" dirty="0"/>
          </a:p>
        </p:txBody>
      </p:sp>
      <p:sp>
        <p:nvSpPr>
          <p:cNvPr id="21" name="Note callout"/>
          <p:cNvSpPr/>
          <p:nvPr/>
        </p:nvSpPr>
        <p:spPr>
          <a:xfrm>
            <a:off x="7406640" y="5440680"/>
            <a:ext cx="4233672" cy="777240"/>
          </a:xfrm>
          <a:prstGeom prst="roundRect">
            <a:avLst>
              <a:gd name="adj" fmla="val 11765"/>
            </a:avLst>
          </a:prstGeom>
          <a:solidFill>
            <a:schemeClr val="accent3">
              <a:alpha val="22000"/>
            </a:schemeClr>
          </a:solidFill>
          <a:ln w="12700">
            <a:solidFill>
              <a:schemeClr val="accent3"/>
            </a:solidFill>
            <a:prstDash val="solid"/>
          </a:ln>
        </p:spPr>
      </p:sp>
      <p:sp>
        <p:nvSpPr>
          <p:cNvPr id="22" name="Text 19"/>
          <p:cNvSpPr txBox="1"/>
          <p:nvPr/>
        </p:nvSpPr>
        <p:spPr>
          <a:xfrm>
            <a:off x="7589520" y="5532120"/>
            <a:ext cx="3867912" cy="594360"/>
          </a:xfrm>
          <a:prstGeom prst="rect">
            <a:avLst/>
          </a:prstGeom>
          <a:noFill/>
        </p:spPr>
        <p:txBody>
          <a:bodyPr wrap="square" lIns="0" tIns="0" rIns="0" bIns="0" rtlCol="0" anchor="ctr"/>
          <a:lstStyle/>
          <a:p>
            <a:pPr marL="0" indent="0">
              <a:buNone/>
            </a:pPr>
            <a:r>
              <a:rPr lang="en-US" sz="1300" b="1" dirty="0">
                <a:solidFill>
                  <a:schemeClr val="tx1"/>
                </a:solidFill>
              </a:rPr>
              <a:t>Note  </a:t>
            </a:r>
            <a:r>
              <a:rPr lang="en-US" sz="1300" dirty="0">
                <a:solidFill>
                  <a:schemeClr val="tx1"/>
                </a:solidFill>
              </a:rPr>
              <a:t>Extra spaces and line breaks in source are collapsed.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3106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3106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&lt;strong&gt;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Text Formatting Tags</a:t>
            </a:r>
            <a:endParaRPr lang="en-US" sz="3200" dirty="0"/>
          </a:p>
        </p:txBody>
      </p:sp>
      <p:graphicFrame>
        <p:nvGraphicFramePr>
          <p:cNvPr id="9" name="Formatting table"/>
          <p:cNvGraphicFramePr>
            <a:graphicFrameLocks noGrp="1"/>
          </p:cNvGraphicFramePr>
          <p:nvPr/>
        </p:nvGraphicFramePr>
        <p:xfrm>
          <a:off x="548640" y="1691640"/>
          <a:ext cx="7315200" cy="4297680"/>
        </p:xfrm>
        <a:graphic>
          <a:graphicData uri="http://schemas.openxmlformats.org/drawingml/2006/table">
            <a:tbl>
              <a:tblPr/>
              <a:tblGrid>
                <a:gridCol w="1737360"/>
                <a:gridCol w="3200400"/>
                <a:gridCol w="2377440"/>
              </a:tblGrid>
              <a:tr h="429768">
                <a:tc>
                  <a:txBody>
                    <a:bodyPr/>
                    <a:lstStyle/>
                    <a:p>
                      <a:pPr marL="0" indent="0" algn="l">
                        <a:buNone/>
                      </a:pPr>
                      <a:r>
                        <a:rPr lang="en-US" sz="1300" b="1" dirty="0">
                          <a:solidFill>
                            <a:schemeClr val="bg1"/>
                          </a:solidFill>
                        </a:rPr>
                        <a:t>Tag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a:txBody>
                    <a:bodyPr/>
                    <a:lstStyle/>
                    <a:p>
                      <a:pPr marL="0" indent="0" algn="l">
                        <a:buNone/>
                      </a:pPr>
                      <a:r>
                        <a:rPr lang="en-US" sz="1300" b="1" dirty="0">
                          <a:solidFill>
                            <a:schemeClr val="bg1"/>
                          </a:solidFill>
                        </a:rPr>
                        <a:t>Meaning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a:txBody>
                    <a:bodyPr/>
                    <a:lstStyle/>
                    <a:p>
                      <a:pPr marL="0" indent="0" algn="l">
                        <a:buNone/>
                      </a:pPr>
                      <a:r>
                        <a:rPr lang="en-US" sz="1300" b="1" dirty="0">
                          <a:solidFill>
                            <a:schemeClr val="bg1"/>
                          </a:solidFill>
                        </a:rPr>
                        <a:t>Result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&lt;strong&gt;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Important text (semantic bold)</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b="1" dirty="0">
                          <a:solidFill>
                            <a:schemeClr val="tx1"/>
                          </a:solidFill>
                        </a:rPr>
                        <a:t>Warning!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&lt;b&gt;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Bold without extra importance</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b="1" dirty="0">
                          <a:solidFill>
                            <a:schemeClr val="tx1"/>
                          </a:solidFill>
                        </a:rPr>
                        <a:t>Keyword</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&lt;em&gt;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Stressed emphasis (italic)</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i="1" dirty="0">
                          <a:solidFill>
                            <a:schemeClr val="tx1"/>
                          </a:solidFill>
                        </a:rPr>
                        <a:t>really</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&lt;i&gt;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Alternate voice or term</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i="1" dirty="0">
                          <a:solidFill>
                            <a:schemeClr val="tx1"/>
                          </a:solidFill>
                        </a:rPr>
                        <a:t>Homo sapiens</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&lt;mark&gt;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Highlighted, relevant text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highlight>
                            <a:srgbClr val="FFF176"/>
                          </a:highlight>
                        </a:rPr>
                        <a:t>key idea</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&lt;del&gt; &lt;ins&gt;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Deleted and inserted text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strike="sngStrike" dirty="0">
                          <a:solidFill>
                            <a:schemeClr val="tx1"/>
                          </a:solidFill>
                        </a:rPr>
                        <a:t>old </a:t>
                      </a:r>
                      <a:r>
                        <a:rPr lang="en-US" sz="1300" u="sng" dirty="0">
                          <a:solidFill>
                            <a:schemeClr val="tx1"/>
                          </a:solidFill>
                        </a:rPr>
                        <a:t>new</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&lt;sub&gt; &lt;sup&gt;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Subscript and superscript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H</a:t>
                      </a:r>
                      <a:r>
                        <a:rPr lang="en-US" sz="1300" baseline="-40000" dirty="0">
                          <a:solidFill>
                            <a:schemeClr val="tx1"/>
                          </a:solidFill>
                        </a:rPr>
                        <a:t>2</a:t>
                      </a:r>
                      <a:r>
                        <a:rPr lang="en-US" sz="1300" dirty="0">
                          <a:solidFill>
                            <a:schemeClr val="tx1"/>
                          </a:solidFill>
                        </a:rPr>
                        <a:t>O  x</a:t>
                      </a:r>
                      <a:r>
                        <a:rPr lang="en-US" sz="1300" baseline="30000" dirty="0">
                          <a:solidFill>
                            <a:schemeClr val="tx1"/>
                          </a:solidFill>
                        </a:rPr>
                        <a:t>2</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&lt;code&gt;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Inline computer code</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latin typeface="Courier New" panose="02070309020205020404" pitchFamily="34" charset="0"/>
                          <a:ea typeface="Courier New" panose="02070309020205020404" pitchFamily="34" charset="-122"/>
                          <a:cs typeface="Courier New" panose="02070309020205020404" pitchFamily="34" charset="-120"/>
                        </a:rPr>
                        <a:t>&lt;p&gt;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2976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&lt;small&gt;</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Fine print, side comments</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rPr>
                        <a:t>Terms apply</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bl>
          </a:graphicData>
        </a:graphic>
      </p:graphicFrame>
      <p:sp>
        <p:nvSpPr>
          <p:cNvPr id="7" name="Code panel"/>
          <p:cNvSpPr/>
          <p:nvPr/>
        </p:nvSpPr>
        <p:spPr>
          <a:xfrm>
            <a:off x="8138160" y="1691640"/>
            <a:ext cx="3502152" cy="2103120"/>
          </a:xfrm>
          <a:prstGeom prst="roundRect">
            <a:avLst>
              <a:gd name="adj" fmla="val 4348"/>
            </a:avLst>
          </a:prstGeom>
          <a:solidFill>
            <a:schemeClr val="tx1"/>
          </a:solidFill>
          <a:ln w="6350">
            <a:solidFill>
              <a:schemeClr val="tx1"/>
            </a:solidFill>
            <a:prstDash val="solid"/>
          </a:ln>
        </p:spPr>
      </p:sp>
      <p:sp>
        <p:nvSpPr>
          <p:cNvPr id="8" name="Window dot"/>
          <p:cNvSpPr/>
          <p:nvPr/>
        </p:nvSpPr>
        <p:spPr>
          <a:xfrm>
            <a:off x="8366760" y="1874520"/>
            <a:ext cx="118872" cy="118872"/>
          </a:xfrm>
          <a:prstGeom prst="ellipse">
            <a:avLst/>
          </a:prstGeom>
          <a:solidFill>
            <a:srgbClr val="FF5F56"/>
          </a:solidFill>
          <a:ln w="3175">
            <a:solidFill>
              <a:srgbClr val="FF5F56"/>
            </a:solidFill>
            <a:prstDash val="solid"/>
          </a:ln>
        </p:spPr>
      </p:sp>
      <p:sp>
        <p:nvSpPr>
          <p:cNvPr id="5" name="Window dot"/>
          <p:cNvSpPr/>
          <p:nvPr/>
        </p:nvSpPr>
        <p:spPr>
          <a:xfrm>
            <a:off x="8549640" y="1874520"/>
            <a:ext cx="118872" cy="118872"/>
          </a:xfrm>
          <a:prstGeom prst="ellipse">
            <a:avLst/>
          </a:prstGeom>
          <a:solidFill>
            <a:srgbClr val="FFBD2E"/>
          </a:solidFill>
          <a:ln w="3175">
            <a:solidFill>
              <a:srgbClr val="FFBD2E"/>
            </a:solidFill>
            <a:prstDash val="solid"/>
          </a:ln>
        </p:spPr>
      </p:sp>
      <p:sp>
        <p:nvSpPr>
          <p:cNvPr id="10" name="Window dot"/>
          <p:cNvSpPr/>
          <p:nvPr/>
        </p:nvSpPr>
        <p:spPr>
          <a:xfrm>
            <a:off x="8732520" y="1874520"/>
            <a:ext cx="118872" cy="118872"/>
          </a:xfrm>
          <a:prstGeom prst="ellipse">
            <a:avLst/>
          </a:prstGeom>
          <a:solidFill>
            <a:srgbClr val="27C93F"/>
          </a:solidFill>
          <a:ln w="3175">
            <a:solidFill>
              <a:srgbClr val="27C93F"/>
            </a:solidFill>
            <a:prstDash val="solid"/>
          </a:ln>
        </p:spPr>
      </p:sp>
      <p:sp>
        <p:nvSpPr>
          <p:cNvPr id="11" name="Text 7"/>
          <p:cNvSpPr txBox="1"/>
          <p:nvPr/>
        </p:nvSpPr>
        <p:spPr>
          <a:xfrm>
            <a:off x="9006840" y="1828800"/>
            <a:ext cx="2404872"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chem.html</a:t>
            </a:r>
            <a:endParaRPr lang="en-US" sz="1000" dirty="0"/>
          </a:p>
        </p:txBody>
      </p:sp>
      <p:sp>
        <p:nvSpPr>
          <p:cNvPr id="12" name="Text 8"/>
          <p:cNvSpPr txBox="1"/>
          <p:nvPr/>
        </p:nvSpPr>
        <p:spPr>
          <a:xfrm>
            <a:off x="8366760" y="2194560"/>
            <a:ext cx="3044952" cy="146304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&lt;sub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&lt;/sub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O and</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=mc</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&lt;sup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&lt;/sup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3" name="Note callout"/>
          <p:cNvSpPr/>
          <p:nvPr/>
        </p:nvSpPr>
        <p:spPr>
          <a:xfrm>
            <a:off x="8138160" y="3977640"/>
            <a:ext cx="3502152" cy="1234440"/>
          </a:xfrm>
          <a:prstGeom prst="roundRect">
            <a:avLst>
              <a:gd name="adj" fmla="val 7407"/>
            </a:avLst>
          </a:prstGeom>
          <a:solidFill>
            <a:schemeClr val="accent3">
              <a:alpha val="22000"/>
            </a:schemeClr>
          </a:solidFill>
          <a:ln w="12700">
            <a:solidFill>
              <a:schemeClr val="accent3"/>
            </a:solidFill>
            <a:prstDash val="solid"/>
          </a:ln>
        </p:spPr>
      </p:sp>
      <p:sp>
        <p:nvSpPr>
          <p:cNvPr id="14" name="Text 10"/>
          <p:cNvSpPr txBox="1"/>
          <p:nvPr/>
        </p:nvSpPr>
        <p:spPr>
          <a:xfrm>
            <a:off x="8321040" y="4069080"/>
            <a:ext cx="3136392" cy="1051560"/>
          </a:xfrm>
          <a:prstGeom prst="rect">
            <a:avLst/>
          </a:prstGeom>
          <a:noFill/>
        </p:spPr>
        <p:txBody>
          <a:bodyPr wrap="square" lIns="0" tIns="0" rIns="0" bIns="0" rtlCol="0" anchor="ctr"/>
          <a:lstStyle/>
          <a:p>
            <a:pPr marL="0" indent="0">
              <a:buNone/>
            </a:pPr>
            <a:r>
              <a:rPr lang="en-US" sz="1300" b="1" dirty="0">
                <a:solidFill>
                  <a:schemeClr val="tx1"/>
                </a:solidFill>
              </a:rPr>
              <a:t>Prefer meaning  </a:t>
            </a:r>
            <a:r>
              <a:rPr lang="en-US" sz="1300" dirty="0">
                <a:solidFill>
                  <a:schemeClr val="tx1"/>
                </a:solidFill>
              </a:rPr>
              <a:t>Use &lt;strong&gt; and &lt;em&gt; when the meaning matters, not only the look.</a:t>
            </a:r>
            <a:endParaRPr lang="en-US" sz="1300" dirty="0"/>
          </a:p>
        </p:txBody>
      </p:sp>
      <p:sp>
        <p:nvSpPr>
          <p:cNvPr id="15" name="Note callout"/>
          <p:cNvSpPr/>
          <p:nvPr/>
        </p:nvSpPr>
        <p:spPr>
          <a:xfrm>
            <a:off x="8138160" y="5394960"/>
            <a:ext cx="3502152" cy="822960"/>
          </a:xfrm>
          <a:prstGeom prst="roundRect">
            <a:avLst>
              <a:gd name="adj" fmla="val 11111"/>
            </a:avLst>
          </a:prstGeom>
          <a:solidFill>
            <a:schemeClr val="accent3">
              <a:alpha val="22000"/>
            </a:schemeClr>
          </a:solidFill>
          <a:ln w="12700">
            <a:solidFill>
              <a:schemeClr val="accent3"/>
            </a:solidFill>
            <a:prstDash val="solid"/>
          </a:ln>
        </p:spPr>
      </p:sp>
      <p:sp>
        <p:nvSpPr>
          <p:cNvPr id="16" name="Text 12"/>
          <p:cNvSpPr txBox="1"/>
          <p:nvPr/>
        </p:nvSpPr>
        <p:spPr>
          <a:xfrm>
            <a:off x="8321040" y="5486400"/>
            <a:ext cx="3136392" cy="640080"/>
          </a:xfrm>
          <a:prstGeom prst="rect">
            <a:avLst/>
          </a:prstGeom>
          <a:noFill/>
        </p:spPr>
        <p:txBody>
          <a:bodyPr wrap="square" lIns="0" tIns="0" rIns="0" bIns="0" rtlCol="0" anchor="ctr"/>
          <a:lstStyle/>
          <a:p>
            <a:pPr marL="0" indent="0">
              <a:buNone/>
            </a:pPr>
            <a:r>
              <a:rPr lang="en-US" sz="1300" b="1" dirty="0">
                <a:solidFill>
                  <a:schemeClr val="tx1"/>
                </a:solidFill>
              </a:rPr>
              <a:t>Tip  </a:t>
            </a:r>
            <a:r>
              <a:rPr lang="en-US" sz="1300" dirty="0">
                <a:solidFill>
                  <a:schemeClr val="tx1"/>
                </a:solidFill>
              </a:rPr>
              <a:t>Style with CSS, not tags.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99060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99060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&lt;div&gt;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Block vs Inline, Entities and Comments</a:t>
            </a:r>
            <a:endParaRPr lang="en-US" sz="3200" dirty="0"/>
          </a:p>
        </p:txBody>
      </p:sp>
      <p:sp>
        <p:nvSpPr>
          <p:cNvPr id="6" name="Block vs inline card"/>
          <p:cNvSpPr/>
          <p:nvPr/>
        </p:nvSpPr>
        <p:spPr>
          <a:xfrm>
            <a:off x="548640" y="1691640"/>
            <a:ext cx="5394960" cy="2514600"/>
          </a:xfrm>
          <a:prstGeom prst="roundRect">
            <a:avLst>
              <a:gd name="adj" fmla="val 3636"/>
            </a:avLst>
          </a:prstGeom>
          <a:solidFill>
            <a:schemeClr val="bg2"/>
          </a:solidFill>
          <a:ln w="6350">
            <a:solidFill>
              <a:schemeClr val="bg2"/>
            </a:solidFill>
            <a:prstDash val="solid"/>
          </a:ln>
        </p:spPr>
      </p:sp>
      <p:sp>
        <p:nvSpPr>
          <p:cNvPr id="7" name="Text 4"/>
          <p:cNvSpPr txBox="1"/>
          <p:nvPr/>
        </p:nvSpPr>
        <p:spPr>
          <a:xfrm>
            <a:off x="777240" y="1783080"/>
            <a:ext cx="4937760" cy="365760"/>
          </a:xfrm>
          <a:prstGeom prst="rect">
            <a:avLst/>
          </a:prstGeom>
          <a:noFill/>
        </p:spPr>
        <p:txBody>
          <a:bodyPr wrap="square" lIns="0" tIns="0" rIns="0" bIns="0" rtlCol="0" anchor="ctr"/>
          <a:lstStyle/>
          <a:p>
            <a:pPr marL="0" indent="0">
              <a:buNone/>
            </a:pPr>
            <a:r>
              <a:rPr lang="en-US" sz="1700" b="1" dirty="0">
                <a:solidFill>
                  <a:schemeClr val="tx1"/>
                </a:solidFill>
              </a:rPr>
              <a:t>Block vs Inline</a:t>
            </a:r>
            <a:endParaRPr lang="en-US" sz="1700" dirty="0"/>
          </a:p>
        </p:txBody>
      </p:sp>
      <p:sp>
        <p:nvSpPr>
          <p:cNvPr id="8" name="Text 5"/>
          <p:cNvSpPr txBox="1"/>
          <p:nvPr/>
        </p:nvSpPr>
        <p:spPr>
          <a:xfrm>
            <a:off x="777240" y="2240280"/>
            <a:ext cx="4937760" cy="1828800"/>
          </a:xfrm>
          <a:prstGeom prst="rect">
            <a:avLst/>
          </a:prstGeom>
          <a:noFill/>
        </p:spPr>
        <p:txBody>
          <a:bodyPr wrap="square" lIns="0" tIns="0" rIns="0" bIns="0" rtlCol="0" anchor="t"/>
          <a:lstStyle/>
          <a:p>
            <a:pPr marL="0" indent="0">
              <a:buNone/>
            </a:pPr>
            <a:r>
              <a:rPr lang="en-US" sz="1500" b="1" dirty="0">
                <a:solidFill>
                  <a:schemeClr val="accent1"/>
                </a:solidFill>
              </a:rPr>
              <a:t>Block</a:t>
            </a:r>
            <a:endParaRPr lang="en-US" sz="1500" dirty="0"/>
          </a:p>
          <a:p>
            <a:pPr marL="0" indent="0">
              <a:spcAft>
                <a:spcPts val="1000"/>
              </a:spcAft>
              <a:buNone/>
            </a:pPr>
            <a:r>
              <a:rPr lang="en-US" sz="1400" dirty="0">
                <a:solidFill>
                  <a:schemeClr val="tx1"/>
                </a:solidFill>
              </a:rPr>
              <a:t>New line, full width: div, p, h1–h6, ul, table, form</a:t>
            </a:r>
            <a:endParaRPr lang="en-US" sz="1500" dirty="0"/>
          </a:p>
          <a:p>
            <a:pPr marL="0" indent="0">
              <a:buNone/>
            </a:pPr>
            <a:r>
              <a:rPr lang="en-US" sz="1500" b="1" dirty="0">
                <a:solidFill>
                  <a:schemeClr val="accent2"/>
                </a:solidFill>
              </a:rPr>
              <a:t>Inline</a:t>
            </a:r>
            <a:endParaRPr lang="en-US" sz="1500" dirty="0"/>
          </a:p>
          <a:p>
            <a:pPr marL="0" indent="0">
              <a:buNone/>
            </a:pPr>
            <a:r>
              <a:rPr lang="en-US" sz="1400" dirty="0">
                <a:solidFill>
                  <a:schemeClr val="tx1"/>
                </a:solidFill>
              </a:rPr>
              <a:t>Flows within text: span, a, strong, em, img, input</a:t>
            </a:r>
            <a:endParaRPr lang="en-US" sz="1500" dirty="0"/>
          </a:p>
        </p:txBody>
      </p:sp>
      <p:sp>
        <p:nvSpPr>
          <p:cNvPr id="9" name="Entities card"/>
          <p:cNvSpPr/>
          <p:nvPr/>
        </p:nvSpPr>
        <p:spPr>
          <a:xfrm>
            <a:off x="6245352" y="1691640"/>
            <a:ext cx="5394960" cy="2514600"/>
          </a:xfrm>
          <a:prstGeom prst="roundRect">
            <a:avLst>
              <a:gd name="adj" fmla="val 3636"/>
            </a:avLst>
          </a:prstGeom>
          <a:solidFill>
            <a:schemeClr val="bg2"/>
          </a:solidFill>
          <a:ln w="6350">
            <a:solidFill>
              <a:schemeClr val="bg2"/>
            </a:solidFill>
            <a:prstDash val="solid"/>
          </a:ln>
        </p:spPr>
      </p:sp>
      <p:sp>
        <p:nvSpPr>
          <p:cNvPr id="10" name="Text 7"/>
          <p:cNvSpPr txBox="1"/>
          <p:nvPr/>
        </p:nvSpPr>
        <p:spPr>
          <a:xfrm>
            <a:off x="6473952" y="1783080"/>
            <a:ext cx="4937760" cy="365760"/>
          </a:xfrm>
          <a:prstGeom prst="rect">
            <a:avLst/>
          </a:prstGeom>
          <a:noFill/>
        </p:spPr>
        <p:txBody>
          <a:bodyPr wrap="square" lIns="0" tIns="0" rIns="0" bIns="0" rtlCol="0" anchor="ctr"/>
          <a:lstStyle/>
          <a:p>
            <a:pPr marL="0" indent="0">
              <a:buNone/>
            </a:pPr>
            <a:r>
              <a:rPr lang="en-US" sz="1700" b="1" dirty="0">
                <a:solidFill>
                  <a:schemeClr val="tx1"/>
                </a:solidFill>
              </a:rPr>
              <a:t>Common Entities</a:t>
            </a:r>
            <a:endParaRPr lang="en-US" sz="1700" dirty="0"/>
          </a:p>
        </p:txBody>
      </p:sp>
      <p:sp>
        <p:nvSpPr>
          <p:cNvPr id="11" name="Text 8"/>
          <p:cNvSpPr txBox="1"/>
          <p:nvPr/>
        </p:nvSpPr>
        <p:spPr>
          <a:xfrm>
            <a:off x="6473952" y="2286000"/>
            <a:ext cx="1188720" cy="365760"/>
          </a:xfrm>
          <a:prstGeom prst="rect">
            <a:avLst/>
          </a:prstGeom>
          <a:noFill/>
        </p:spPr>
        <p:txBody>
          <a:bodyPr wrap="square" lIns="0" tIns="0" rIns="0" bIns="0" rtlCol="0" anchor="ctr"/>
          <a:lstStyle/>
          <a:p>
            <a:pPr marL="0" indent="0">
              <a:buNone/>
            </a:pPr>
            <a:r>
              <a:rPr lang="en-US" sz="15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&amp;lt;</a:t>
            </a:r>
            <a:endParaRPr lang="en-US" sz="1500" dirty="0"/>
          </a:p>
        </p:txBody>
      </p:sp>
      <p:sp>
        <p:nvSpPr>
          <p:cNvPr id="12" name="Text 9"/>
          <p:cNvSpPr txBox="1"/>
          <p:nvPr/>
        </p:nvSpPr>
        <p:spPr>
          <a:xfrm>
            <a:off x="7616952" y="2286000"/>
            <a:ext cx="1188720" cy="365760"/>
          </a:xfrm>
          <a:prstGeom prst="rect">
            <a:avLst/>
          </a:prstGeom>
          <a:noFill/>
        </p:spPr>
        <p:txBody>
          <a:bodyPr wrap="square" lIns="0" tIns="0" rIns="0" bIns="0" rtlCol="0" anchor="ctr"/>
          <a:lstStyle/>
          <a:p>
            <a:pPr marL="0" indent="0">
              <a:buNone/>
            </a:pPr>
            <a:r>
              <a:rPr lang="en-US" sz="1500" dirty="0">
                <a:solidFill>
                  <a:schemeClr val="tx1"/>
                </a:solidFill>
              </a:rPr>
              <a:t>→  &lt;</a:t>
            </a:r>
            <a:endParaRPr lang="en-US" sz="1500" dirty="0"/>
          </a:p>
        </p:txBody>
      </p:sp>
      <p:sp>
        <p:nvSpPr>
          <p:cNvPr id="13" name="Text 10"/>
          <p:cNvSpPr txBox="1"/>
          <p:nvPr/>
        </p:nvSpPr>
        <p:spPr>
          <a:xfrm>
            <a:off x="8942832" y="2286000"/>
            <a:ext cx="1188720" cy="365760"/>
          </a:xfrm>
          <a:prstGeom prst="rect">
            <a:avLst/>
          </a:prstGeom>
          <a:noFill/>
        </p:spPr>
        <p:txBody>
          <a:bodyPr wrap="square" lIns="0" tIns="0" rIns="0" bIns="0" rtlCol="0" anchor="ctr"/>
          <a:lstStyle/>
          <a:p>
            <a:pPr marL="0" indent="0">
              <a:buNone/>
            </a:pPr>
            <a:r>
              <a:rPr lang="en-US" sz="15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&amp;gt;</a:t>
            </a:r>
            <a:endParaRPr lang="en-US" sz="1500" dirty="0"/>
          </a:p>
        </p:txBody>
      </p:sp>
      <p:sp>
        <p:nvSpPr>
          <p:cNvPr id="14" name="Text 11"/>
          <p:cNvSpPr txBox="1"/>
          <p:nvPr/>
        </p:nvSpPr>
        <p:spPr>
          <a:xfrm>
            <a:off x="10085832" y="2286000"/>
            <a:ext cx="1188720" cy="365760"/>
          </a:xfrm>
          <a:prstGeom prst="rect">
            <a:avLst/>
          </a:prstGeom>
          <a:noFill/>
        </p:spPr>
        <p:txBody>
          <a:bodyPr wrap="square" lIns="0" tIns="0" rIns="0" bIns="0" rtlCol="0" anchor="ctr"/>
          <a:lstStyle/>
          <a:p>
            <a:pPr marL="0" indent="0">
              <a:buNone/>
            </a:pPr>
            <a:r>
              <a:rPr lang="en-US" sz="1500" dirty="0">
                <a:solidFill>
                  <a:schemeClr val="tx1"/>
                </a:solidFill>
              </a:rPr>
              <a:t>→  &gt;</a:t>
            </a:r>
            <a:endParaRPr lang="en-US" sz="1500" dirty="0"/>
          </a:p>
        </p:txBody>
      </p:sp>
      <p:sp>
        <p:nvSpPr>
          <p:cNvPr id="15" name="Text 12"/>
          <p:cNvSpPr txBox="1"/>
          <p:nvPr/>
        </p:nvSpPr>
        <p:spPr>
          <a:xfrm>
            <a:off x="6473952" y="2834640"/>
            <a:ext cx="1188720" cy="365760"/>
          </a:xfrm>
          <a:prstGeom prst="rect">
            <a:avLst/>
          </a:prstGeom>
          <a:noFill/>
        </p:spPr>
        <p:txBody>
          <a:bodyPr wrap="square" lIns="0" tIns="0" rIns="0" bIns="0" rtlCol="0" anchor="ctr"/>
          <a:lstStyle/>
          <a:p>
            <a:pPr marL="0" indent="0">
              <a:buNone/>
            </a:pPr>
            <a:r>
              <a:rPr lang="en-US" sz="15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&amp;amp;</a:t>
            </a:r>
            <a:endParaRPr lang="en-US" sz="1500" dirty="0"/>
          </a:p>
        </p:txBody>
      </p:sp>
      <p:sp>
        <p:nvSpPr>
          <p:cNvPr id="16" name="Text 13"/>
          <p:cNvSpPr txBox="1"/>
          <p:nvPr/>
        </p:nvSpPr>
        <p:spPr>
          <a:xfrm>
            <a:off x="7616952" y="2834640"/>
            <a:ext cx="1188720" cy="365760"/>
          </a:xfrm>
          <a:prstGeom prst="rect">
            <a:avLst/>
          </a:prstGeom>
          <a:noFill/>
        </p:spPr>
        <p:txBody>
          <a:bodyPr wrap="square" lIns="0" tIns="0" rIns="0" bIns="0" rtlCol="0" anchor="ctr"/>
          <a:lstStyle/>
          <a:p>
            <a:pPr marL="0" indent="0">
              <a:buNone/>
            </a:pPr>
            <a:r>
              <a:rPr lang="en-US" sz="1500" dirty="0">
                <a:solidFill>
                  <a:schemeClr val="tx1"/>
                </a:solidFill>
              </a:rPr>
              <a:t>→  &amp;</a:t>
            </a:r>
            <a:endParaRPr lang="en-US" sz="1500" dirty="0"/>
          </a:p>
        </p:txBody>
      </p:sp>
      <p:sp>
        <p:nvSpPr>
          <p:cNvPr id="17" name="Text 14"/>
          <p:cNvSpPr txBox="1"/>
          <p:nvPr/>
        </p:nvSpPr>
        <p:spPr>
          <a:xfrm>
            <a:off x="8942832" y="2834640"/>
            <a:ext cx="1188720" cy="365760"/>
          </a:xfrm>
          <a:prstGeom prst="rect">
            <a:avLst/>
          </a:prstGeom>
          <a:noFill/>
        </p:spPr>
        <p:txBody>
          <a:bodyPr wrap="square" lIns="0" tIns="0" rIns="0" bIns="0" rtlCol="0" anchor="ctr"/>
          <a:lstStyle/>
          <a:p>
            <a:pPr marL="0" indent="0">
              <a:buNone/>
            </a:pPr>
            <a:r>
              <a:rPr lang="en-US" sz="15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&amp;quot;</a:t>
            </a:r>
            <a:endParaRPr lang="en-US" sz="1500" dirty="0"/>
          </a:p>
        </p:txBody>
      </p:sp>
      <p:sp>
        <p:nvSpPr>
          <p:cNvPr id="18" name="Text 15"/>
          <p:cNvSpPr txBox="1"/>
          <p:nvPr/>
        </p:nvSpPr>
        <p:spPr>
          <a:xfrm>
            <a:off x="10085832" y="2834640"/>
            <a:ext cx="1188720" cy="365760"/>
          </a:xfrm>
          <a:prstGeom prst="rect">
            <a:avLst/>
          </a:prstGeom>
          <a:noFill/>
        </p:spPr>
        <p:txBody>
          <a:bodyPr wrap="square" lIns="0" tIns="0" rIns="0" bIns="0" rtlCol="0" anchor="ctr"/>
          <a:lstStyle/>
          <a:p>
            <a:pPr marL="0" indent="0">
              <a:buNone/>
            </a:pPr>
            <a:r>
              <a:rPr lang="en-US" sz="1500" dirty="0">
                <a:solidFill>
                  <a:schemeClr val="tx1"/>
                </a:solidFill>
              </a:rPr>
              <a:t>→  "</a:t>
            </a:r>
            <a:endParaRPr lang="en-US" sz="1500" dirty="0"/>
          </a:p>
        </p:txBody>
      </p:sp>
      <p:sp>
        <p:nvSpPr>
          <p:cNvPr id="19" name="Text 16"/>
          <p:cNvSpPr txBox="1"/>
          <p:nvPr/>
        </p:nvSpPr>
        <p:spPr>
          <a:xfrm>
            <a:off x="6473952" y="3383280"/>
            <a:ext cx="1188720" cy="365760"/>
          </a:xfrm>
          <a:prstGeom prst="rect">
            <a:avLst/>
          </a:prstGeom>
          <a:noFill/>
        </p:spPr>
        <p:txBody>
          <a:bodyPr wrap="square" lIns="0" tIns="0" rIns="0" bIns="0" rtlCol="0" anchor="ctr"/>
          <a:lstStyle/>
          <a:p>
            <a:pPr marL="0" indent="0">
              <a:buNone/>
            </a:pPr>
            <a:r>
              <a:rPr lang="en-US" sz="15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&amp;nbsp;</a:t>
            </a:r>
            <a:endParaRPr lang="en-US" sz="1500" dirty="0"/>
          </a:p>
        </p:txBody>
      </p:sp>
      <p:sp>
        <p:nvSpPr>
          <p:cNvPr id="20" name="Text 17"/>
          <p:cNvSpPr txBox="1"/>
          <p:nvPr/>
        </p:nvSpPr>
        <p:spPr>
          <a:xfrm>
            <a:off x="7616952" y="3383280"/>
            <a:ext cx="1188720" cy="365760"/>
          </a:xfrm>
          <a:prstGeom prst="rect">
            <a:avLst/>
          </a:prstGeom>
          <a:noFill/>
        </p:spPr>
        <p:txBody>
          <a:bodyPr wrap="square" lIns="0" tIns="0" rIns="0" bIns="0" rtlCol="0" anchor="ctr"/>
          <a:lstStyle/>
          <a:p>
            <a:pPr marL="0" indent="0">
              <a:buNone/>
            </a:pPr>
            <a:r>
              <a:rPr lang="en-US" sz="1500" dirty="0">
                <a:solidFill>
                  <a:schemeClr val="tx1"/>
                </a:solidFill>
              </a:rPr>
              <a:t>→  space</a:t>
            </a:r>
            <a:endParaRPr lang="en-US" sz="1500" dirty="0"/>
          </a:p>
        </p:txBody>
      </p:sp>
      <p:sp>
        <p:nvSpPr>
          <p:cNvPr id="21" name="Text 18"/>
          <p:cNvSpPr txBox="1"/>
          <p:nvPr/>
        </p:nvSpPr>
        <p:spPr>
          <a:xfrm>
            <a:off x="8942832" y="3383280"/>
            <a:ext cx="1188720" cy="365760"/>
          </a:xfrm>
          <a:prstGeom prst="rect">
            <a:avLst/>
          </a:prstGeom>
          <a:noFill/>
        </p:spPr>
        <p:txBody>
          <a:bodyPr wrap="square" lIns="0" tIns="0" rIns="0" bIns="0" rtlCol="0" anchor="ctr"/>
          <a:lstStyle/>
          <a:p>
            <a:pPr marL="0" indent="0">
              <a:buNone/>
            </a:pPr>
            <a:r>
              <a:rPr lang="en-US" sz="15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&amp;copy;</a:t>
            </a:r>
            <a:endParaRPr lang="en-US" sz="1500" dirty="0"/>
          </a:p>
        </p:txBody>
      </p:sp>
      <p:sp>
        <p:nvSpPr>
          <p:cNvPr id="22" name="Text 19"/>
          <p:cNvSpPr txBox="1"/>
          <p:nvPr/>
        </p:nvSpPr>
        <p:spPr>
          <a:xfrm>
            <a:off x="10085832" y="3383280"/>
            <a:ext cx="1188720" cy="365760"/>
          </a:xfrm>
          <a:prstGeom prst="rect">
            <a:avLst/>
          </a:prstGeom>
          <a:noFill/>
        </p:spPr>
        <p:txBody>
          <a:bodyPr wrap="square" lIns="0" tIns="0" rIns="0" bIns="0" rtlCol="0" anchor="ctr"/>
          <a:lstStyle/>
          <a:p>
            <a:pPr marL="0" indent="0">
              <a:buNone/>
            </a:pPr>
            <a:r>
              <a:rPr lang="en-US" sz="1500" dirty="0">
                <a:solidFill>
                  <a:schemeClr val="tx1"/>
                </a:solidFill>
              </a:rPr>
              <a:t>→  ©</a:t>
            </a:r>
            <a:endParaRPr lang="en-US" sz="1500" dirty="0"/>
          </a:p>
        </p:txBody>
      </p:sp>
      <p:sp>
        <p:nvSpPr>
          <p:cNvPr id="23" name="Code panel"/>
          <p:cNvSpPr/>
          <p:nvPr/>
        </p:nvSpPr>
        <p:spPr>
          <a:xfrm>
            <a:off x="548640" y="4434840"/>
            <a:ext cx="11091672" cy="1783080"/>
          </a:xfrm>
          <a:prstGeom prst="roundRect">
            <a:avLst>
              <a:gd name="adj" fmla="val 5128"/>
            </a:avLst>
          </a:prstGeom>
          <a:solidFill>
            <a:schemeClr val="tx1"/>
          </a:solidFill>
          <a:ln w="6350">
            <a:solidFill>
              <a:schemeClr val="tx1"/>
            </a:solidFill>
            <a:prstDash val="solid"/>
          </a:ln>
        </p:spPr>
      </p:sp>
      <p:sp>
        <p:nvSpPr>
          <p:cNvPr id="24" name="Window dot"/>
          <p:cNvSpPr/>
          <p:nvPr/>
        </p:nvSpPr>
        <p:spPr>
          <a:xfrm>
            <a:off x="777240" y="4617720"/>
            <a:ext cx="118872" cy="118872"/>
          </a:xfrm>
          <a:prstGeom prst="ellipse">
            <a:avLst/>
          </a:prstGeom>
          <a:solidFill>
            <a:srgbClr val="FF5F56"/>
          </a:solidFill>
          <a:ln w="3175">
            <a:solidFill>
              <a:srgbClr val="FF5F56"/>
            </a:solidFill>
            <a:prstDash val="solid"/>
          </a:ln>
        </p:spPr>
      </p:sp>
      <p:sp>
        <p:nvSpPr>
          <p:cNvPr id="25" name="Window dot"/>
          <p:cNvSpPr/>
          <p:nvPr/>
        </p:nvSpPr>
        <p:spPr>
          <a:xfrm>
            <a:off x="960120" y="4617720"/>
            <a:ext cx="118872" cy="118872"/>
          </a:xfrm>
          <a:prstGeom prst="ellipse">
            <a:avLst/>
          </a:prstGeom>
          <a:solidFill>
            <a:srgbClr val="FFBD2E"/>
          </a:solidFill>
          <a:ln w="3175">
            <a:solidFill>
              <a:srgbClr val="FFBD2E"/>
            </a:solidFill>
            <a:prstDash val="solid"/>
          </a:ln>
        </p:spPr>
      </p:sp>
      <p:sp>
        <p:nvSpPr>
          <p:cNvPr id="26" name="Window dot"/>
          <p:cNvSpPr/>
          <p:nvPr/>
        </p:nvSpPr>
        <p:spPr>
          <a:xfrm>
            <a:off x="1143000" y="4617720"/>
            <a:ext cx="118872" cy="118872"/>
          </a:xfrm>
          <a:prstGeom prst="ellipse">
            <a:avLst/>
          </a:prstGeom>
          <a:solidFill>
            <a:srgbClr val="27C93F"/>
          </a:solidFill>
          <a:ln w="3175">
            <a:solidFill>
              <a:srgbClr val="27C93F"/>
            </a:solidFill>
            <a:prstDash val="solid"/>
          </a:ln>
        </p:spPr>
      </p:sp>
      <p:sp>
        <p:nvSpPr>
          <p:cNvPr id="27" name="Text 24"/>
          <p:cNvSpPr txBox="1"/>
          <p:nvPr/>
        </p:nvSpPr>
        <p:spPr>
          <a:xfrm>
            <a:off x="1417320" y="4572000"/>
            <a:ext cx="9994392"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entities.html</a:t>
            </a:r>
            <a:endParaRPr lang="en-US" sz="1000" dirty="0"/>
          </a:p>
        </p:txBody>
      </p:sp>
      <p:sp>
        <p:nvSpPr>
          <p:cNvPr id="28" name="Text 25"/>
          <p:cNvSpPr txBox="1"/>
          <p:nvPr/>
        </p:nvSpPr>
        <p:spPr>
          <a:xfrm>
            <a:off x="777240" y="4937760"/>
            <a:ext cx="10634472" cy="1143000"/>
          </a:xfrm>
          <a:prstGeom prst="rect">
            <a:avLst/>
          </a:prstGeom>
          <a:noFill/>
        </p:spPr>
        <p:txBody>
          <a:bodyPr wrap="square" lIns="0" tIns="0" rIns="0" bIns="0" rtlCol="0" anchor="t"/>
          <a:lstStyle/>
          <a:p>
            <a:pPr marL="0" indent="0">
              <a:buNone/>
            </a:pPr>
            <a:r>
              <a:rPr lang="en-US" sz="13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A comment: visible only in the source code --&gt;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Type &amp;lt;p&amp;gt; to start a paragraph. &amp;copy; 2026</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&lt;div</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I am a block</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&lt;/div</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&lt;span</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I am inline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&lt;/span</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7772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7772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&lt;a&gt;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Hyperlinks: The Anchor Tag</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links.html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External link in a new tab --&gt;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"https://www.w3.org"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target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"_blank"</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rel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"noopener"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W3C</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Internal link (relative path) --&gt;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"pages/about.html"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About Us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Jump to a section on the same page --&gt;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Go to 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&lt;h2</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Email and phone links --&gt;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"mailto:info@example.com"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Email us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"tel:+251000000000"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Call us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Key points card"/>
          <p:cNvSpPr/>
          <p:nvPr/>
        </p:nvSpPr>
        <p:spPr>
          <a:xfrm>
            <a:off x="7406640" y="1691640"/>
            <a:ext cx="4233672" cy="3154680"/>
          </a:xfrm>
          <a:prstGeom prst="roundRect">
            <a:avLst>
              <a:gd name="adj" fmla="val 2899"/>
            </a:avLst>
          </a:prstGeom>
          <a:solidFill>
            <a:schemeClr val="bg2"/>
          </a:solidFill>
          <a:ln w="6350">
            <a:solidFill>
              <a:schemeClr val="bg2"/>
            </a:solidFill>
            <a:prstDash val="solid"/>
          </a:ln>
        </p:spPr>
      </p:sp>
      <p:sp>
        <p:nvSpPr>
          <p:cNvPr id="13" name="Text 10"/>
          <p:cNvSpPr txBox="1"/>
          <p:nvPr/>
        </p:nvSpPr>
        <p:spPr>
          <a:xfrm>
            <a:off x="7635240" y="1828800"/>
            <a:ext cx="3794760" cy="320040"/>
          </a:xfrm>
          <a:prstGeom prst="rect">
            <a:avLst/>
          </a:prstGeom>
          <a:noFill/>
        </p:spPr>
        <p:txBody>
          <a:bodyPr wrap="square" lIns="0" tIns="0" rIns="0" bIns="0" rtlCol="0" anchor="ctr"/>
          <a:lstStyle/>
          <a:p>
            <a:pPr marL="0" indent="0">
              <a:buNone/>
            </a:pPr>
            <a:r>
              <a:rPr lang="en-US" sz="1700" b="1" dirty="0">
                <a:solidFill>
                  <a:schemeClr val="tx1"/>
                </a:solidFill>
              </a:rPr>
              <a:t>Key points</a:t>
            </a:r>
            <a:endParaRPr lang="en-US" sz="1700" dirty="0"/>
          </a:p>
        </p:txBody>
      </p:sp>
      <p:sp>
        <p:nvSpPr>
          <p:cNvPr id="14" name="Text 11"/>
          <p:cNvSpPr txBox="1"/>
          <p:nvPr/>
        </p:nvSpPr>
        <p:spPr>
          <a:xfrm>
            <a:off x="7635240" y="2240280"/>
            <a:ext cx="3794760" cy="251460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href </a:t>
            </a:r>
            <a:r>
              <a:rPr lang="en-US" sz="1400" dirty="0">
                <a:solidFill>
                  <a:schemeClr val="tx1"/>
                </a:solidFill>
              </a:rPr>
              <a:t>the destination address</a:t>
            </a:r>
            <a:endParaRPr lang="en-US" sz="1400" dirty="0"/>
          </a:p>
          <a:p>
            <a:pPr marL="0" indent="0">
              <a:spcAft>
                <a:spcPts val="700"/>
              </a:spcAft>
              <a:buNone/>
            </a:pPr>
            <a:r>
              <a:rPr lang="en-US" sz="1400" b="1" dirty="0">
                <a:solidFill>
                  <a:schemeClr val="tx1"/>
                </a:solidFill>
              </a:rPr>
              <a:t>Absolute </a:t>
            </a:r>
            <a:r>
              <a:rPr lang="en-US" sz="1400" dirty="0">
                <a:solidFill>
                  <a:schemeClr val="tx1"/>
                </a:solidFill>
              </a:rPr>
              <a:t>has full URL; relative uses a file path</a:t>
            </a:r>
            <a:endParaRPr lang="en-US" sz="1400" dirty="0"/>
          </a:p>
          <a:p>
            <a:pPr marL="0" indent="0">
              <a:spcAft>
                <a:spcPts val="700"/>
              </a:spcAft>
              <a:buNone/>
            </a:pPr>
            <a:r>
              <a:rPr lang="en-US" sz="1400" b="1" dirty="0">
                <a:solidFill>
                  <a:schemeClr val="tx1"/>
                </a:solidFill>
              </a:rPr>
              <a:t>target="_blank" </a:t>
            </a:r>
            <a:r>
              <a:rPr lang="en-US" sz="1400" dirty="0">
                <a:solidFill>
                  <a:schemeClr val="tx1"/>
                </a:solidFill>
              </a:rPr>
              <a:t>opens a new tab; add rel="noopener"</a:t>
            </a:r>
            <a:endParaRPr lang="en-US" sz="1400" dirty="0"/>
          </a:p>
          <a:p>
            <a:pPr marL="0" indent="0">
              <a:spcAft>
                <a:spcPts val="700"/>
              </a:spcAft>
              <a:buNone/>
            </a:pPr>
            <a:r>
              <a:rPr lang="en-US" sz="1400" b="1" dirty="0">
                <a:solidFill>
                  <a:schemeClr val="tx1"/>
                </a:solidFill>
              </a:rPr>
              <a:t>#id </a:t>
            </a:r>
            <a:r>
              <a:rPr lang="en-US" sz="1400" dirty="0">
                <a:solidFill>
                  <a:schemeClr val="tx1"/>
                </a:solidFill>
              </a:rPr>
              <a:t>jumps to an element on the page</a:t>
            </a:r>
            <a:endParaRPr lang="en-US" sz="1400" dirty="0"/>
          </a:p>
        </p:txBody>
      </p:sp>
      <p:sp>
        <p:nvSpPr>
          <p:cNvPr id="15" name="Note callout"/>
          <p:cNvSpPr/>
          <p:nvPr/>
        </p:nvSpPr>
        <p:spPr>
          <a:xfrm>
            <a:off x="7406640" y="5029200"/>
            <a:ext cx="4233672" cy="1188720"/>
          </a:xfrm>
          <a:prstGeom prst="roundRect">
            <a:avLst>
              <a:gd name="adj" fmla="val 7692"/>
            </a:avLst>
          </a:prstGeom>
          <a:solidFill>
            <a:schemeClr val="accent3">
              <a:alpha val="22000"/>
            </a:schemeClr>
          </a:solidFill>
          <a:ln w="12700">
            <a:solidFill>
              <a:schemeClr val="accent3"/>
            </a:solidFill>
            <a:prstDash val="solid"/>
          </a:ln>
        </p:spPr>
      </p:sp>
      <p:sp>
        <p:nvSpPr>
          <p:cNvPr id="16" name="Text 13"/>
          <p:cNvSpPr txBox="1"/>
          <p:nvPr/>
        </p:nvSpPr>
        <p:spPr>
          <a:xfrm>
            <a:off x="7589520" y="5120640"/>
            <a:ext cx="3867912" cy="1005840"/>
          </a:xfrm>
          <a:prstGeom prst="rect">
            <a:avLst/>
          </a:prstGeom>
          <a:noFill/>
        </p:spPr>
        <p:txBody>
          <a:bodyPr wrap="square" lIns="0" tIns="0" rIns="0" bIns="0" rtlCol="0" anchor="ctr"/>
          <a:lstStyle/>
          <a:p>
            <a:pPr marL="0" indent="0">
              <a:buNone/>
            </a:pPr>
            <a:r>
              <a:rPr lang="en-US" sz="1300" b="1" dirty="0">
                <a:solidFill>
                  <a:schemeClr val="tx1"/>
                </a:solidFill>
              </a:rPr>
              <a:t>Good link text  </a:t>
            </a:r>
            <a:r>
              <a:rPr lang="en-US" sz="1300" dirty="0">
                <a:solidFill>
                  <a:schemeClr val="tx1"/>
                </a:solidFill>
              </a:rPr>
              <a:t>Write "Download the syllabus", not "click here".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99060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99060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&lt;img&gt;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Images and Multimedia</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media.html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&lt;img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src</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"images/campus.jpg"</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alt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"Wollo University main campus"</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width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"400"</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height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"250"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&lt;figure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&lt;img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src</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"images/lab.jpg"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alt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"Computer lab"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&lt;figcaption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Figure 1: Computer lab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&lt;/figcaption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&lt;/figure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&lt;audio</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controls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src</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"sound/intro.mp3"</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&lt;/audio</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&lt;video</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controls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width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"400"</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poster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"thumb.jpg"</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&lt;source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src</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"video/demo.mp4"</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"video/mp4"</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Your browser does not support video.</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&lt;/video</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Key points card"/>
          <p:cNvSpPr/>
          <p:nvPr/>
        </p:nvSpPr>
        <p:spPr>
          <a:xfrm>
            <a:off x="7406640" y="1691640"/>
            <a:ext cx="4233672" cy="3154680"/>
          </a:xfrm>
          <a:prstGeom prst="roundRect">
            <a:avLst>
              <a:gd name="adj" fmla="val 2899"/>
            </a:avLst>
          </a:prstGeom>
          <a:solidFill>
            <a:schemeClr val="bg2"/>
          </a:solidFill>
          <a:ln w="6350">
            <a:solidFill>
              <a:schemeClr val="bg2"/>
            </a:solidFill>
            <a:prstDash val="solid"/>
          </a:ln>
        </p:spPr>
      </p:sp>
      <p:sp>
        <p:nvSpPr>
          <p:cNvPr id="13" name="Text 10"/>
          <p:cNvSpPr txBox="1"/>
          <p:nvPr/>
        </p:nvSpPr>
        <p:spPr>
          <a:xfrm>
            <a:off x="7635240" y="1828800"/>
            <a:ext cx="3794760" cy="320040"/>
          </a:xfrm>
          <a:prstGeom prst="rect">
            <a:avLst/>
          </a:prstGeom>
          <a:noFill/>
        </p:spPr>
        <p:txBody>
          <a:bodyPr wrap="square" lIns="0" tIns="0" rIns="0" bIns="0" rtlCol="0" anchor="ctr"/>
          <a:lstStyle/>
          <a:p>
            <a:pPr marL="0" indent="0">
              <a:buNone/>
            </a:pPr>
            <a:r>
              <a:rPr lang="en-US" sz="1700" b="1" dirty="0">
                <a:solidFill>
                  <a:schemeClr val="tx1"/>
                </a:solidFill>
              </a:rPr>
              <a:t>Key points</a:t>
            </a:r>
            <a:endParaRPr lang="en-US" sz="1700" dirty="0"/>
          </a:p>
        </p:txBody>
      </p:sp>
      <p:sp>
        <p:nvSpPr>
          <p:cNvPr id="14" name="Text 11"/>
          <p:cNvSpPr txBox="1"/>
          <p:nvPr/>
        </p:nvSpPr>
        <p:spPr>
          <a:xfrm>
            <a:off x="7635240" y="2240280"/>
            <a:ext cx="3794760" cy="251460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src and alt </a:t>
            </a:r>
            <a:r>
              <a:rPr lang="en-US" sz="1400" dirty="0">
                <a:solidFill>
                  <a:schemeClr val="tx1"/>
                </a:solidFill>
              </a:rPr>
              <a:t>are both required on every image</a:t>
            </a:r>
            <a:endParaRPr lang="en-US" sz="1400" dirty="0"/>
          </a:p>
          <a:p>
            <a:pPr marL="0" indent="0">
              <a:spcAft>
                <a:spcPts val="700"/>
              </a:spcAft>
              <a:buNone/>
            </a:pPr>
            <a:r>
              <a:rPr lang="en-US" sz="1400" b="1" dirty="0">
                <a:solidFill>
                  <a:schemeClr val="tx1"/>
                </a:solidFill>
              </a:rPr>
              <a:t>width / height </a:t>
            </a:r>
            <a:r>
              <a:rPr lang="en-US" sz="1400" dirty="0">
                <a:solidFill>
                  <a:schemeClr val="tx1"/>
                </a:solidFill>
              </a:rPr>
              <a:t>reserve space so the page does not jump</a:t>
            </a:r>
            <a:endParaRPr lang="en-US" sz="1400" dirty="0"/>
          </a:p>
          <a:p>
            <a:pPr marL="0" indent="0">
              <a:spcAft>
                <a:spcPts val="700"/>
              </a:spcAft>
              <a:buNone/>
            </a:pPr>
            <a:r>
              <a:rPr lang="en-US" sz="1400" b="1" dirty="0">
                <a:solidFill>
                  <a:schemeClr val="tx1"/>
                </a:solidFill>
              </a:rPr>
              <a:t>Formats: </a:t>
            </a:r>
            <a:r>
              <a:rPr lang="en-US" sz="1400" dirty="0">
                <a:solidFill>
                  <a:schemeClr val="tx1"/>
                </a:solidFill>
              </a:rPr>
              <a:t>JPG photos, PNG transparency, SVG icons, WebP</a:t>
            </a:r>
            <a:endParaRPr lang="en-US" sz="1400" dirty="0"/>
          </a:p>
          <a:p>
            <a:pPr marL="0" indent="0">
              <a:spcAft>
                <a:spcPts val="700"/>
              </a:spcAft>
              <a:buNone/>
            </a:pPr>
            <a:r>
              <a:rPr lang="en-US" sz="1400" b="1" dirty="0">
                <a:solidFill>
                  <a:schemeClr val="tx1"/>
                </a:solidFill>
              </a:rPr>
              <a:t>&lt;audio&gt; &lt;video&gt; </a:t>
            </a:r>
            <a:r>
              <a:rPr lang="en-US" sz="1400" dirty="0">
                <a:solidFill>
                  <a:schemeClr val="tx1"/>
                </a:solidFill>
              </a:rPr>
              <a:t>use controls for play buttons</a:t>
            </a:r>
            <a:endParaRPr lang="en-US" sz="1400" dirty="0"/>
          </a:p>
        </p:txBody>
      </p:sp>
      <p:sp>
        <p:nvSpPr>
          <p:cNvPr id="15" name="Note callout"/>
          <p:cNvSpPr/>
          <p:nvPr/>
        </p:nvSpPr>
        <p:spPr>
          <a:xfrm>
            <a:off x="7406640" y="5029200"/>
            <a:ext cx="4233672" cy="1188720"/>
          </a:xfrm>
          <a:prstGeom prst="roundRect">
            <a:avLst>
              <a:gd name="adj" fmla="val 7692"/>
            </a:avLst>
          </a:prstGeom>
          <a:solidFill>
            <a:schemeClr val="accent3">
              <a:alpha val="22000"/>
            </a:schemeClr>
          </a:solidFill>
          <a:ln w="12700">
            <a:solidFill>
              <a:schemeClr val="accent3"/>
            </a:solidFill>
            <a:prstDash val="solid"/>
          </a:ln>
        </p:spPr>
      </p:sp>
      <p:sp>
        <p:nvSpPr>
          <p:cNvPr id="16" name="Text 13"/>
          <p:cNvSpPr txBox="1"/>
          <p:nvPr/>
        </p:nvSpPr>
        <p:spPr>
          <a:xfrm>
            <a:off x="7589520" y="5120640"/>
            <a:ext cx="3867912" cy="1005840"/>
          </a:xfrm>
          <a:prstGeom prst="rect">
            <a:avLst/>
          </a:prstGeom>
          <a:noFill/>
        </p:spPr>
        <p:txBody>
          <a:bodyPr wrap="square" lIns="0" tIns="0" rIns="0" bIns="0" rtlCol="0" anchor="ctr"/>
          <a:lstStyle/>
          <a:p>
            <a:pPr marL="0" indent="0">
              <a:buNone/>
            </a:pPr>
            <a:r>
              <a:rPr lang="en-US" sz="1300" b="1" dirty="0">
                <a:solidFill>
                  <a:schemeClr val="tx1"/>
                </a:solidFill>
              </a:rPr>
              <a:t>Accessibility  </a:t>
            </a:r>
            <a:r>
              <a:rPr lang="en-US" sz="1300" dirty="0">
                <a:solidFill>
                  <a:schemeClr val="tx1"/>
                </a:solidFill>
              </a:rPr>
              <a:t>alt text is read aloud by screen readers and shown if the image fails.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88392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88392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&lt;ul&gt;</a:t>
            </a:r>
            <a:endParaRPr lang="en-US" sz="1400" dirty="0"/>
          </a:p>
        </p:txBody>
      </p:sp>
      <p:sp>
        <p:nvSpPr>
          <p:cNvPr id="4" name="Text 0"/>
          <p:cNvSpPr/>
          <p:nvPr>
            <p:ph type="title" idx="100" hasCustomPrompt="1"/>
          </p:nvPr>
        </p:nvSpPr>
        <p:spPr>
          <a:xfrm>
            <a:off x="1432560" y="164465"/>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HTML Lists</a:t>
            </a:r>
            <a:endParaRPr lang="en-US" sz="3200" dirty="0"/>
          </a:p>
        </p:txBody>
      </p:sp>
      <p:sp>
        <p:nvSpPr>
          <p:cNvPr id="6" name="Code panel"/>
          <p:cNvSpPr/>
          <p:nvPr/>
        </p:nvSpPr>
        <p:spPr>
          <a:xfrm>
            <a:off x="548640" y="932180"/>
            <a:ext cx="6583680" cy="550545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lists.html</a:t>
            </a:r>
            <a:endParaRPr lang="en-US" sz="1000" dirty="0"/>
          </a:p>
        </p:txBody>
      </p:sp>
      <p:sp>
        <p:nvSpPr>
          <p:cNvPr id="11" name="Text 8"/>
          <p:cNvSpPr txBox="1"/>
          <p:nvPr/>
        </p:nvSpPr>
        <p:spPr>
          <a:xfrm>
            <a:off x="777240" y="2194560"/>
            <a:ext cx="6126480" cy="4259580"/>
          </a:xfrm>
          <a:prstGeom prst="rect">
            <a:avLst/>
          </a:prstGeom>
          <a:noFill/>
        </p:spPr>
        <p:txBody>
          <a:bodyPr wrap="square" lIns="0" tIns="0" rIns="0" bIns="0" rtlCol="0" anchor="t"/>
          <a:lstStyle/>
          <a:p>
            <a:pPr marL="0" indent="0">
              <a:buNone/>
            </a:pPr>
            <a:r>
              <a:rPr lang="en-US" sz="14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Unordered list --&gt;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&lt;ul&gt;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HTML</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CSS</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JavaScript</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&lt;/ul&gt;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buNone/>
            </a:pPr>
            <a:r>
              <a:rPr lang="en-US" sz="14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Ordered list --&gt;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&lt;ol</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"1"</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start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"1"</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Plan</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Design</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Code</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&lt;/ol&gt;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buNone/>
            </a:pPr>
            <a:r>
              <a:rPr lang="en-US" sz="14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&lt;!-- Description list --&gt;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&lt;dl&gt;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&lt;dt&gt;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HTML</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&lt;/dt&gt;</a:t>
            </a:r>
            <a:endParaRPr lang="en-US" sz="1400" dirty="0"/>
          </a:p>
          <a:p>
            <a:pPr marL="0" indent="0">
              <a:buNone/>
            </a:pP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&lt;dd&gt;</a:t>
            </a:r>
            <a:r>
              <a:rPr lang="en-US" sz="14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Structure of a page</a:t>
            </a: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&lt;/dd&gt;</a:t>
            </a:r>
            <a:endParaRPr lang="en-US" sz="1400" dirty="0"/>
          </a:p>
          <a:p>
            <a:pPr marL="0" indent="0">
              <a:buNone/>
            </a:pPr>
            <a:r>
              <a:rPr lang="en-US" sz="14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&lt;/dl&gt;</a:t>
            </a:r>
            <a:endParaRPr lang="en-US" sz="1400" dirty="0"/>
          </a:p>
        </p:txBody>
      </p:sp>
      <p:sp>
        <p:nvSpPr>
          <p:cNvPr id="12" name="List demo card"/>
          <p:cNvSpPr/>
          <p:nvPr/>
        </p:nvSpPr>
        <p:spPr>
          <a:xfrm>
            <a:off x="7406640" y="1691640"/>
            <a:ext cx="4233672" cy="1051560"/>
          </a:xfrm>
          <a:prstGeom prst="roundRect">
            <a:avLst>
              <a:gd name="adj" fmla="val 8696"/>
            </a:avLst>
          </a:prstGeom>
          <a:solidFill>
            <a:schemeClr val="bg2"/>
          </a:solidFill>
          <a:ln w="6350">
            <a:solidFill>
              <a:schemeClr val="bg2"/>
            </a:solidFill>
            <a:prstDash val="solid"/>
          </a:ln>
        </p:spPr>
      </p:sp>
      <p:sp>
        <p:nvSpPr>
          <p:cNvPr id="13" name="Text 10"/>
          <p:cNvSpPr txBox="1"/>
          <p:nvPr/>
        </p:nvSpPr>
        <p:spPr>
          <a:xfrm>
            <a:off x="7589520" y="1783080"/>
            <a:ext cx="1737360" cy="868680"/>
          </a:xfrm>
          <a:prstGeom prst="rect">
            <a:avLst/>
          </a:prstGeom>
          <a:noFill/>
        </p:spPr>
        <p:txBody>
          <a:bodyPr wrap="square" lIns="0" tIns="0" rIns="0" bIns="0" rtlCol="0" anchor="t"/>
          <a:lstStyle/>
          <a:p>
            <a:pPr marL="0" indent="0">
              <a:buNone/>
            </a:pPr>
            <a:r>
              <a:rPr lang="en-US" sz="12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&lt;ul&gt;  bullets</a:t>
            </a:r>
            <a:endParaRPr lang="en-US" sz="1200" dirty="0"/>
          </a:p>
        </p:txBody>
      </p:sp>
      <p:sp>
        <p:nvSpPr>
          <p:cNvPr id="14" name="Text 11"/>
          <p:cNvSpPr txBox="1"/>
          <p:nvPr/>
        </p:nvSpPr>
        <p:spPr>
          <a:xfrm>
            <a:off x="9418320" y="1783080"/>
            <a:ext cx="2103120" cy="868680"/>
          </a:xfrm>
          <a:prstGeom prst="rect">
            <a:avLst/>
          </a:prstGeom>
          <a:noFill/>
        </p:spPr>
        <p:txBody>
          <a:bodyPr wrap="square" lIns="0" tIns="0" rIns="0" bIns="0" rtlCol="0" anchor="t"/>
          <a:lstStyle/>
          <a:p>
            <a:pPr marL="177800" indent="-177800">
              <a:buSzPct val="100000"/>
              <a:buChar char="•"/>
            </a:pPr>
            <a:r>
              <a:rPr lang="en-US" sz="1400" dirty="0">
                <a:solidFill>
                  <a:schemeClr val="tx1"/>
                </a:solidFill>
              </a:rPr>
              <a:t>HTML</a:t>
            </a:r>
            <a:endParaRPr lang="en-US" sz="1400" dirty="0"/>
          </a:p>
          <a:p>
            <a:pPr marL="177800" indent="-177800">
              <a:buSzPct val="100000"/>
              <a:buChar char="•"/>
            </a:pPr>
            <a:r>
              <a:rPr lang="en-US" sz="1400" dirty="0">
                <a:solidFill>
                  <a:schemeClr val="tx1"/>
                </a:solidFill>
              </a:rPr>
              <a:t>CSS</a:t>
            </a:r>
            <a:endParaRPr lang="en-US" sz="1400" dirty="0"/>
          </a:p>
          <a:p>
            <a:pPr marL="177800" indent="-177800">
              <a:buSzPct val="100000"/>
              <a:buChar char="•"/>
            </a:pPr>
            <a:r>
              <a:rPr lang="en-US" sz="1400" dirty="0">
                <a:solidFill>
                  <a:schemeClr val="tx1"/>
                </a:solidFill>
              </a:rPr>
              <a:t>JavaScript</a:t>
            </a:r>
            <a:endParaRPr lang="en-US" sz="1400" dirty="0"/>
          </a:p>
        </p:txBody>
      </p:sp>
      <p:sp>
        <p:nvSpPr>
          <p:cNvPr id="15" name="List demo card"/>
          <p:cNvSpPr/>
          <p:nvPr/>
        </p:nvSpPr>
        <p:spPr>
          <a:xfrm>
            <a:off x="7406640" y="2880360"/>
            <a:ext cx="4233672" cy="1051560"/>
          </a:xfrm>
          <a:prstGeom prst="roundRect">
            <a:avLst>
              <a:gd name="adj" fmla="val 8696"/>
            </a:avLst>
          </a:prstGeom>
          <a:solidFill>
            <a:schemeClr val="bg2"/>
          </a:solidFill>
          <a:ln w="6350">
            <a:solidFill>
              <a:schemeClr val="bg2"/>
            </a:solidFill>
            <a:prstDash val="solid"/>
          </a:ln>
        </p:spPr>
      </p:sp>
      <p:sp>
        <p:nvSpPr>
          <p:cNvPr id="16" name="Text 13"/>
          <p:cNvSpPr txBox="1"/>
          <p:nvPr/>
        </p:nvSpPr>
        <p:spPr>
          <a:xfrm>
            <a:off x="7589520" y="2971800"/>
            <a:ext cx="1737360" cy="868680"/>
          </a:xfrm>
          <a:prstGeom prst="rect">
            <a:avLst/>
          </a:prstGeom>
          <a:noFill/>
        </p:spPr>
        <p:txBody>
          <a:bodyPr wrap="square" lIns="0" tIns="0" rIns="0" bIns="0" rtlCol="0" anchor="t"/>
          <a:lstStyle/>
          <a:p>
            <a:pPr marL="0" indent="0">
              <a:buNone/>
            </a:pPr>
            <a:r>
              <a:rPr lang="en-US" sz="12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&lt;ol&gt;  numbers</a:t>
            </a:r>
            <a:endParaRPr lang="en-US" sz="1200" dirty="0"/>
          </a:p>
        </p:txBody>
      </p:sp>
      <p:sp>
        <p:nvSpPr>
          <p:cNvPr id="17" name="Text 14"/>
          <p:cNvSpPr txBox="1"/>
          <p:nvPr/>
        </p:nvSpPr>
        <p:spPr>
          <a:xfrm>
            <a:off x="9418320" y="2971800"/>
            <a:ext cx="2103120" cy="868680"/>
          </a:xfrm>
          <a:prstGeom prst="rect">
            <a:avLst/>
          </a:prstGeom>
          <a:noFill/>
        </p:spPr>
        <p:txBody>
          <a:bodyPr wrap="square" lIns="0" tIns="0" rIns="0" bIns="0" rtlCol="0" anchor="t"/>
          <a:lstStyle/>
          <a:p>
            <a:pPr marL="342900" indent="-342900">
              <a:buSzPct val="100000"/>
              <a:buFont typeface="+mj-lt"/>
              <a:buAutoNum type="arabicPeriod"/>
            </a:pPr>
            <a:r>
              <a:rPr lang="en-US" sz="1400" dirty="0">
                <a:solidFill>
                  <a:schemeClr val="tx1"/>
                </a:solidFill>
              </a:rPr>
              <a:t>Plan</a:t>
            </a:r>
            <a:endParaRPr lang="en-US" sz="1400" dirty="0"/>
          </a:p>
          <a:p>
            <a:pPr marL="342900" indent="-342900">
              <a:buSzPct val="100000"/>
              <a:buFont typeface="+mj-lt"/>
              <a:buAutoNum type="arabicPeriod"/>
            </a:pPr>
            <a:r>
              <a:rPr lang="en-US" sz="1400" dirty="0">
                <a:solidFill>
                  <a:schemeClr val="tx1"/>
                </a:solidFill>
              </a:rPr>
              <a:t>Design</a:t>
            </a:r>
            <a:endParaRPr lang="en-US" sz="1400" dirty="0"/>
          </a:p>
          <a:p>
            <a:pPr marL="342900" indent="-342900">
              <a:buSzPct val="100000"/>
              <a:buFont typeface="+mj-lt"/>
              <a:buAutoNum type="arabicPeriod"/>
            </a:pPr>
            <a:r>
              <a:rPr lang="en-US" sz="1400" dirty="0">
                <a:solidFill>
                  <a:schemeClr val="tx1"/>
                </a:solidFill>
              </a:rPr>
              <a:t>Code</a:t>
            </a:r>
            <a:endParaRPr lang="en-US" sz="1400" dirty="0"/>
          </a:p>
        </p:txBody>
      </p:sp>
      <p:sp>
        <p:nvSpPr>
          <p:cNvPr id="18" name="List demo card"/>
          <p:cNvSpPr/>
          <p:nvPr/>
        </p:nvSpPr>
        <p:spPr>
          <a:xfrm>
            <a:off x="7406640" y="4069080"/>
            <a:ext cx="4233672" cy="1051560"/>
          </a:xfrm>
          <a:prstGeom prst="roundRect">
            <a:avLst>
              <a:gd name="adj" fmla="val 8696"/>
            </a:avLst>
          </a:prstGeom>
          <a:solidFill>
            <a:schemeClr val="bg2"/>
          </a:solidFill>
          <a:ln w="6350">
            <a:solidFill>
              <a:schemeClr val="bg2"/>
            </a:solidFill>
            <a:prstDash val="solid"/>
          </a:ln>
        </p:spPr>
      </p:sp>
      <p:sp>
        <p:nvSpPr>
          <p:cNvPr id="19" name="Text 16"/>
          <p:cNvSpPr txBox="1"/>
          <p:nvPr/>
        </p:nvSpPr>
        <p:spPr>
          <a:xfrm>
            <a:off x="7589520" y="4160520"/>
            <a:ext cx="1737360" cy="868680"/>
          </a:xfrm>
          <a:prstGeom prst="rect">
            <a:avLst/>
          </a:prstGeom>
          <a:noFill/>
        </p:spPr>
        <p:txBody>
          <a:bodyPr wrap="square" lIns="0" tIns="0" rIns="0" bIns="0" rtlCol="0" anchor="t"/>
          <a:lstStyle/>
          <a:p>
            <a:pPr marL="0" indent="0">
              <a:buNone/>
            </a:pPr>
            <a:r>
              <a:rPr lang="en-US" sz="12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&lt;dl&gt;  terms</a:t>
            </a:r>
            <a:endParaRPr lang="en-US" sz="1200" dirty="0"/>
          </a:p>
        </p:txBody>
      </p:sp>
      <p:sp>
        <p:nvSpPr>
          <p:cNvPr id="20" name="Text 17"/>
          <p:cNvSpPr txBox="1"/>
          <p:nvPr/>
        </p:nvSpPr>
        <p:spPr>
          <a:xfrm>
            <a:off x="9418320" y="4160520"/>
            <a:ext cx="2103120" cy="868680"/>
          </a:xfrm>
          <a:prstGeom prst="rect">
            <a:avLst/>
          </a:prstGeom>
          <a:noFill/>
        </p:spPr>
        <p:txBody>
          <a:bodyPr wrap="square" lIns="0" tIns="0" rIns="0" bIns="0" rtlCol="0" anchor="t"/>
          <a:lstStyle/>
          <a:p>
            <a:pPr marL="0" indent="0">
              <a:buNone/>
            </a:pPr>
            <a:r>
              <a:rPr lang="en-US" sz="1400" b="1" dirty="0">
                <a:solidFill>
                  <a:schemeClr val="tx1"/>
                </a:solidFill>
              </a:rPr>
              <a:t>HTML</a:t>
            </a:r>
            <a:endParaRPr lang="en-US" sz="1400" dirty="0"/>
          </a:p>
          <a:p>
            <a:pPr marL="0" indent="0">
              <a:buNone/>
            </a:pPr>
            <a:r>
              <a:rPr lang="en-US" sz="1400" dirty="0">
                <a:solidFill>
                  <a:schemeClr val="tx1"/>
                </a:solidFill>
              </a:rPr>
              <a:t>Structure of a page</a:t>
            </a:r>
            <a:endParaRPr lang="en-US" sz="1400" dirty="0"/>
          </a:p>
        </p:txBody>
      </p:sp>
      <p:sp>
        <p:nvSpPr>
          <p:cNvPr id="21" name="Note callout"/>
          <p:cNvSpPr/>
          <p:nvPr/>
        </p:nvSpPr>
        <p:spPr>
          <a:xfrm>
            <a:off x="7406640" y="5257800"/>
            <a:ext cx="4233672" cy="960120"/>
          </a:xfrm>
          <a:prstGeom prst="roundRect">
            <a:avLst>
              <a:gd name="adj" fmla="val 9524"/>
            </a:avLst>
          </a:prstGeom>
          <a:solidFill>
            <a:schemeClr val="accent3">
              <a:alpha val="22000"/>
            </a:schemeClr>
          </a:solidFill>
          <a:ln w="12700">
            <a:solidFill>
              <a:schemeClr val="accent3"/>
            </a:solidFill>
            <a:prstDash val="solid"/>
          </a:ln>
        </p:spPr>
      </p:sp>
      <p:sp>
        <p:nvSpPr>
          <p:cNvPr id="22" name="Text 19"/>
          <p:cNvSpPr txBox="1"/>
          <p:nvPr/>
        </p:nvSpPr>
        <p:spPr>
          <a:xfrm>
            <a:off x="7589520" y="5349240"/>
            <a:ext cx="3867912" cy="777240"/>
          </a:xfrm>
          <a:prstGeom prst="rect">
            <a:avLst/>
          </a:prstGeom>
          <a:noFill/>
        </p:spPr>
        <p:txBody>
          <a:bodyPr wrap="square" lIns="0" tIns="0" rIns="0" bIns="0" rtlCol="0" anchor="ctr"/>
          <a:lstStyle/>
          <a:p>
            <a:pPr marL="0" indent="0">
              <a:buNone/>
            </a:pPr>
            <a:r>
              <a:rPr lang="en-US" sz="1300" b="1" dirty="0">
                <a:solidFill>
                  <a:schemeClr val="tx1"/>
                </a:solidFill>
              </a:rPr>
              <a:t>Nesting  </a:t>
            </a:r>
            <a:r>
              <a:rPr lang="en-US" sz="1300" dirty="0">
                <a:solidFill>
                  <a:schemeClr val="tx1"/>
                </a:solidFill>
              </a:rPr>
              <a:t>Put a whole &lt;ul&gt; inside an &lt;li&gt; to make sub-lists.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20396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20396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&lt;table&gt;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Creating Tables</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table.html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&lt;table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border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&lt;caption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Course Assessment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&lt;/caption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&lt;thead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Weight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&lt;/thead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&lt;tbody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Assignment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5%</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Quiz</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10%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Mid-Exam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20%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Project Work</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30%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Final Exam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35%</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&lt;/tbody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&lt;tfoot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Total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100%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&lt;/tfoot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&lt;/table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Text 9"/>
          <p:cNvSpPr txBox="1"/>
          <p:nvPr/>
        </p:nvSpPr>
        <p:spPr>
          <a:xfrm>
            <a:off x="7406640" y="1691640"/>
            <a:ext cx="4233672" cy="274320"/>
          </a:xfrm>
          <a:prstGeom prst="rect">
            <a:avLst/>
          </a:prstGeom>
          <a:noFill/>
        </p:spPr>
        <p:txBody>
          <a:bodyPr wrap="square" lIns="0" tIns="0" rIns="0" bIns="0" rtlCol="0" anchor="ctr"/>
          <a:lstStyle/>
          <a:p>
            <a:pPr marL="0" indent="0">
              <a:buNone/>
            </a:pPr>
            <a:r>
              <a:rPr lang="en-US" sz="1400" b="1" dirty="0">
                <a:solidFill>
                  <a:schemeClr val="tx1"/>
                </a:solidFill>
              </a:rPr>
              <a:t>Rendered result: Course Assessment</a:t>
            </a:r>
            <a:endParaRPr lang="en-US" sz="1400" dirty="0"/>
          </a:p>
        </p:txBody>
      </p:sp>
      <p:graphicFrame>
        <p:nvGraphicFramePr>
          <p:cNvPr id="14" name="Rendered table"/>
          <p:cNvGraphicFramePr>
            <a:graphicFrameLocks noGrp="1"/>
          </p:cNvGraphicFramePr>
          <p:nvPr/>
        </p:nvGraphicFramePr>
        <p:xfrm>
          <a:off x="7406640" y="2057400"/>
          <a:ext cx="4233672" cy="2560320"/>
        </p:xfrm>
        <a:graphic>
          <a:graphicData uri="http://schemas.openxmlformats.org/drawingml/2006/table">
            <a:tbl>
              <a:tblPr/>
              <a:tblGrid>
                <a:gridCol w="2651760"/>
                <a:gridCol w="1581912"/>
              </a:tblGrid>
              <a:tr h="365760">
                <a:tc>
                  <a:txBody>
                    <a:bodyPr/>
                    <a:lstStyle/>
                    <a:p>
                      <a:pPr marL="0" indent="0" algn="l">
                        <a:buNone/>
                      </a:pPr>
                      <a:r>
                        <a:rPr lang="en-US" sz="1300" b="1" dirty="0">
                          <a:solidFill>
                            <a:schemeClr val="bg1"/>
                          </a:solidFill>
                        </a:rPr>
                        <a:t>Type</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a:txBody>
                    <a:bodyPr/>
                    <a:lstStyle/>
                    <a:p>
                      <a:pPr marL="0" indent="0" algn="l">
                        <a:buNone/>
                      </a:pPr>
                      <a:r>
                        <a:rPr lang="en-US" sz="1300" b="1" dirty="0">
                          <a:solidFill>
                            <a:schemeClr val="bg1"/>
                          </a:solidFill>
                        </a:rPr>
                        <a:t>Weight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r>
              <a:tr h="365760">
                <a:tc>
                  <a:txBody>
                    <a:bodyPr/>
                    <a:lstStyle/>
                    <a:p>
                      <a:pPr marL="0" indent="0">
                        <a:buNone/>
                      </a:pPr>
                      <a:r>
                        <a:rPr lang="en-US" sz="1300" dirty="0">
                          <a:solidFill>
                            <a:schemeClr val="tx1"/>
                          </a:solidFill>
                        </a:rPr>
                        <a:t>Assignment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5%</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365760">
                <a:tc>
                  <a:txBody>
                    <a:bodyPr/>
                    <a:lstStyle/>
                    <a:p>
                      <a:pPr marL="0" indent="0">
                        <a:buNone/>
                      </a:pPr>
                      <a:r>
                        <a:rPr lang="en-US" sz="1300" dirty="0">
                          <a:solidFill>
                            <a:schemeClr val="tx1"/>
                          </a:solidFill>
                        </a:rPr>
                        <a:t>Quiz</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10%</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365760">
                <a:tc>
                  <a:txBody>
                    <a:bodyPr/>
                    <a:lstStyle/>
                    <a:p>
                      <a:pPr marL="0" indent="0">
                        <a:buNone/>
                      </a:pPr>
                      <a:r>
                        <a:rPr lang="en-US" sz="1300" dirty="0">
                          <a:solidFill>
                            <a:schemeClr val="tx1"/>
                          </a:solidFill>
                        </a:rPr>
                        <a:t>Mid-Exam</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20%</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365760">
                <a:tc>
                  <a:txBody>
                    <a:bodyPr/>
                    <a:lstStyle/>
                    <a:p>
                      <a:pPr marL="0" indent="0">
                        <a:buNone/>
                      </a:pPr>
                      <a:r>
                        <a:rPr lang="en-US" sz="1300" dirty="0">
                          <a:solidFill>
                            <a:schemeClr val="tx1"/>
                          </a:solidFill>
                        </a:rPr>
                        <a:t>Project Work</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30%</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365760">
                <a:tc>
                  <a:txBody>
                    <a:bodyPr/>
                    <a:lstStyle/>
                    <a:p>
                      <a:pPr marL="0" indent="0">
                        <a:buNone/>
                      </a:pPr>
                      <a:r>
                        <a:rPr lang="en-US" sz="1300" dirty="0">
                          <a:solidFill>
                            <a:schemeClr val="tx1"/>
                          </a:solidFill>
                        </a:rPr>
                        <a:t>Final Exam</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35%</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365760">
                <a:tc>
                  <a:txBody>
                    <a:bodyPr/>
                    <a:lstStyle/>
                    <a:p>
                      <a:pPr marL="0" indent="0">
                        <a:buNone/>
                      </a:pPr>
                      <a:r>
                        <a:rPr lang="en-US" sz="1300" b="1" dirty="0">
                          <a:solidFill>
                            <a:schemeClr val="tx1"/>
                          </a:solidFill>
                        </a:rPr>
                        <a:t>Total</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bg2"/>
                    </a:solidFill>
                  </a:tcPr>
                </a:tc>
                <a:tc>
                  <a:txBody>
                    <a:bodyPr/>
                    <a:lstStyle/>
                    <a:p>
                      <a:pPr marL="0" indent="0">
                        <a:buNone/>
                      </a:pPr>
                      <a:r>
                        <a:rPr lang="en-US" sz="1300" b="1" dirty="0">
                          <a:solidFill>
                            <a:schemeClr val="tx1"/>
                          </a:solidFill>
                        </a:rPr>
                        <a:t>100%</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bg2"/>
                    </a:solidFill>
                  </a:tcPr>
                </a:tc>
              </a:tr>
            </a:tbl>
          </a:graphicData>
        </a:graphic>
      </p:graphicFrame>
      <p:sp>
        <p:nvSpPr>
          <p:cNvPr id="5" name="Table tags key"/>
          <p:cNvSpPr/>
          <p:nvPr/>
        </p:nvSpPr>
        <p:spPr>
          <a:xfrm>
            <a:off x="7406640" y="4846320"/>
            <a:ext cx="4233672" cy="1371600"/>
          </a:xfrm>
          <a:prstGeom prst="roundRect">
            <a:avLst>
              <a:gd name="adj" fmla="val 6667"/>
            </a:avLst>
          </a:prstGeom>
          <a:solidFill>
            <a:schemeClr val="bg2"/>
          </a:solidFill>
          <a:ln w="6350">
            <a:solidFill>
              <a:schemeClr val="bg2"/>
            </a:solidFill>
            <a:prstDash val="solid"/>
          </a:ln>
        </p:spPr>
      </p:sp>
      <p:sp>
        <p:nvSpPr>
          <p:cNvPr id="15" name="Text 11"/>
          <p:cNvSpPr txBox="1"/>
          <p:nvPr/>
        </p:nvSpPr>
        <p:spPr>
          <a:xfrm>
            <a:off x="7635240" y="4983480"/>
            <a:ext cx="3794760" cy="109728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&lt;tr&gt; </a:t>
            </a:r>
            <a:r>
              <a:rPr lang="en-US" sz="1400" dirty="0">
                <a:solidFill>
                  <a:schemeClr val="tx1"/>
                </a:solidFill>
              </a:rPr>
              <a:t>table row</a:t>
            </a:r>
            <a:endParaRPr lang="en-US" sz="1400" dirty="0"/>
          </a:p>
          <a:p>
            <a:pPr marL="0" indent="0">
              <a:spcAft>
                <a:spcPts val="700"/>
              </a:spcAft>
              <a:buNone/>
            </a:pPr>
            <a:r>
              <a:rPr lang="en-US" sz="1400" b="1" dirty="0">
                <a:solidFill>
                  <a:schemeClr val="tx1"/>
                </a:solidFill>
              </a:rPr>
              <a:t>&lt;th&gt; </a:t>
            </a:r>
            <a:r>
              <a:rPr lang="en-US" sz="1400" dirty="0">
                <a:solidFill>
                  <a:schemeClr val="tx1"/>
                </a:solidFill>
              </a:rPr>
              <a:t>header cell (bold, centred)</a:t>
            </a:r>
            <a:endParaRPr lang="en-US" sz="1400" dirty="0"/>
          </a:p>
          <a:p>
            <a:pPr marL="0" indent="0">
              <a:spcAft>
                <a:spcPts val="700"/>
              </a:spcAft>
              <a:buNone/>
            </a:pPr>
            <a:r>
              <a:rPr lang="en-US" sz="1400" b="1" dirty="0">
                <a:solidFill>
                  <a:schemeClr val="tx1"/>
                </a:solidFill>
              </a:rPr>
              <a:t>&lt;td&gt; </a:t>
            </a:r>
            <a:r>
              <a:rPr lang="en-US" sz="1400" dirty="0">
                <a:solidFill>
                  <a:schemeClr val="tx1"/>
                </a:solidFill>
              </a:rPr>
              <a:t>data cell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88392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88392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&lt;td&gt;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Advanced Tables: Merging Cells</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merge.html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&lt;table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rowspan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Day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colspan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Lab Session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scope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Morning</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scope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Afternoon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&lt;/th</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HTML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CSS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Tue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JS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Git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&lt;/table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Text 9"/>
          <p:cNvSpPr txBox="1"/>
          <p:nvPr/>
        </p:nvSpPr>
        <p:spPr>
          <a:xfrm>
            <a:off x="7406640" y="1691640"/>
            <a:ext cx="4233672" cy="274320"/>
          </a:xfrm>
          <a:prstGeom prst="rect">
            <a:avLst/>
          </a:prstGeom>
          <a:noFill/>
        </p:spPr>
        <p:txBody>
          <a:bodyPr wrap="square" lIns="0" tIns="0" rIns="0" bIns="0" rtlCol="0" anchor="ctr"/>
          <a:lstStyle/>
          <a:p>
            <a:pPr marL="0" indent="0">
              <a:buNone/>
            </a:pPr>
            <a:r>
              <a:rPr lang="en-US" sz="1400" b="1" dirty="0">
                <a:solidFill>
                  <a:schemeClr val="tx1"/>
                </a:solidFill>
              </a:rPr>
              <a:t>Rendered result: merged cells</a:t>
            </a:r>
            <a:endParaRPr lang="en-US" sz="1400" dirty="0"/>
          </a:p>
        </p:txBody>
      </p:sp>
      <p:graphicFrame>
        <p:nvGraphicFramePr>
          <p:cNvPr id="15" name="Merged table"/>
          <p:cNvGraphicFramePr>
            <a:graphicFrameLocks noGrp="1"/>
          </p:cNvGraphicFramePr>
          <p:nvPr/>
        </p:nvGraphicFramePr>
        <p:xfrm>
          <a:off x="7406640" y="2057400"/>
          <a:ext cx="4233672" cy="1828800"/>
        </p:xfrm>
        <a:graphic>
          <a:graphicData uri="http://schemas.openxmlformats.org/drawingml/2006/table">
            <a:tbl>
              <a:tblPr/>
              <a:tblGrid>
                <a:gridCol w="1124712"/>
                <a:gridCol w="1554480"/>
                <a:gridCol w="1554480"/>
              </a:tblGrid>
              <a:tr h="457200">
                <a:tc rowSpan="2">
                  <a:txBody>
                    <a:bodyPr/>
                    <a:lstStyle/>
                    <a:p>
                      <a:pPr marL="0" indent="0" algn="ctr">
                        <a:buNone/>
                      </a:pPr>
                      <a:r>
                        <a:rPr lang="en-US" sz="1300" b="1" dirty="0">
                          <a:solidFill>
                            <a:schemeClr val="bg1"/>
                          </a:solidFill>
                        </a:rPr>
                        <a:t>Day</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gridSpan="2">
                  <a:txBody>
                    <a:bodyPr/>
                    <a:lstStyle/>
                    <a:p>
                      <a:pPr marL="0" indent="0" algn="ctr">
                        <a:buNone/>
                      </a:pPr>
                      <a:r>
                        <a:rPr lang="en-US" sz="1300" b="1" dirty="0">
                          <a:solidFill>
                            <a:schemeClr val="bg1"/>
                          </a:solidFill>
                        </a:rPr>
                        <a:t>Lab Session</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hMerge="1">
                  <a:tcPr/>
                </a:tc>
              </a:tr>
              <a:tr h="457200">
                <a:tc vMerge="1">
                  <a:tcPr/>
                </a:tc>
                <a:tc>
                  <a:txBody>
                    <a:bodyPr/>
                    <a:lstStyle/>
                    <a:p>
                      <a:pPr marL="0" indent="0" algn="ctr">
                        <a:buNone/>
                      </a:pPr>
                      <a:r>
                        <a:rPr lang="en-US" sz="1300" b="1" dirty="0">
                          <a:solidFill>
                            <a:schemeClr val="bg1"/>
                          </a:solidFill>
                        </a:rPr>
                        <a:t>Morning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bg1"/>
                          </a:solidFill>
                        </a:rPr>
                        <a:t>Afternoon</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r>
              <a:tr h="457200">
                <a:tc>
                  <a:txBody>
                    <a:bodyPr/>
                    <a:lstStyle/>
                    <a:p>
                      <a:pPr marL="0" indent="0">
                        <a:buNone/>
                      </a:pPr>
                      <a:r>
                        <a:rPr lang="en-US" sz="1300" dirty="0">
                          <a:solidFill>
                            <a:schemeClr val="tx1"/>
                          </a:solidFill>
                        </a:rPr>
                        <a:t>Mon</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HTML</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CSS</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57200">
                <a:tc>
                  <a:txBody>
                    <a:bodyPr/>
                    <a:lstStyle/>
                    <a:p>
                      <a:pPr marL="0" indent="0">
                        <a:buNone/>
                      </a:pPr>
                      <a:r>
                        <a:rPr lang="en-US" sz="1300" dirty="0">
                          <a:solidFill>
                            <a:schemeClr val="tx1"/>
                          </a:solidFill>
                        </a:rPr>
                        <a:t>Tue</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JS</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Git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bl>
          </a:graphicData>
        </a:graphic>
      </p:graphicFrame>
      <p:sp>
        <p:nvSpPr>
          <p:cNvPr id="14" name="Merge key"/>
          <p:cNvSpPr/>
          <p:nvPr/>
        </p:nvSpPr>
        <p:spPr>
          <a:xfrm>
            <a:off x="7406640" y="4114800"/>
            <a:ext cx="4233672" cy="1188720"/>
          </a:xfrm>
          <a:prstGeom prst="roundRect">
            <a:avLst>
              <a:gd name="adj" fmla="val 7692"/>
            </a:avLst>
          </a:prstGeom>
          <a:solidFill>
            <a:schemeClr val="bg2"/>
          </a:solidFill>
          <a:ln w="6350">
            <a:solidFill>
              <a:schemeClr val="bg2"/>
            </a:solidFill>
            <a:prstDash val="solid"/>
          </a:ln>
        </p:spPr>
      </p:sp>
      <p:sp>
        <p:nvSpPr>
          <p:cNvPr id="5" name="Text 11"/>
          <p:cNvSpPr txBox="1"/>
          <p:nvPr/>
        </p:nvSpPr>
        <p:spPr>
          <a:xfrm>
            <a:off x="7635240" y="4251960"/>
            <a:ext cx="3794760" cy="91440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colspan </a:t>
            </a:r>
            <a:r>
              <a:rPr lang="en-US" sz="1400" dirty="0">
                <a:solidFill>
                  <a:schemeClr val="tx1"/>
                </a:solidFill>
              </a:rPr>
              <a:t>merges cells across columns</a:t>
            </a:r>
            <a:endParaRPr lang="en-US" sz="1400" dirty="0"/>
          </a:p>
          <a:p>
            <a:pPr marL="0" indent="0">
              <a:spcAft>
                <a:spcPts val="700"/>
              </a:spcAft>
              <a:buNone/>
            </a:pPr>
            <a:r>
              <a:rPr lang="en-US" sz="1400" b="1" dirty="0">
                <a:solidFill>
                  <a:schemeClr val="tx1"/>
                </a:solidFill>
              </a:rPr>
              <a:t>rowspan </a:t>
            </a:r>
            <a:r>
              <a:rPr lang="en-US" sz="1400" dirty="0">
                <a:solidFill>
                  <a:schemeClr val="tx1"/>
                </a:solidFill>
              </a:rPr>
              <a:t>merges cells down rows</a:t>
            </a:r>
            <a:endParaRPr lang="en-US" sz="1400" dirty="0"/>
          </a:p>
        </p:txBody>
      </p:sp>
      <p:sp>
        <p:nvSpPr>
          <p:cNvPr id="16" name="Note callout"/>
          <p:cNvSpPr/>
          <p:nvPr/>
        </p:nvSpPr>
        <p:spPr>
          <a:xfrm>
            <a:off x="7406640" y="5486400"/>
            <a:ext cx="4233672" cy="731520"/>
          </a:xfrm>
          <a:prstGeom prst="roundRect">
            <a:avLst>
              <a:gd name="adj" fmla="val 12500"/>
            </a:avLst>
          </a:prstGeom>
          <a:solidFill>
            <a:schemeClr val="accent3">
              <a:alpha val="22000"/>
            </a:schemeClr>
          </a:solidFill>
          <a:ln w="12700">
            <a:solidFill>
              <a:schemeClr val="accent3"/>
            </a:solidFill>
            <a:prstDash val="solid"/>
          </a:ln>
        </p:spPr>
      </p:sp>
      <p:sp>
        <p:nvSpPr>
          <p:cNvPr id="17" name="Text 13"/>
          <p:cNvSpPr txBox="1"/>
          <p:nvPr/>
        </p:nvSpPr>
        <p:spPr>
          <a:xfrm>
            <a:off x="7589520" y="5577840"/>
            <a:ext cx="3867912" cy="548640"/>
          </a:xfrm>
          <a:prstGeom prst="rect">
            <a:avLst/>
          </a:prstGeom>
          <a:noFill/>
        </p:spPr>
        <p:txBody>
          <a:bodyPr wrap="square" lIns="0" tIns="0" rIns="0" bIns="0" rtlCol="0" anchor="ctr"/>
          <a:lstStyle/>
          <a:p>
            <a:pPr marL="0" indent="0">
              <a:buNone/>
            </a:pPr>
            <a:r>
              <a:rPr lang="en-US" sz="1300" b="1" dirty="0">
                <a:solidFill>
                  <a:schemeClr val="tx1"/>
                </a:solidFill>
              </a:rPr>
              <a:t>Rule  </a:t>
            </a:r>
            <a:r>
              <a:rPr lang="en-US" sz="1300" dirty="0">
                <a:solidFill>
                  <a:schemeClr val="tx1"/>
                </a:solidFill>
              </a:rPr>
              <a:t>Tables hold data; use CSS for layout.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09728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09728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&lt;form&gt;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HTML Forms: Collecting Data</a:t>
            </a:r>
            <a:endParaRPr lang="en-US" sz="3200" dirty="0"/>
          </a:p>
        </p:txBody>
      </p:sp>
      <p:sp>
        <p:nvSpPr>
          <p:cNvPr id="6" name="Code panel"/>
          <p:cNvSpPr/>
          <p:nvPr/>
        </p:nvSpPr>
        <p:spPr>
          <a:xfrm>
            <a:off x="548640" y="1691640"/>
            <a:ext cx="5852160" cy="2697480"/>
          </a:xfrm>
          <a:prstGeom prst="roundRect">
            <a:avLst>
              <a:gd name="adj" fmla="val 339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475488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form.html</a:t>
            </a:r>
            <a:endParaRPr lang="en-US" sz="1000" dirty="0"/>
          </a:p>
        </p:txBody>
      </p:sp>
      <p:sp>
        <p:nvSpPr>
          <p:cNvPr id="11" name="Text 8"/>
          <p:cNvSpPr txBox="1"/>
          <p:nvPr/>
        </p:nvSpPr>
        <p:spPr>
          <a:xfrm>
            <a:off x="777240" y="2194560"/>
            <a:ext cx="5394960" cy="2057400"/>
          </a:xfrm>
          <a:prstGeom prst="rect">
            <a:avLst/>
          </a:prstGeom>
          <a:noFill/>
        </p:spPr>
        <p:txBody>
          <a:bodyPr wrap="square" lIns="0" tIns="0" rIns="0" bIns="0" rtlCol="0" anchor="t"/>
          <a:lstStyle/>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&lt;form</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"/register"</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method</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"post"</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for</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Full name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"text"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buNone/>
            </a:pP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&lt;button</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"submit"</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Send</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&lt;/button</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&lt;/form</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p:txBody>
      </p:sp>
      <p:sp>
        <p:nvSpPr>
          <p:cNvPr id="12" name="Method card"/>
          <p:cNvSpPr/>
          <p:nvPr/>
        </p:nvSpPr>
        <p:spPr>
          <a:xfrm>
            <a:off x="6629400" y="1691640"/>
            <a:ext cx="2423160" cy="2697480"/>
          </a:xfrm>
          <a:prstGeom prst="roundRect">
            <a:avLst>
              <a:gd name="adj" fmla="val 3774"/>
            </a:avLst>
          </a:prstGeom>
          <a:solidFill>
            <a:schemeClr val="bg2"/>
          </a:solidFill>
          <a:ln w="6350">
            <a:solidFill>
              <a:schemeClr val="bg2"/>
            </a:solidFill>
            <a:prstDash val="solid"/>
          </a:ln>
        </p:spPr>
      </p:sp>
      <p:sp>
        <p:nvSpPr>
          <p:cNvPr id="13" name="Text 10"/>
          <p:cNvSpPr txBox="1"/>
          <p:nvPr/>
        </p:nvSpPr>
        <p:spPr>
          <a:xfrm>
            <a:off x="6812280" y="1801368"/>
            <a:ext cx="2011680" cy="365760"/>
          </a:xfrm>
          <a:prstGeom prst="rect">
            <a:avLst/>
          </a:prstGeom>
          <a:noFill/>
        </p:spPr>
        <p:txBody>
          <a:bodyPr wrap="square" lIns="0" tIns="0" rIns="0" bIns="0" rtlCol="0" anchor="ctr"/>
          <a:lstStyle/>
          <a:p>
            <a:pPr marL="0" indent="0">
              <a:buNone/>
            </a:pPr>
            <a:r>
              <a:rPr lang="en-US" sz="20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GET</a:t>
            </a:r>
            <a:endParaRPr lang="en-US" sz="2000" dirty="0"/>
          </a:p>
        </p:txBody>
      </p:sp>
      <p:sp>
        <p:nvSpPr>
          <p:cNvPr id="14" name="Text 11"/>
          <p:cNvSpPr txBox="1"/>
          <p:nvPr/>
        </p:nvSpPr>
        <p:spPr>
          <a:xfrm>
            <a:off x="6812280" y="2286000"/>
            <a:ext cx="2103120" cy="2011680"/>
          </a:xfrm>
          <a:prstGeom prst="rect">
            <a:avLst/>
          </a:prstGeom>
          <a:noFill/>
        </p:spPr>
        <p:txBody>
          <a:bodyPr wrap="square" lIns="0" tIns="0" rIns="0" bIns="0" rtlCol="0" anchor="t"/>
          <a:lstStyle/>
          <a:p>
            <a:pPr marL="177800" indent="-177800">
              <a:spcAft>
                <a:spcPts val="700"/>
              </a:spcAft>
              <a:buSzPct val="100000"/>
              <a:buChar char="•"/>
            </a:pPr>
            <a:r>
              <a:rPr lang="en-US" sz="1400" dirty="0">
                <a:solidFill>
                  <a:schemeClr val="tx1"/>
                </a:solidFill>
              </a:rPr>
              <a:t>Data added to the URL</a:t>
            </a:r>
            <a:endParaRPr lang="en-US" sz="1400" dirty="0"/>
          </a:p>
          <a:p>
            <a:pPr marL="177800" indent="-177800">
              <a:spcAft>
                <a:spcPts val="700"/>
              </a:spcAft>
              <a:buSzPct val="100000"/>
              <a:buChar char="•"/>
            </a:pPr>
            <a:r>
              <a:rPr lang="en-US" sz="1400" dirty="0">
                <a:solidFill>
                  <a:schemeClr val="tx1"/>
                </a:solidFill>
              </a:rPr>
              <a:t>Visible and bookmarkable</a:t>
            </a:r>
            <a:endParaRPr lang="en-US" sz="1400" dirty="0"/>
          </a:p>
          <a:p>
            <a:pPr marL="177800" indent="-177800">
              <a:spcAft>
                <a:spcPts val="700"/>
              </a:spcAft>
              <a:buSzPct val="100000"/>
              <a:buChar char="•"/>
            </a:pPr>
            <a:r>
              <a:rPr lang="en-US" sz="1400" dirty="0">
                <a:solidFill>
                  <a:schemeClr val="tx1"/>
                </a:solidFill>
              </a:rPr>
              <a:t>Use for searches</a:t>
            </a:r>
            <a:endParaRPr lang="en-US" sz="1400" dirty="0"/>
          </a:p>
        </p:txBody>
      </p:sp>
      <p:sp>
        <p:nvSpPr>
          <p:cNvPr id="15" name="Method card"/>
          <p:cNvSpPr/>
          <p:nvPr/>
        </p:nvSpPr>
        <p:spPr>
          <a:xfrm>
            <a:off x="9189720" y="1691640"/>
            <a:ext cx="2423160" cy="2697480"/>
          </a:xfrm>
          <a:prstGeom prst="roundRect">
            <a:avLst>
              <a:gd name="adj" fmla="val 3774"/>
            </a:avLst>
          </a:prstGeom>
          <a:solidFill>
            <a:schemeClr val="bg2"/>
          </a:solidFill>
          <a:ln w="6350">
            <a:solidFill>
              <a:schemeClr val="bg2"/>
            </a:solidFill>
            <a:prstDash val="solid"/>
          </a:ln>
        </p:spPr>
      </p:sp>
      <p:sp>
        <p:nvSpPr>
          <p:cNvPr id="16" name="Text 13"/>
          <p:cNvSpPr txBox="1"/>
          <p:nvPr/>
        </p:nvSpPr>
        <p:spPr>
          <a:xfrm>
            <a:off x="9372600" y="1801368"/>
            <a:ext cx="2011680" cy="365760"/>
          </a:xfrm>
          <a:prstGeom prst="rect">
            <a:avLst/>
          </a:prstGeom>
          <a:noFill/>
        </p:spPr>
        <p:txBody>
          <a:bodyPr wrap="square" lIns="0" tIns="0" rIns="0" bIns="0" rtlCol="0" anchor="ctr"/>
          <a:lstStyle/>
          <a:p>
            <a:pPr marL="0" indent="0">
              <a:buNone/>
            </a:pPr>
            <a:r>
              <a:rPr lang="en-US" sz="20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POST</a:t>
            </a:r>
            <a:endParaRPr lang="en-US" sz="2000" dirty="0"/>
          </a:p>
        </p:txBody>
      </p:sp>
      <p:sp>
        <p:nvSpPr>
          <p:cNvPr id="17" name="Text 14"/>
          <p:cNvSpPr txBox="1"/>
          <p:nvPr/>
        </p:nvSpPr>
        <p:spPr>
          <a:xfrm>
            <a:off x="9372600" y="2286000"/>
            <a:ext cx="2103120" cy="2011680"/>
          </a:xfrm>
          <a:prstGeom prst="rect">
            <a:avLst/>
          </a:prstGeom>
          <a:noFill/>
        </p:spPr>
        <p:txBody>
          <a:bodyPr wrap="square" lIns="0" tIns="0" rIns="0" bIns="0" rtlCol="0" anchor="t"/>
          <a:lstStyle/>
          <a:p>
            <a:pPr marL="177800" indent="-177800">
              <a:spcAft>
                <a:spcPts val="700"/>
              </a:spcAft>
              <a:buSzPct val="100000"/>
              <a:buChar char="•"/>
            </a:pPr>
            <a:r>
              <a:rPr lang="en-US" sz="1400" dirty="0">
                <a:solidFill>
                  <a:schemeClr val="tx1"/>
                </a:solidFill>
              </a:rPr>
              <a:t>Data sent in the body</a:t>
            </a:r>
            <a:endParaRPr lang="en-US" sz="1400" dirty="0"/>
          </a:p>
          <a:p>
            <a:pPr marL="177800" indent="-177800">
              <a:spcAft>
                <a:spcPts val="700"/>
              </a:spcAft>
              <a:buSzPct val="100000"/>
              <a:buChar char="•"/>
            </a:pPr>
            <a:r>
              <a:rPr lang="en-US" sz="1400" dirty="0">
                <a:solidFill>
                  <a:schemeClr val="tx1"/>
                </a:solidFill>
              </a:rPr>
              <a:t>Not shown in the URL</a:t>
            </a:r>
            <a:endParaRPr lang="en-US" sz="1400" dirty="0"/>
          </a:p>
          <a:p>
            <a:pPr marL="177800" indent="-177800">
              <a:spcAft>
                <a:spcPts val="700"/>
              </a:spcAft>
              <a:buSzPct val="100000"/>
              <a:buChar char="•"/>
            </a:pPr>
            <a:r>
              <a:rPr lang="en-US" sz="1400" dirty="0">
                <a:solidFill>
                  <a:schemeClr val="tx1"/>
                </a:solidFill>
              </a:rPr>
              <a:t>Use for logins and sign-ups</a:t>
            </a:r>
            <a:endParaRPr lang="en-US" sz="1400" dirty="0"/>
          </a:p>
        </p:txBody>
      </p:sp>
      <p:sp>
        <p:nvSpPr>
          <p:cNvPr id="18" name="Flow step"/>
          <p:cNvSpPr/>
          <p:nvPr/>
        </p:nvSpPr>
        <p:spPr>
          <a:xfrm>
            <a:off x="548640" y="4663440"/>
            <a:ext cx="2514600" cy="1554480"/>
          </a:xfrm>
          <a:prstGeom prst="roundRect">
            <a:avLst>
              <a:gd name="adj" fmla="val 5882"/>
            </a:avLst>
          </a:prstGeom>
          <a:solidFill>
            <a:schemeClr val="bg2"/>
          </a:solidFill>
          <a:ln w="6350">
            <a:solidFill>
              <a:schemeClr val="bg2"/>
            </a:solidFill>
            <a:prstDash val="solid"/>
          </a:ln>
        </p:spPr>
      </p:sp>
      <p:sp>
        <p:nvSpPr>
          <p:cNvPr id="19" name="Text 16"/>
          <p:cNvSpPr txBox="1"/>
          <p:nvPr/>
        </p:nvSpPr>
        <p:spPr>
          <a:xfrm>
            <a:off x="731520" y="4773168"/>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1  Fill in</a:t>
            </a:r>
            <a:endParaRPr lang="en-US" sz="1700" dirty="0"/>
          </a:p>
        </p:txBody>
      </p:sp>
      <p:sp>
        <p:nvSpPr>
          <p:cNvPr id="20" name="Text 17"/>
          <p:cNvSpPr txBox="1"/>
          <p:nvPr/>
        </p:nvSpPr>
        <p:spPr>
          <a:xfrm>
            <a:off x="731520" y="5212080"/>
            <a:ext cx="2194560" cy="914400"/>
          </a:xfrm>
          <a:prstGeom prst="rect">
            <a:avLst/>
          </a:prstGeom>
          <a:noFill/>
        </p:spPr>
        <p:txBody>
          <a:bodyPr wrap="square" lIns="0" tIns="0" rIns="0" bIns="0" rtlCol="0" anchor="t"/>
          <a:lstStyle/>
          <a:p>
            <a:pPr marL="0" indent="0">
              <a:buNone/>
            </a:pPr>
            <a:r>
              <a:rPr lang="en-US" sz="1400" dirty="0">
                <a:solidFill>
                  <a:schemeClr val="tx1"/>
                </a:solidFill>
              </a:rPr>
              <a:t>User types data in the form</a:t>
            </a:r>
            <a:endParaRPr lang="en-US" sz="1400" dirty="0"/>
          </a:p>
        </p:txBody>
      </p:sp>
      <p:sp>
        <p:nvSpPr>
          <p:cNvPr id="21" name="Flow arrow"/>
          <p:cNvSpPr/>
          <p:nvPr/>
        </p:nvSpPr>
        <p:spPr>
          <a:xfrm>
            <a:off x="3090672" y="5285232"/>
            <a:ext cx="292608" cy="274320"/>
          </a:xfrm>
          <a:prstGeom prst="rightArrow">
            <a:avLst/>
          </a:prstGeom>
          <a:solidFill>
            <a:schemeClr val="tx2"/>
          </a:solidFill>
          <a:ln w="6350">
            <a:solidFill>
              <a:schemeClr val="tx2"/>
            </a:solidFill>
            <a:prstDash val="solid"/>
          </a:ln>
        </p:spPr>
      </p:sp>
      <p:sp>
        <p:nvSpPr>
          <p:cNvPr id="22" name="Flow step"/>
          <p:cNvSpPr/>
          <p:nvPr/>
        </p:nvSpPr>
        <p:spPr>
          <a:xfrm>
            <a:off x="3410712" y="4663440"/>
            <a:ext cx="2514600" cy="1554480"/>
          </a:xfrm>
          <a:prstGeom prst="roundRect">
            <a:avLst>
              <a:gd name="adj" fmla="val 5882"/>
            </a:avLst>
          </a:prstGeom>
          <a:solidFill>
            <a:schemeClr val="bg2"/>
          </a:solidFill>
          <a:ln w="6350">
            <a:solidFill>
              <a:schemeClr val="bg2"/>
            </a:solidFill>
            <a:prstDash val="solid"/>
          </a:ln>
        </p:spPr>
      </p:sp>
      <p:sp>
        <p:nvSpPr>
          <p:cNvPr id="23" name="Text 20"/>
          <p:cNvSpPr txBox="1"/>
          <p:nvPr/>
        </p:nvSpPr>
        <p:spPr>
          <a:xfrm>
            <a:off x="3593592" y="4773168"/>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2  Submit</a:t>
            </a:r>
            <a:endParaRPr lang="en-US" sz="1700" dirty="0"/>
          </a:p>
        </p:txBody>
      </p:sp>
      <p:sp>
        <p:nvSpPr>
          <p:cNvPr id="24" name="Text 21"/>
          <p:cNvSpPr txBox="1"/>
          <p:nvPr/>
        </p:nvSpPr>
        <p:spPr>
          <a:xfrm>
            <a:off x="3593592" y="5212080"/>
            <a:ext cx="2194560" cy="914400"/>
          </a:xfrm>
          <a:prstGeom prst="rect">
            <a:avLst/>
          </a:prstGeom>
          <a:noFill/>
        </p:spPr>
        <p:txBody>
          <a:bodyPr wrap="square" lIns="0" tIns="0" rIns="0" bIns="0" rtlCol="0" anchor="t"/>
          <a:lstStyle/>
          <a:p>
            <a:pPr marL="0" indent="0">
              <a:buNone/>
            </a:pPr>
            <a:r>
              <a:rPr lang="en-US" sz="1400" dirty="0">
                <a:solidFill>
                  <a:schemeClr val="tx1"/>
                </a:solidFill>
              </a:rPr>
              <a:t>Browser sends a GET or POST request</a:t>
            </a:r>
            <a:endParaRPr lang="en-US" sz="1400" dirty="0"/>
          </a:p>
        </p:txBody>
      </p:sp>
      <p:sp>
        <p:nvSpPr>
          <p:cNvPr id="25" name="Flow arrow"/>
          <p:cNvSpPr/>
          <p:nvPr/>
        </p:nvSpPr>
        <p:spPr>
          <a:xfrm>
            <a:off x="5952744" y="5285232"/>
            <a:ext cx="292608" cy="274320"/>
          </a:xfrm>
          <a:prstGeom prst="rightArrow">
            <a:avLst/>
          </a:prstGeom>
          <a:solidFill>
            <a:schemeClr val="tx2"/>
          </a:solidFill>
          <a:ln w="6350">
            <a:solidFill>
              <a:schemeClr val="tx2"/>
            </a:solidFill>
            <a:prstDash val="solid"/>
          </a:ln>
        </p:spPr>
      </p:sp>
      <p:sp>
        <p:nvSpPr>
          <p:cNvPr id="26" name="Flow step"/>
          <p:cNvSpPr/>
          <p:nvPr/>
        </p:nvSpPr>
        <p:spPr>
          <a:xfrm>
            <a:off x="6272784" y="4663440"/>
            <a:ext cx="2514600" cy="1554480"/>
          </a:xfrm>
          <a:prstGeom prst="roundRect">
            <a:avLst>
              <a:gd name="adj" fmla="val 5882"/>
            </a:avLst>
          </a:prstGeom>
          <a:solidFill>
            <a:schemeClr val="bg2"/>
          </a:solidFill>
          <a:ln w="6350">
            <a:solidFill>
              <a:schemeClr val="bg2"/>
            </a:solidFill>
            <a:prstDash val="solid"/>
          </a:ln>
        </p:spPr>
      </p:sp>
      <p:sp>
        <p:nvSpPr>
          <p:cNvPr id="27" name="Text 24"/>
          <p:cNvSpPr txBox="1"/>
          <p:nvPr/>
        </p:nvSpPr>
        <p:spPr>
          <a:xfrm>
            <a:off x="6455664" y="4773168"/>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3  Process</a:t>
            </a:r>
            <a:endParaRPr lang="en-US" sz="1700" dirty="0"/>
          </a:p>
        </p:txBody>
      </p:sp>
      <p:sp>
        <p:nvSpPr>
          <p:cNvPr id="28" name="Text 25"/>
          <p:cNvSpPr txBox="1"/>
          <p:nvPr/>
        </p:nvSpPr>
        <p:spPr>
          <a:xfrm>
            <a:off x="6455664" y="5212080"/>
            <a:ext cx="2194560" cy="914400"/>
          </a:xfrm>
          <a:prstGeom prst="rect">
            <a:avLst/>
          </a:prstGeom>
          <a:noFill/>
        </p:spPr>
        <p:txBody>
          <a:bodyPr wrap="square" lIns="0" tIns="0" rIns="0" bIns="0" rtlCol="0" anchor="t"/>
          <a:lstStyle/>
          <a:p>
            <a:pPr marL="0" indent="0">
              <a:buNone/>
            </a:pPr>
            <a:r>
              <a:rPr lang="en-US" sz="1400" dirty="0">
                <a:solidFill>
                  <a:schemeClr val="tx1"/>
                </a:solidFill>
              </a:rPr>
              <a:t>Server reads the named fields</a:t>
            </a:r>
            <a:endParaRPr lang="en-US" sz="1400" dirty="0"/>
          </a:p>
        </p:txBody>
      </p:sp>
      <p:sp>
        <p:nvSpPr>
          <p:cNvPr id="29" name="Flow arrow"/>
          <p:cNvSpPr/>
          <p:nvPr/>
        </p:nvSpPr>
        <p:spPr>
          <a:xfrm>
            <a:off x="8814816" y="5285232"/>
            <a:ext cx="292608" cy="274320"/>
          </a:xfrm>
          <a:prstGeom prst="rightArrow">
            <a:avLst/>
          </a:prstGeom>
          <a:solidFill>
            <a:schemeClr val="tx2"/>
          </a:solidFill>
          <a:ln w="6350">
            <a:solidFill>
              <a:schemeClr val="tx2"/>
            </a:solidFill>
            <a:prstDash val="solid"/>
          </a:ln>
        </p:spPr>
      </p:sp>
      <p:sp>
        <p:nvSpPr>
          <p:cNvPr id="30" name="Flow step"/>
          <p:cNvSpPr/>
          <p:nvPr/>
        </p:nvSpPr>
        <p:spPr>
          <a:xfrm>
            <a:off x="9134856" y="4663440"/>
            <a:ext cx="2514600" cy="1554480"/>
          </a:xfrm>
          <a:prstGeom prst="roundRect">
            <a:avLst>
              <a:gd name="adj" fmla="val 5882"/>
            </a:avLst>
          </a:prstGeom>
          <a:solidFill>
            <a:schemeClr val="bg2"/>
          </a:solidFill>
          <a:ln w="6350">
            <a:solidFill>
              <a:schemeClr val="bg2"/>
            </a:solidFill>
            <a:prstDash val="solid"/>
          </a:ln>
        </p:spPr>
      </p:sp>
      <p:sp>
        <p:nvSpPr>
          <p:cNvPr id="31" name="Text 28"/>
          <p:cNvSpPr txBox="1"/>
          <p:nvPr/>
        </p:nvSpPr>
        <p:spPr>
          <a:xfrm>
            <a:off x="9317736" y="4773168"/>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4  Respond</a:t>
            </a:r>
            <a:endParaRPr lang="en-US" sz="1700" dirty="0"/>
          </a:p>
        </p:txBody>
      </p:sp>
      <p:sp>
        <p:nvSpPr>
          <p:cNvPr id="32" name="Text 29"/>
          <p:cNvSpPr txBox="1"/>
          <p:nvPr/>
        </p:nvSpPr>
        <p:spPr>
          <a:xfrm>
            <a:off x="9317736" y="5212080"/>
            <a:ext cx="2194560" cy="914400"/>
          </a:xfrm>
          <a:prstGeom prst="rect">
            <a:avLst/>
          </a:prstGeom>
          <a:noFill/>
        </p:spPr>
        <p:txBody>
          <a:bodyPr wrap="square" lIns="0" tIns="0" rIns="0" bIns="0" rtlCol="0" anchor="t"/>
          <a:lstStyle/>
          <a:p>
            <a:pPr marL="0" indent="0">
              <a:buNone/>
            </a:pPr>
            <a:r>
              <a:rPr lang="en-US" sz="1400" dirty="0">
                <a:solidFill>
                  <a:schemeClr val="tx1"/>
                </a:solidFill>
              </a:rPr>
              <a:t>Server returns a new page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20396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20396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&lt;input&gt;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Form Input Types</a:t>
            </a:r>
            <a:endParaRPr lang="en-US" sz="3200" dirty="0"/>
          </a:p>
        </p:txBody>
      </p:sp>
      <p:sp>
        <p:nvSpPr>
          <p:cNvPr id="6" name="Input type card"/>
          <p:cNvSpPr/>
          <p:nvPr/>
        </p:nvSpPr>
        <p:spPr>
          <a:xfrm>
            <a:off x="548640" y="1691640"/>
            <a:ext cx="2679192" cy="1371600"/>
          </a:xfrm>
          <a:prstGeom prst="roundRect">
            <a:avLst>
              <a:gd name="adj" fmla="val 6667"/>
            </a:avLst>
          </a:prstGeom>
          <a:solidFill>
            <a:schemeClr val="bg2"/>
          </a:solidFill>
          <a:ln w="6350">
            <a:solidFill>
              <a:schemeClr val="bg2"/>
            </a:solidFill>
            <a:prstDash val="solid"/>
          </a:ln>
        </p:spPr>
      </p:sp>
      <p:sp>
        <p:nvSpPr>
          <p:cNvPr id="7" name="Text 4"/>
          <p:cNvSpPr txBox="1"/>
          <p:nvPr/>
        </p:nvSpPr>
        <p:spPr>
          <a:xfrm>
            <a:off x="731520" y="187452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type="text"</a:t>
            </a:r>
            <a:endParaRPr lang="en-US" sz="1400" dirty="0"/>
          </a:p>
        </p:txBody>
      </p:sp>
      <p:sp>
        <p:nvSpPr>
          <p:cNvPr id="8" name="Text 5"/>
          <p:cNvSpPr txBox="1"/>
          <p:nvPr/>
        </p:nvSpPr>
        <p:spPr>
          <a:xfrm>
            <a:off x="731520" y="2377440"/>
            <a:ext cx="2331720" cy="548640"/>
          </a:xfrm>
          <a:prstGeom prst="rect">
            <a:avLst/>
          </a:prstGeom>
          <a:noFill/>
        </p:spPr>
        <p:txBody>
          <a:bodyPr wrap="square" lIns="0" tIns="0" rIns="0" bIns="0" rtlCol="0" anchor="t"/>
          <a:lstStyle/>
          <a:p>
            <a:pPr marL="0" indent="0">
              <a:buNone/>
            </a:pPr>
            <a:r>
              <a:rPr lang="en-US" sz="1400" dirty="0">
                <a:solidFill>
                  <a:schemeClr val="tx1"/>
                </a:solidFill>
              </a:rPr>
              <a:t>Single-line text</a:t>
            </a:r>
            <a:endParaRPr lang="en-US" sz="1400" dirty="0"/>
          </a:p>
        </p:txBody>
      </p:sp>
      <p:sp>
        <p:nvSpPr>
          <p:cNvPr id="9" name="Input type card"/>
          <p:cNvSpPr/>
          <p:nvPr/>
        </p:nvSpPr>
        <p:spPr>
          <a:xfrm>
            <a:off x="3383280" y="1691640"/>
            <a:ext cx="2679192" cy="1371600"/>
          </a:xfrm>
          <a:prstGeom prst="roundRect">
            <a:avLst>
              <a:gd name="adj" fmla="val 6667"/>
            </a:avLst>
          </a:prstGeom>
          <a:solidFill>
            <a:schemeClr val="bg2"/>
          </a:solidFill>
          <a:ln w="6350">
            <a:solidFill>
              <a:schemeClr val="bg2"/>
            </a:solidFill>
            <a:prstDash val="solid"/>
          </a:ln>
        </p:spPr>
      </p:sp>
      <p:sp>
        <p:nvSpPr>
          <p:cNvPr id="10" name="Text 7"/>
          <p:cNvSpPr txBox="1"/>
          <p:nvPr/>
        </p:nvSpPr>
        <p:spPr>
          <a:xfrm>
            <a:off x="3566160" y="187452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type="email"</a:t>
            </a:r>
            <a:endParaRPr lang="en-US" sz="1400" dirty="0"/>
          </a:p>
        </p:txBody>
      </p:sp>
      <p:sp>
        <p:nvSpPr>
          <p:cNvPr id="11" name="Text 8"/>
          <p:cNvSpPr txBox="1"/>
          <p:nvPr/>
        </p:nvSpPr>
        <p:spPr>
          <a:xfrm>
            <a:off x="3566160" y="2377440"/>
            <a:ext cx="2331720" cy="548640"/>
          </a:xfrm>
          <a:prstGeom prst="rect">
            <a:avLst/>
          </a:prstGeom>
          <a:noFill/>
        </p:spPr>
        <p:txBody>
          <a:bodyPr wrap="square" lIns="0" tIns="0" rIns="0" bIns="0" rtlCol="0" anchor="t"/>
          <a:lstStyle/>
          <a:p>
            <a:pPr marL="0" indent="0">
              <a:buNone/>
            </a:pPr>
            <a:r>
              <a:rPr lang="en-US" sz="1400" dirty="0">
                <a:solidFill>
                  <a:schemeClr val="tx1"/>
                </a:solidFill>
              </a:rPr>
              <a:t>Checks e-mail format</a:t>
            </a:r>
            <a:endParaRPr lang="en-US" sz="1400" dirty="0"/>
          </a:p>
        </p:txBody>
      </p:sp>
      <p:sp>
        <p:nvSpPr>
          <p:cNvPr id="12" name="Input type card"/>
          <p:cNvSpPr/>
          <p:nvPr/>
        </p:nvSpPr>
        <p:spPr>
          <a:xfrm>
            <a:off x="6217920" y="1691640"/>
            <a:ext cx="2679192" cy="1371600"/>
          </a:xfrm>
          <a:prstGeom prst="roundRect">
            <a:avLst>
              <a:gd name="adj" fmla="val 6667"/>
            </a:avLst>
          </a:prstGeom>
          <a:solidFill>
            <a:schemeClr val="bg2"/>
          </a:solidFill>
          <a:ln w="6350">
            <a:solidFill>
              <a:schemeClr val="bg2"/>
            </a:solidFill>
            <a:prstDash val="solid"/>
          </a:ln>
        </p:spPr>
      </p:sp>
      <p:sp>
        <p:nvSpPr>
          <p:cNvPr id="13" name="Text 10"/>
          <p:cNvSpPr txBox="1"/>
          <p:nvPr/>
        </p:nvSpPr>
        <p:spPr>
          <a:xfrm>
            <a:off x="6400800" y="187452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type="password"</a:t>
            </a:r>
            <a:endParaRPr lang="en-US" sz="1400" dirty="0"/>
          </a:p>
        </p:txBody>
      </p:sp>
      <p:sp>
        <p:nvSpPr>
          <p:cNvPr id="14" name="Text 11"/>
          <p:cNvSpPr txBox="1"/>
          <p:nvPr/>
        </p:nvSpPr>
        <p:spPr>
          <a:xfrm>
            <a:off x="6400800" y="2377440"/>
            <a:ext cx="2331720" cy="548640"/>
          </a:xfrm>
          <a:prstGeom prst="rect">
            <a:avLst/>
          </a:prstGeom>
          <a:noFill/>
        </p:spPr>
        <p:txBody>
          <a:bodyPr wrap="square" lIns="0" tIns="0" rIns="0" bIns="0" rtlCol="0" anchor="t"/>
          <a:lstStyle/>
          <a:p>
            <a:pPr marL="0" indent="0">
              <a:buNone/>
            </a:pPr>
            <a:r>
              <a:rPr lang="en-US" sz="1400" dirty="0">
                <a:solidFill>
                  <a:schemeClr val="tx1"/>
                </a:solidFill>
              </a:rPr>
              <a:t>Hides the characters</a:t>
            </a:r>
            <a:endParaRPr lang="en-US" sz="1400" dirty="0"/>
          </a:p>
        </p:txBody>
      </p:sp>
      <p:sp>
        <p:nvSpPr>
          <p:cNvPr id="15" name="Input type card"/>
          <p:cNvSpPr/>
          <p:nvPr/>
        </p:nvSpPr>
        <p:spPr>
          <a:xfrm>
            <a:off x="9052560" y="1691640"/>
            <a:ext cx="2679192" cy="1371600"/>
          </a:xfrm>
          <a:prstGeom prst="roundRect">
            <a:avLst>
              <a:gd name="adj" fmla="val 6667"/>
            </a:avLst>
          </a:prstGeom>
          <a:solidFill>
            <a:schemeClr val="bg2"/>
          </a:solidFill>
          <a:ln w="6350">
            <a:solidFill>
              <a:schemeClr val="bg2"/>
            </a:solidFill>
            <a:prstDash val="solid"/>
          </a:ln>
        </p:spPr>
      </p:sp>
      <p:sp>
        <p:nvSpPr>
          <p:cNvPr id="16" name="Text 13"/>
          <p:cNvSpPr txBox="1"/>
          <p:nvPr/>
        </p:nvSpPr>
        <p:spPr>
          <a:xfrm>
            <a:off x="9235440" y="187452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type="number"</a:t>
            </a:r>
            <a:endParaRPr lang="en-US" sz="1400" dirty="0"/>
          </a:p>
        </p:txBody>
      </p:sp>
      <p:sp>
        <p:nvSpPr>
          <p:cNvPr id="17" name="Text 14"/>
          <p:cNvSpPr txBox="1"/>
          <p:nvPr/>
        </p:nvSpPr>
        <p:spPr>
          <a:xfrm>
            <a:off x="9235440" y="2377440"/>
            <a:ext cx="2331720" cy="548640"/>
          </a:xfrm>
          <a:prstGeom prst="rect">
            <a:avLst/>
          </a:prstGeom>
          <a:noFill/>
        </p:spPr>
        <p:txBody>
          <a:bodyPr wrap="square" lIns="0" tIns="0" rIns="0" bIns="0" rtlCol="0" anchor="t"/>
          <a:lstStyle/>
          <a:p>
            <a:pPr marL="0" indent="0">
              <a:buNone/>
            </a:pPr>
            <a:r>
              <a:rPr lang="en-US" sz="1400" dirty="0">
                <a:solidFill>
                  <a:schemeClr val="tx1"/>
                </a:solidFill>
              </a:rPr>
              <a:t>Numbers with min and max</a:t>
            </a:r>
            <a:endParaRPr lang="en-US" sz="1400" dirty="0"/>
          </a:p>
        </p:txBody>
      </p:sp>
      <p:sp>
        <p:nvSpPr>
          <p:cNvPr id="18" name="Input type card"/>
          <p:cNvSpPr/>
          <p:nvPr/>
        </p:nvSpPr>
        <p:spPr>
          <a:xfrm>
            <a:off x="548640" y="3246120"/>
            <a:ext cx="2679192" cy="1371600"/>
          </a:xfrm>
          <a:prstGeom prst="roundRect">
            <a:avLst>
              <a:gd name="adj" fmla="val 6667"/>
            </a:avLst>
          </a:prstGeom>
          <a:solidFill>
            <a:schemeClr val="bg2"/>
          </a:solidFill>
          <a:ln w="6350">
            <a:solidFill>
              <a:schemeClr val="bg2"/>
            </a:solidFill>
            <a:prstDash val="solid"/>
          </a:ln>
        </p:spPr>
      </p:sp>
      <p:sp>
        <p:nvSpPr>
          <p:cNvPr id="19" name="Text 16"/>
          <p:cNvSpPr txBox="1"/>
          <p:nvPr/>
        </p:nvSpPr>
        <p:spPr>
          <a:xfrm>
            <a:off x="731520" y="342900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type="tel"</a:t>
            </a:r>
            <a:endParaRPr lang="en-US" sz="1400" dirty="0"/>
          </a:p>
        </p:txBody>
      </p:sp>
      <p:sp>
        <p:nvSpPr>
          <p:cNvPr id="20" name="Text 17"/>
          <p:cNvSpPr txBox="1"/>
          <p:nvPr/>
        </p:nvSpPr>
        <p:spPr>
          <a:xfrm>
            <a:off x="731520" y="3931920"/>
            <a:ext cx="2331720" cy="548640"/>
          </a:xfrm>
          <a:prstGeom prst="rect">
            <a:avLst/>
          </a:prstGeom>
          <a:noFill/>
        </p:spPr>
        <p:txBody>
          <a:bodyPr wrap="square" lIns="0" tIns="0" rIns="0" bIns="0" rtlCol="0" anchor="t"/>
          <a:lstStyle/>
          <a:p>
            <a:pPr marL="0" indent="0">
              <a:buNone/>
            </a:pPr>
            <a:r>
              <a:rPr lang="en-US" sz="1400" dirty="0">
                <a:solidFill>
                  <a:schemeClr val="tx1"/>
                </a:solidFill>
              </a:rPr>
              <a:t>Phone number keypad</a:t>
            </a:r>
            <a:endParaRPr lang="en-US" sz="1400" dirty="0"/>
          </a:p>
        </p:txBody>
      </p:sp>
      <p:sp>
        <p:nvSpPr>
          <p:cNvPr id="21" name="Input type card"/>
          <p:cNvSpPr/>
          <p:nvPr/>
        </p:nvSpPr>
        <p:spPr>
          <a:xfrm>
            <a:off x="3383280" y="3246120"/>
            <a:ext cx="2679192" cy="1371600"/>
          </a:xfrm>
          <a:prstGeom prst="roundRect">
            <a:avLst>
              <a:gd name="adj" fmla="val 6667"/>
            </a:avLst>
          </a:prstGeom>
          <a:solidFill>
            <a:schemeClr val="bg2"/>
          </a:solidFill>
          <a:ln w="6350">
            <a:solidFill>
              <a:schemeClr val="bg2"/>
            </a:solidFill>
            <a:prstDash val="solid"/>
          </a:ln>
        </p:spPr>
      </p:sp>
      <p:sp>
        <p:nvSpPr>
          <p:cNvPr id="22" name="Text 19"/>
          <p:cNvSpPr txBox="1"/>
          <p:nvPr/>
        </p:nvSpPr>
        <p:spPr>
          <a:xfrm>
            <a:off x="3566160" y="342900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type="date"</a:t>
            </a:r>
            <a:endParaRPr lang="en-US" sz="1400" dirty="0"/>
          </a:p>
        </p:txBody>
      </p:sp>
      <p:sp>
        <p:nvSpPr>
          <p:cNvPr id="23" name="Text 20"/>
          <p:cNvSpPr txBox="1"/>
          <p:nvPr/>
        </p:nvSpPr>
        <p:spPr>
          <a:xfrm>
            <a:off x="3566160" y="3931920"/>
            <a:ext cx="2331720" cy="548640"/>
          </a:xfrm>
          <a:prstGeom prst="rect">
            <a:avLst/>
          </a:prstGeom>
          <a:noFill/>
        </p:spPr>
        <p:txBody>
          <a:bodyPr wrap="square" lIns="0" tIns="0" rIns="0" bIns="0" rtlCol="0" anchor="t"/>
          <a:lstStyle/>
          <a:p>
            <a:pPr marL="0" indent="0">
              <a:buNone/>
            </a:pPr>
            <a:r>
              <a:rPr lang="en-US" sz="1400" dirty="0">
                <a:solidFill>
                  <a:schemeClr val="tx1"/>
                </a:solidFill>
              </a:rPr>
              <a:t>Date picker</a:t>
            </a:r>
            <a:endParaRPr lang="en-US" sz="1400" dirty="0"/>
          </a:p>
        </p:txBody>
      </p:sp>
      <p:sp>
        <p:nvSpPr>
          <p:cNvPr id="24" name="Input type card"/>
          <p:cNvSpPr/>
          <p:nvPr/>
        </p:nvSpPr>
        <p:spPr>
          <a:xfrm>
            <a:off x="6217920" y="3246120"/>
            <a:ext cx="2679192" cy="1371600"/>
          </a:xfrm>
          <a:prstGeom prst="roundRect">
            <a:avLst>
              <a:gd name="adj" fmla="val 6667"/>
            </a:avLst>
          </a:prstGeom>
          <a:solidFill>
            <a:schemeClr val="bg2"/>
          </a:solidFill>
          <a:ln w="6350">
            <a:solidFill>
              <a:schemeClr val="bg2"/>
            </a:solidFill>
            <a:prstDash val="solid"/>
          </a:ln>
        </p:spPr>
      </p:sp>
      <p:sp>
        <p:nvSpPr>
          <p:cNvPr id="25" name="Text 22"/>
          <p:cNvSpPr txBox="1"/>
          <p:nvPr/>
        </p:nvSpPr>
        <p:spPr>
          <a:xfrm>
            <a:off x="6400800" y="342900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type="radio"</a:t>
            </a:r>
            <a:endParaRPr lang="en-US" sz="1400" dirty="0"/>
          </a:p>
        </p:txBody>
      </p:sp>
      <p:sp>
        <p:nvSpPr>
          <p:cNvPr id="26" name="Text 23"/>
          <p:cNvSpPr txBox="1"/>
          <p:nvPr/>
        </p:nvSpPr>
        <p:spPr>
          <a:xfrm>
            <a:off x="6400800" y="3931920"/>
            <a:ext cx="2331720" cy="548640"/>
          </a:xfrm>
          <a:prstGeom prst="rect">
            <a:avLst/>
          </a:prstGeom>
          <a:noFill/>
        </p:spPr>
        <p:txBody>
          <a:bodyPr wrap="square" lIns="0" tIns="0" rIns="0" bIns="0" rtlCol="0" anchor="t"/>
          <a:lstStyle/>
          <a:p>
            <a:pPr marL="0" indent="0">
              <a:buNone/>
            </a:pPr>
            <a:r>
              <a:rPr lang="en-US" sz="1400" dirty="0">
                <a:solidFill>
                  <a:schemeClr val="tx1"/>
                </a:solidFill>
              </a:rPr>
              <a:t>Choose one (same name)</a:t>
            </a:r>
            <a:endParaRPr lang="en-US" sz="1400" dirty="0"/>
          </a:p>
        </p:txBody>
      </p:sp>
      <p:sp>
        <p:nvSpPr>
          <p:cNvPr id="27" name="Input type card"/>
          <p:cNvSpPr/>
          <p:nvPr/>
        </p:nvSpPr>
        <p:spPr>
          <a:xfrm>
            <a:off x="9052560" y="3246120"/>
            <a:ext cx="2679192" cy="1371600"/>
          </a:xfrm>
          <a:prstGeom prst="roundRect">
            <a:avLst>
              <a:gd name="adj" fmla="val 6667"/>
            </a:avLst>
          </a:prstGeom>
          <a:solidFill>
            <a:schemeClr val="bg2"/>
          </a:solidFill>
          <a:ln w="6350">
            <a:solidFill>
              <a:schemeClr val="bg2"/>
            </a:solidFill>
            <a:prstDash val="solid"/>
          </a:ln>
        </p:spPr>
      </p:sp>
      <p:sp>
        <p:nvSpPr>
          <p:cNvPr id="28" name="Text 25"/>
          <p:cNvSpPr txBox="1"/>
          <p:nvPr/>
        </p:nvSpPr>
        <p:spPr>
          <a:xfrm>
            <a:off x="9235440" y="342900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type="checkbox"</a:t>
            </a:r>
            <a:endParaRPr lang="en-US" sz="1400" dirty="0"/>
          </a:p>
        </p:txBody>
      </p:sp>
      <p:sp>
        <p:nvSpPr>
          <p:cNvPr id="29" name="Text 26"/>
          <p:cNvSpPr txBox="1"/>
          <p:nvPr/>
        </p:nvSpPr>
        <p:spPr>
          <a:xfrm>
            <a:off x="9235440" y="3931920"/>
            <a:ext cx="2331720" cy="548640"/>
          </a:xfrm>
          <a:prstGeom prst="rect">
            <a:avLst/>
          </a:prstGeom>
          <a:noFill/>
        </p:spPr>
        <p:txBody>
          <a:bodyPr wrap="square" lIns="0" tIns="0" rIns="0" bIns="0" rtlCol="0" anchor="t"/>
          <a:lstStyle/>
          <a:p>
            <a:pPr marL="0" indent="0">
              <a:buNone/>
            </a:pPr>
            <a:r>
              <a:rPr lang="en-US" sz="1400" dirty="0">
                <a:solidFill>
                  <a:schemeClr val="tx1"/>
                </a:solidFill>
              </a:rPr>
              <a:t>Choose many</a:t>
            </a:r>
            <a:endParaRPr lang="en-US" sz="1400" dirty="0"/>
          </a:p>
        </p:txBody>
      </p:sp>
      <p:sp>
        <p:nvSpPr>
          <p:cNvPr id="30" name="Input type card"/>
          <p:cNvSpPr/>
          <p:nvPr/>
        </p:nvSpPr>
        <p:spPr>
          <a:xfrm>
            <a:off x="548640" y="4800600"/>
            <a:ext cx="2679192" cy="1371600"/>
          </a:xfrm>
          <a:prstGeom prst="roundRect">
            <a:avLst>
              <a:gd name="adj" fmla="val 6667"/>
            </a:avLst>
          </a:prstGeom>
          <a:solidFill>
            <a:schemeClr val="bg2"/>
          </a:solidFill>
          <a:ln w="6350">
            <a:solidFill>
              <a:schemeClr val="bg2"/>
            </a:solidFill>
            <a:prstDash val="solid"/>
          </a:ln>
        </p:spPr>
      </p:sp>
      <p:sp>
        <p:nvSpPr>
          <p:cNvPr id="31" name="Text 28"/>
          <p:cNvSpPr txBox="1"/>
          <p:nvPr/>
        </p:nvSpPr>
        <p:spPr>
          <a:xfrm>
            <a:off x="731520" y="498348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type="range"</a:t>
            </a:r>
            <a:endParaRPr lang="en-US" sz="1400" dirty="0"/>
          </a:p>
        </p:txBody>
      </p:sp>
      <p:sp>
        <p:nvSpPr>
          <p:cNvPr id="32" name="Text 29"/>
          <p:cNvSpPr txBox="1"/>
          <p:nvPr/>
        </p:nvSpPr>
        <p:spPr>
          <a:xfrm>
            <a:off x="731520" y="5486400"/>
            <a:ext cx="2331720" cy="548640"/>
          </a:xfrm>
          <a:prstGeom prst="rect">
            <a:avLst/>
          </a:prstGeom>
          <a:noFill/>
        </p:spPr>
        <p:txBody>
          <a:bodyPr wrap="square" lIns="0" tIns="0" rIns="0" bIns="0" rtlCol="0" anchor="t"/>
          <a:lstStyle/>
          <a:p>
            <a:pPr marL="0" indent="0">
              <a:buNone/>
            </a:pPr>
            <a:r>
              <a:rPr lang="en-US" sz="1400" dirty="0">
                <a:solidFill>
                  <a:schemeClr val="tx1"/>
                </a:solidFill>
              </a:rPr>
              <a:t>Slider control</a:t>
            </a:r>
            <a:endParaRPr lang="en-US" sz="1400" dirty="0"/>
          </a:p>
        </p:txBody>
      </p:sp>
      <p:sp>
        <p:nvSpPr>
          <p:cNvPr id="33" name="Input type card"/>
          <p:cNvSpPr/>
          <p:nvPr/>
        </p:nvSpPr>
        <p:spPr>
          <a:xfrm>
            <a:off x="3383280" y="4800600"/>
            <a:ext cx="2679192" cy="1371600"/>
          </a:xfrm>
          <a:prstGeom prst="roundRect">
            <a:avLst>
              <a:gd name="adj" fmla="val 6667"/>
            </a:avLst>
          </a:prstGeom>
          <a:solidFill>
            <a:schemeClr val="bg2"/>
          </a:solidFill>
          <a:ln w="6350">
            <a:solidFill>
              <a:schemeClr val="bg2"/>
            </a:solidFill>
            <a:prstDash val="solid"/>
          </a:ln>
        </p:spPr>
      </p:sp>
      <p:sp>
        <p:nvSpPr>
          <p:cNvPr id="34" name="Text 31"/>
          <p:cNvSpPr txBox="1"/>
          <p:nvPr/>
        </p:nvSpPr>
        <p:spPr>
          <a:xfrm>
            <a:off x="3566160" y="498348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type="file"</a:t>
            </a:r>
            <a:endParaRPr lang="en-US" sz="1400" dirty="0"/>
          </a:p>
        </p:txBody>
      </p:sp>
      <p:sp>
        <p:nvSpPr>
          <p:cNvPr id="35" name="Text 32"/>
          <p:cNvSpPr txBox="1"/>
          <p:nvPr/>
        </p:nvSpPr>
        <p:spPr>
          <a:xfrm>
            <a:off x="3566160" y="5486400"/>
            <a:ext cx="2331720" cy="548640"/>
          </a:xfrm>
          <a:prstGeom prst="rect">
            <a:avLst/>
          </a:prstGeom>
          <a:noFill/>
        </p:spPr>
        <p:txBody>
          <a:bodyPr wrap="square" lIns="0" tIns="0" rIns="0" bIns="0" rtlCol="0" anchor="t"/>
          <a:lstStyle/>
          <a:p>
            <a:pPr marL="0" indent="0">
              <a:buNone/>
            </a:pPr>
            <a:r>
              <a:rPr lang="en-US" sz="1400" dirty="0">
                <a:solidFill>
                  <a:schemeClr val="tx1"/>
                </a:solidFill>
              </a:rPr>
              <a:t>Upload a file</a:t>
            </a:r>
            <a:endParaRPr lang="en-US" sz="1400" dirty="0"/>
          </a:p>
        </p:txBody>
      </p:sp>
      <p:sp>
        <p:nvSpPr>
          <p:cNvPr id="36" name="Input type card"/>
          <p:cNvSpPr/>
          <p:nvPr/>
        </p:nvSpPr>
        <p:spPr>
          <a:xfrm>
            <a:off x="6217920" y="4800600"/>
            <a:ext cx="2679192" cy="1371600"/>
          </a:xfrm>
          <a:prstGeom prst="roundRect">
            <a:avLst>
              <a:gd name="adj" fmla="val 6667"/>
            </a:avLst>
          </a:prstGeom>
          <a:solidFill>
            <a:schemeClr val="bg2"/>
          </a:solidFill>
          <a:ln w="6350">
            <a:solidFill>
              <a:schemeClr val="bg2"/>
            </a:solidFill>
            <a:prstDash val="solid"/>
          </a:ln>
        </p:spPr>
      </p:sp>
      <p:sp>
        <p:nvSpPr>
          <p:cNvPr id="37" name="Text 34"/>
          <p:cNvSpPr txBox="1"/>
          <p:nvPr/>
        </p:nvSpPr>
        <p:spPr>
          <a:xfrm>
            <a:off x="6400800" y="498348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type="color"</a:t>
            </a:r>
            <a:endParaRPr lang="en-US" sz="1400" dirty="0"/>
          </a:p>
        </p:txBody>
      </p:sp>
      <p:sp>
        <p:nvSpPr>
          <p:cNvPr id="38" name="Text 35"/>
          <p:cNvSpPr txBox="1"/>
          <p:nvPr/>
        </p:nvSpPr>
        <p:spPr>
          <a:xfrm>
            <a:off x="6400800" y="5486400"/>
            <a:ext cx="2331720" cy="548640"/>
          </a:xfrm>
          <a:prstGeom prst="rect">
            <a:avLst/>
          </a:prstGeom>
          <a:noFill/>
        </p:spPr>
        <p:txBody>
          <a:bodyPr wrap="square" lIns="0" tIns="0" rIns="0" bIns="0" rtlCol="0" anchor="t"/>
          <a:lstStyle/>
          <a:p>
            <a:pPr marL="0" indent="0">
              <a:buNone/>
            </a:pPr>
            <a:r>
              <a:rPr lang="en-US" sz="1400" dirty="0">
                <a:solidFill>
                  <a:schemeClr val="tx1"/>
                </a:solidFill>
              </a:rPr>
              <a:t>Colour picker</a:t>
            </a:r>
            <a:endParaRPr lang="en-US" sz="1400" dirty="0"/>
          </a:p>
        </p:txBody>
      </p:sp>
      <p:sp>
        <p:nvSpPr>
          <p:cNvPr id="39" name="Input type card"/>
          <p:cNvSpPr/>
          <p:nvPr/>
        </p:nvSpPr>
        <p:spPr>
          <a:xfrm>
            <a:off x="9052560" y="4800600"/>
            <a:ext cx="2679192" cy="1371600"/>
          </a:xfrm>
          <a:prstGeom prst="roundRect">
            <a:avLst>
              <a:gd name="adj" fmla="val 6667"/>
            </a:avLst>
          </a:prstGeom>
          <a:solidFill>
            <a:schemeClr val="bg2"/>
          </a:solidFill>
          <a:ln w="6350">
            <a:solidFill>
              <a:schemeClr val="bg2"/>
            </a:solidFill>
            <a:prstDash val="solid"/>
          </a:ln>
        </p:spPr>
      </p:sp>
      <p:sp>
        <p:nvSpPr>
          <p:cNvPr id="40" name="Text 37"/>
          <p:cNvSpPr txBox="1"/>
          <p:nvPr/>
        </p:nvSpPr>
        <p:spPr>
          <a:xfrm>
            <a:off x="9235440" y="4983480"/>
            <a:ext cx="2331720" cy="365760"/>
          </a:xfrm>
          <a:prstGeom prst="rect">
            <a:avLst/>
          </a:prstGeom>
          <a:noFill/>
        </p:spPr>
        <p:txBody>
          <a:bodyPr wrap="square" lIns="0" tIns="0" rIns="0" bIns="0" rtlCol="0" anchor="ctr"/>
          <a:lstStyle/>
          <a:p>
            <a:pPr marL="0" indent="0">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type="submit"</a:t>
            </a:r>
            <a:endParaRPr lang="en-US" sz="1400" dirty="0"/>
          </a:p>
        </p:txBody>
      </p:sp>
      <p:sp>
        <p:nvSpPr>
          <p:cNvPr id="41" name="Text 38"/>
          <p:cNvSpPr txBox="1"/>
          <p:nvPr/>
        </p:nvSpPr>
        <p:spPr>
          <a:xfrm>
            <a:off x="9235440" y="5486400"/>
            <a:ext cx="2331720" cy="548640"/>
          </a:xfrm>
          <a:prstGeom prst="rect">
            <a:avLst/>
          </a:prstGeom>
          <a:noFill/>
        </p:spPr>
        <p:txBody>
          <a:bodyPr wrap="square" lIns="0" tIns="0" rIns="0" bIns="0" rtlCol="0" anchor="t"/>
          <a:lstStyle/>
          <a:p>
            <a:pPr marL="0" indent="0">
              <a:buNone/>
            </a:pPr>
            <a:r>
              <a:rPr lang="en-US" sz="1400" dirty="0">
                <a:solidFill>
                  <a:schemeClr val="tx1"/>
                </a:solidFill>
              </a:rPr>
              <a:t>Sends the form</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3106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3106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&lt;select&gt;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Complete Form Example</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signup.html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&lt;form</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"/signup"</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method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"post"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for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"text"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required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for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Email: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"email"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"em"</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"em"</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required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"radio"</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"m"</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value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for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Male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"radio"</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value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for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Female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&lt;/label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&lt;select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"dept"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&lt;option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value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Information Systems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&lt;/option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&lt;option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value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Computer Science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&lt;/option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&lt;/select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&lt;textarea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"msg"</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rows</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"3"</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&lt;/textarea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&lt;button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"submit"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Register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&lt;/button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&lt;/form</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Form mock card"/>
          <p:cNvSpPr/>
          <p:nvPr/>
        </p:nvSpPr>
        <p:spPr>
          <a:xfrm>
            <a:off x="7406640" y="1691640"/>
            <a:ext cx="4233672" cy="3611880"/>
          </a:xfrm>
          <a:prstGeom prst="roundRect">
            <a:avLst>
              <a:gd name="adj" fmla="val 2532"/>
            </a:avLst>
          </a:prstGeom>
          <a:solidFill>
            <a:srgbClr val="FFFFFF"/>
          </a:solidFill>
          <a:ln w="12700">
            <a:solidFill>
              <a:srgbClr val="C9CDD6"/>
            </a:solidFill>
            <a:prstDash val="solid"/>
          </a:ln>
        </p:spPr>
      </p:sp>
      <p:sp>
        <p:nvSpPr>
          <p:cNvPr id="13" name="Text 10"/>
          <p:cNvSpPr txBox="1"/>
          <p:nvPr/>
        </p:nvSpPr>
        <p:spPr>
          <a:xfrm>
            <a:off x="7589520" y="1828800"/>
            <a:ext cx="3840480" cy="228600"/>
          </a:xfrm>
          <a:prstGeom prst="rect">
            <a:avLst/>
          </a:prstGeom>
          <a:noFill/>
        </p:spPr>
        <p:txBody>
          <a:bodyPr wrap="square" lIns="0" tIns="0" rIns="0" bIns="0" rtlCol="0" anchor="ctr"/>
          <a:lstStyle/>
          <a:p>
            <a:pPr marL="0" indent="0">
              <a:buNone/>
            </a:pPr>
            <a:r>
              <a:rPr lang="en-US" sz="1200" b="1" dirty="0">
                <a:solidFill>
                  <a:schemeClr val="tx1"/>
                </a:solidFill>
              </a:rPr>
              <a:t>Name:</a:t>
            </a:r>
            <a:endParaRPr lang="en-US" sz="1200" dirty="0"/>
          </a:p>
        </p:txBody>
      </p:sp>
      <p:sp>
        <p:nvSpPr>
          <p:cNvPr id="14" name="Mock field"/>
          <p:cNvSpPr/>
          <p:nvPr/>
        </p:nvSpPr>
        <p:spPr>
          <a:xfrm>
            <a:off x="7589520" y="2057400"/>
            <a:ext cx="3867912" cy="292608"/>
          </a:xfrm>
          <a:prstGeom prst="roundRect">
            <a:avLst>
              <a:gd name="adj" fmla="val 15625"/>
            </a:avLst>
          </a:prstGeom>
          <a:solidFill>
            <a:schemeClr val="bg2"/>
          </a:solidFill>
          <a:ln w="9525">
            <a:solidFill>
              <a:srgbClr val="C9CDD6"/>
            </a:solidFill>
            <a:prstDash val="solid"/>
          </a:ln>
        </p:spPr>
      </p:sp>
      <p:sp>
        <p:nvSpPr>
          <p:cNvPr id="15" name="Text 12"/>
          <p:cNvSpPr txBox="1"/>
          <p:nvPr/>
        </p:nvSpPr>
        <p:spPr>
          <a:xfrm>
            <a:off x="7589520" y="2423160"/>
            <a:ext cx="3840480" cy="228600"/>
          </a:xfrm>
          <a:prstGeom prst="rect">
            <a:avLst/>
          </a:prstGeom>
          <a:noFill/>
        </p:spPr>
        <p:txBody>
          <a:bodyPr wrap="square" lIns="0" tIns="0" rIns="0" bIns="0" rtlCol="0" anchor="ctr"/>
          <a:lstStyle/>
          <a:p>
            <a:pPr marL="0" indent="0">
              <a:buNone/>
            </a:pPr>
            <a:r>
              <a:rPr lang="en-US" sz="1200" b="1" dirty="0">
                <a:solidFill>
                  <a:schemeClr val="tx1"/>
                </a:solidFill>
              </a:rPr>
              <a:t>Email:</a:t>
            </a:r>
            <a:endParaRPr lang="en-US" sz="1200" dirty="0"/>
          </a:p>
        </p:txBody>
      </p:sp>
      <p:sp>
        <p:nvSpPr>
          <p:cNvPr id="16" name="Mock field"/>
          <p:cNvSpPr/>
          <p:nvPr/>
        </p:nvSpPr>
        <p:spPr>
          <a:xfrm>
            <a:off x="7589520" y="2651760"/>
            <a:ext cx="3867912" cy="292608"/>
          </a:xfrm>
          <a:prstGeom prst="roundRect">
            <a:avLst>
              <a:gd name="adj" fmla="val 15625"/>
            </a:avLst>
          </a:prstGeom>
          <a:solidFill>
            <a:schemeClr val="bg2"/>
          </a:solidFill>
          <a:ln w="9525">
            <a:solidFill>
              <a:srgbClr val="C9CDD6"/>
            </a:solidFill>
            <a:prstDash val="solid"/>
          </a:ln>
        </p:spPr>
      </p:sp>
      <p:sp>
        <p:nvSpPr>
          <p:cNvPr id="17" name="Text 14"/>
          <p:cNvSpPr txBox="1"/>
          <p:nvPr/>
        </p:nvSpPr>
        <p:spPr>
          <a:xfrm>
            <a:off x="7589520" y="3017520"/>
            <a:ext cx="3840480" cy="228600"/>
          </a:xfrm>
          <a:prstGeom prst="rect">
            <a:avLst/>
          </a:prstGeom>
          <a:noFill/>
        </p:spPr>
        <p:txBody>
          <a:bodyPr wrap="square" lIns="0" tIns="0" rIns="0" bIns="0" rtlCol="0" anchor="ctr"/>
          <a:lstStyle/>
          <a:p>
            <a:pPr marL="0" indent="0">
              <a:buNone/>
            </a:pPr>
            <a:r>
              <a:rPr lang="en-US" sz="1200" b="1" dirty="0">
                <a:solidFill>
                  <a:schemeClr val="tx1"/>
                </a:solidFill>
              </a:rPr>
              <a:t>Gender:</a:t>
            </a:r>
            <a:endParaRPr lang="en-US" sz="1200" dirty="0"/>
          </a:p>
        </p:txBody>
      </p:sp>
      <p:sp>
        <p:nvSpPr>
          <p:cNvPr id="18" name="Mock radio"/>
          <p:cNvSpPr/>
          <p:nvPr/>
        </p:nvSpPr>
        <p:spPr>
          <a:xfrm>
            <a:off x="7589520" y="3273552"/>
            <a:ext cx="182880" cy="182880"/>
          </a:xfrm>
          <a:prstGeom prst="ellipse">
            <a:avLst/>
          </a:prstGeom>
          <a:solidFill>
            <a:schemeClr val="accent1"/>
          </a:solidFill>
          <a:ln w="12700">
            <a:solidFill>
              <a:schemeClr val="tx2"/>
            </a:solidFill>
            <a:prstDash val="solid"/>
          </a:ln>
        </p:spPr>
      </p:sp>
      <p:sp>
        <p:nvSpPr>
          <p:cNvPr id="19" name="Text 16"/>
          <p:cNvSpPr txBox="1"/>
          <p:nvPr/>
        </p:nvSpPr>
        <p:spPr>
          <a:xfrm>
            <a:off x="7863840" y="3246120"/>
            <a:ext cx="822960" cy="237744"/>
          </a:xfrm>
          <a:prstGeom prst="rect">
            <a:avLst/>
          </a:prstGeom>
          <a:noFill/>
        </p:spPr>
        <p:txBody>
          <a:bodyPr wrap="square" lIns="0" tIns="0" rIns="0" bIns="0" rtlCol="0" anchor="ctr"/>
          <a:lstStyle/>
          <a:p>
            <a:pPr marL="0" indent="0">
              <a:buNone/>
            </a:pPr>
            <a:r>
              <a:rPr lang="en-US" sz="1200" dirty="0">
                <a:solidFill>
                  <a:schemeClr val="tx1"/>
                </a:solidFill>
              </a:rPr>
              <a:t>Male</a:t>
            </a:r>
            <a:endParaRPr lang="en-US" sz="1200" dirty="0"/>
          </a:p>
        </p:txBody>
      </p:sp>
      <p:sp>
        <p:nvSpPr>
          <p:cNvPr id="20" name="Mock radio"/>
          <p:cNvSpPr/>
          <p:nvPr/>
        </p:nvSpPr>
        <p:spPr>
          <a:xfrm>
            <a:off x="8778240" y="3273552"/>
            <a:ext cx="182880" cy="182880"/>
          </a:xfrm>
          <a:prstGeom prst="ellipse">
            <a:avLst/>
          </a:prstGeom>
          <a:solidFill>
            <a:srgbClr val="FFFFFF"/>
          </a:solidFill>
          <a:ln w="12700">
            <a:solidFill>
              <a:schemeClr val="tx2"/>
            </a:solidFill>
            <a:prstDash val="solid"/>
          </a:ln>
        </p:spPr>
      </p:sp>
      <p:sp>
        <p:nvSpPr>
          <p:cNvPr id="21" name="Text 18"/>
          <p:cNvSpPr txBox="1"/>
          <p:nvPr/>
        </p:nvSpPr>
        <p:spPr>
          <a:xfrm>
            <a:off x="9052560" y="3246120"/>
            <a:ext cx="822960" cy="237744"/>
          </a:xfrm>
          <a:prstGeom prst="rect">
            <a:avLst/>
          </a:prstGeom>
          <a:noFill/>
        </p:spPr>
        <p:txBody>
          <a:bodyPr wrap="square" lIns="0" tIns="0" rIns="0" bIns="0" rtlCol="0" anchor="ctr"/>
          <a:lstStyle/>
          <a:p>
            <a:pPr marL="0" indent="0">
              <a:buNone/>
            </a:pPr>
            <a:r>
              <a:rPr lang="en-US" sz="1200" dirty="0">
                <a:solidFill>
                  <a:schemeClr val="tx1"/>
                </a:solidFill>
              </a:rPr>
              <a:t>Female</a:t>
            </a:r>
            <a:endParaRPr lang="en-US" sz="1200" dirty="0"/>
          </a:p>
        </p:txBody>
      </p:sp>
      <p:sp>
        <p:nvSpPr>
          <p:cNvPr id="22" name="Text 19"/>
          <p:cNvSpPr txBox="1"/>
          <p:nvPr/>
        </p:nvSpPr>
        <p:spPr>
          <a:xfrm>
            <a:off x="7589520" y="3566160"/>
            <a:ext cx="3840480" cy="228600"/>
          </a:xfrm>
          <a:prstGeom prst="rect">
            <a:avLst/>
          </a:prstGeom>
          <a:noFill/>
        </p:spPr>
        <p:txBody>
          <a:bodyPr wrap="square" lIns="0" tIns="0" rIns="0" bIns="0" rtlCol="0" anchor="ctr"/>
          <a:lstStyle/>
          <a:p>
            <a:pPr marL="0" indent="0">
              <a:buNone/>
            </a:pPr>
            <a:r>
              <a:rPr lang="en-US" sz="1200" b="1" dirty="0">
                <a:solidFill>
                  <a:schemeClr val="tx1"/>
                </a:solidFill>
              </a:rPr>
              <a:t>Department:</a:t>
            </a:r>
            <a:endParaRPr lang="en-US" sz="1200" dirty="0"/>
          </a:p>
        </p:txBody>
      </p:sp>
      <p:sp>
        <p:nvSpPr>
          <p:cNvPr id="23" name="Mock field"/>
          <p:cNvSpPr/>
          <p:nvPr/>
        </p:nvSpPr>
        <p:spPr>
          <a:xfrm>
            <a:off x="7589520" y="3794760"/>
            <a:ext cx="3867912" cy="292608"/>
          </a:xfrm>
          <a:prstGeom prst="roundRect">
            <a:avLst>
              <a:gd name="adj" fmla="val 15625"/>
            </a:avLst>
          </a:prstGeom>
          <a:solidFill>
            <a:schemeClr val="bg2"/>
          </a:solidFill>
          <a:ln w="9525">
            <a:solidFill>
              <a:srgbClr val="C9CDD6"/>
            </a:solidFill>
            <a:prstDash val="solid"/>
          </a:ln>
        </p:spPr>
      </p:sp>
      <p:sp>
        <p:nvSpPr>
          <p:cNvPr id="24" name="Text 21"/>
          <p:cNvSpPr txBox="1"/>
          <p:nvPr/>
        </p:nvSpPr>
        <p:spPr>
          <a:xfrm>
            <a:off x="7680960" y="3794760"/>
            <a:ext cx="3108960" cy="292608"/>
          </a:xfrm>
          <a:prstGeom prst="rect">
            <a:avLst/>
          </a:prstGeom>
          <a:noFill/>
        </p:spPr>
        <p:txBody>
          <a:bodyPr wrap="square" lIns="0" tIns="0" rIns="0" bIns="0" rtlCol="0" anchor="ctr"/>
          <a:lstStyle/>
          <a:p>
            <a:pPr marL="0" indent="0">
              <a:buNone/>
            </a:pPr>
            <a:r>
              <a:rPr lang="en-US" sz="1200" dirty="0">
                <a:solidFill>
                  <a:schemeClr val="tx1"/>
                </a:solidFill>
              </a:rPr>
              <a:t>Information Systems</a:t>
            </a:r>
            <a:endParaRPr lang="en-US" sz="1200" dirty="0"/>
          </a:p>
        </p:txBody>
      </p:sp>
      <p:sp>
        <p:nvSpPr>
          <p:cNvPr id="25" name="Mock dropdown arrow"/>
          <p:cNvSpPr/>
          <p:nvPr/>
        </p:nvSpPr>
        <p:spPr>
          <a:xfrm rot="10800000">
            <a:off x="11155680" y="3904488"/>
            <a:ext cx="164592" cy="91440"/>
          </a:xfrm>
          <a:prstGeom prst="triangle">
            <a:avLst/>
          </a:prstGeom>
          <a:solidFill>
            <a:schemeClr val="tx2"/>
          </a:solidFill>
          <a:ln w="6350">
            <a:solidFill>
              <a:schemeClr val="tx2"/>
            </a:solidFill>
            <a:prstDash val="solid"/>
          </a:ln>
        </p:spPr>
      </p:sp>
      <p:sp>
        <p:nvSpPr>
          <p:cNvPr id="26" name="Text 23"/>
          <p:cNvSpPr txBox="1"/>
          <p:nvPr/>
        </p:nvSpPr>
        <p:spPr>
          <a:xfrm>
            <a:off x="7589520" y="4160520"/>
            <a:ext cx="3840480" cy="228600"/>
          </a:xfrm>
          <a:prstGeom prst="rect">
            <a:avLst/>
          </a:prstGeom>
          <a:noFill/>
        </p:spPr>
        <p:txBody>
          <a:bodyPr wrap="square" lIns="0" tIns="0" rIns="0" bIns="0" rtlCol="0" anchor="ctr"/>
          <a:lstStyle/>
          <a:p>
            <a:pPr marL="0" indent="0">
              <a:buNone/>
            </a:pPr>
            <a:r>
              <a:rPr lang="en-US" sz="1200" b="1" dirty="0">
                <a:solidFill>
                  <a:schemeClr val="tx1"/>
                </a:solidFill>
              </a:rPr>
              <a:t>Message:</a:t>
            </a:r>
            <a:endParaRPr lang="en-US" sz="1200" dirty="0"/>
          </a:p>
        </p:txBody>
      </p:sp>
      <p:sp>
        <p:nvSpPr>
          <p:cNvPr id="27" name="Mock field"/>
          <p:cNvSpPr/>
          <p:nvPr/>
        </p:nvSpPr>
        <p:spPr>
          <a:xfrm>
            <a:off x="7589520" y="4389120"/>
            <a:ext cx="3867912" cy="365760"/>
          </a:xfrm>
          <a:prstGeom prst="roundRect">
            <a:avLst>
              <a:gd name="adj" fmla="val 12500"/>
            </a:avLst>
          </a:prstGeom>
          <a:solidFill>
            <a:schemeClr val="bg2"/>
          </a:solidFill>
          <a:ln w="9525">
            <a:solidFill>
              <a:srgbClr val="C9CDD6"/>
            </a:solidFill>
            <a:prstDash val="solid"/>
          </a:ln>
        </p:spPr>
      </p:sp>
      <p:sp>
        <p:nvSpPr>
          <p:cNvPr id="28" name="Mock button"/>
          <p:cNvSpPr/>
          <p:nvPr/>
        </p:nvSpPr>
        <p:spPr>
          <a:xfrm>
            <a:off x="7589520" y="4846320"/>
            <a:ext cx="1280160" cy="310896"/>
          </a:xfrm>
          <a:prstGeom prst="roundRect">
            <a:avLst>
              <a:gd name="adj" fmla="val 17647"/>
            </a:avLst>
          </a:prstGeom>
          <a:solidFill>
            <a:schemeClr val="accent1"/>
          </a:solidFill>
          <a:ln w="6350">
            <a:solidFill>
              <a:schemeClr val="accent1"/>
            </a:solidFill>
            <a:prstDash val="solid"/>
          </a:ln>
        </p:spPr>
      </p:sp>
      <p:sp>
        <p:nvSpPr>
          <p:cNvPr id="29" name="Text 26"/>
          <p:cNvSpPr txBox="1"/>
          <p:nvPr/>
        </p:nvSpPr>
        <p:spPr>
          <a:xfrm>
            <a:off x="7589520" y="4846320"/>
            <a:ext cx="1280160" cy="310896"/>
          </a:xfrm>
          <a:prstGeom prst="rect">
            <a:avLst/>
          </a:prstGeom>
          <a:noFill/>
        </p:spPr>
        <p:txBody>
          <a:bodyPr wrap="square" lIns="0" tIns="0" rIns="0" bIns="0" rtlCol="0" anchor="ctr"/>
          <a:lstStyle/>
          <a:p>
            <a:pPr marL="0" indent="0" algn="ctr">
              <a:buNone/>
            </a:pPr>
            <a:r>
              <a:rPr lang="en-US" sz="1200" b="1" dirty="0">
                <a:solidFill>
                  <a:schemeClr val="bg1"/>
                </a:solidFill>
              </a:rPr>
              <a:t>Register</a:t>
            </a:r>
            <a:endParaRPr lang="en-US" sz="1200" dirty="0"/>
          </a:p>
        </p:txBody>
      </p:sp>
      <p:sp>
        <p:nvSpPr>
          <p:cNvPr id="30" name="Note callout"/>
          <p:cNvSpPr/>
          <p:nvPr/>
        </p:nvSpPr>
        <p:spPr>
          <a:xfrm>
            <a:off x="7406640" y="5440680"/>
            <a:ext cx="4233672" cy="777240"/>
          </a:xfrm>
          <a:prstGeom prst="roundRect">
            <a:avLst>
              <a:gd name="adj" fmla="val 11765"/>
            </a:avLst>
          </a:prstGeom>
          <a:solidFill>
            <a:schemeClr val="accent3">
              <a:alpha val="22000"/>
            </a:schemeClr>
          </a:solidFill>
          <a:ln w="12700">
            <a:solidFill>
              <a:schemeClr val="accent3"/>
            </a:solidFill>
            <a:prstDash val="solid"/>
          </a:ln>
        </p:spPr>
      </p:sp>
      <p:sp>
        <p:nvSpPr>
          <p:cNvPr id="31" name="Text 28"/>
          <p:cNvSpPr txBox="1"/>
          <p:nvPr/>
        </p:nvSpPr>
        <p:spPr>
          <a:xfrm>
            <a:off x="7589520" y="5532120"/>
            <a:ext cx="3867912" cy="594360"/>
          </a:xfrm>
          <a:prstGeom prst="rect">
            <a:avLst/>
          </a:prstGeom>
          <a:noFill/>
        </p:spPr>
        <p:txBody>
          <a:bodyPr wrap="square" lIns="0" tIns="0" rIns="0" bIns="0" rtlCol="0" anchor="ctr"/>
          <a:lstStyle/>
          <a:p>
            <a:pPr marL="0" indent="0">
              <a:buNone/>
            </a:pPr>
            <a:r>
              <a:rPr lang="en-US" sz="1300" b="1" dirty="0">
                <a:solidFill>
                  <a:schemeClr val="tx1"/>
                </a:solidFill>
              </a:rPr>
              <a:t>Note  </a:t>
            </a:r>
            <a:r>
              <a:rPr lang="en-US" sz="1300" dirty="0">
                <a:solidFill>
                  <a:schemeClr val="tx1"/>
                </a:solidFill>
              </a:rPr>
              <a:t>Radios with the same name form one group.</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3106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3106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required</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HTML5 Form Validation</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validate.html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"text"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"user"</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required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minlength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"3"</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maxlength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placeholder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"Username"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"age"</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min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"18"</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max</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"60"</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"text"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"phone"</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pattern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"09[0-9]{8}"</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title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"Format: 09XXXXXXXX"</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&lt;input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type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"password"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"pw"</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required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minlength</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"8"</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graphicFrame>
        <p:nvGraphicFramePr>
          <p:cNvPr id="19" name="Validation attributes table"/>
          <p:cNvGraphicFramePr>
            <a:graphicFrameLocks noGrp="1"/>
          </p:cNvGraphicFramePr>
          <p:nvPr/>
        </p:nvGraphicFramePr>
        <p:xfrm>
          <a:off x="7406640" y="1691640"/>
          <a:ext cx="4233672" cy="3328416"/>
        </p:xfrm>
        <a:graphic>
          <a:graphicData uri="http://schemas.openxmlformats.org/drawingml/2006/table">
            <a:tbl>
              <a:tblPr/>
              <a:tblGrid>
                <a:gridCol w="1828800"/>
                <a:gridCol w="2404872"/>
              </a:tblGrid>
              <a:tr h="475488">
                <a:tc>
                  <a:txBody>
                    <a:bodyPr/>
                    <a:lstStyle/>
                    <a:p>
                      <a:pPr marL="0" indent="0" algn="l">
                        <a:buNone/>
                      </a:pPr>
                      <a:r>
                        <a:rPr lang="en-US" sz="1300" b="1" dirty="0">
                          <a:solidFill>
                            <a:schemeClr val="bg1"/>
                          </a:solidFill>
                        </a:rPr>
                        <a:t>Attribute</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a:txBody>
                    <a:bodyPr/>
                    <a:lstStyle/>
                    <a:p>
                      <a:pPr marL="0" indent="0" algn="l">
                        <a:buNone/>
                      </a:pPr>
                      <a:r>
                        <a:rPr lang="en-US" sz="1300" b="1" dirty="0">
                          <a:solidFill>
                            <a:schemeClr val="bg1"/>
                          </a:solidFill>
                        </a:rPr>
                        <a:t>Effect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r>
              <a:tr h="47548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required</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Field cannot be empty</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7548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minlength maxlength</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Limits text length</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7548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min max</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Limits numbers and dates</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7548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pattern</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Must match a regex</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7548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placeholder</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Hint in an empty field</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75488">
                <a:tc>
                  <a:txBody>
                    <a:bodyPr/>
                    <a:lstStyle/>
                    <a:p>
                      <a:pPr marL="0" indent="0">
                        <a:buNone/>
                      </a:pPr>
                      <a:r>
                        <a:rPr lang="en-US" sz="13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readonly disabled</a:t>
                      </a:r>
                      <a:endParaRPr lang="en-US" sz="1300" dirty="0">
                        <a:latin typeface="Courier New" panose="02070309020205020404" pitchFamily="34" charset="0"/>
                        <a:ea typeface="Courier New" panose="02070309020205020404" pitchFamily="34" charset="0"/>
                        <a:cs typeface="Courier New" panose="02070309020205020404" pitchFamily="34" charset="0"/>
                      </a:endParaRPr>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Blocks editing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bl>
          </a:graphicData>
        </a:graphic>
      </p:graphicFrame>
      <p:sp>
        <p:nvSpPr>
          <p:cNvPr id="13" name="Note callout"/>
          <p:cNvSpPr/>
          <p:nvPr/>
        </p:nvSpPr>
        <p:spPr>
          <a:xfrm>
            <a:off x="7406640" y="5212080"/>
            <a:ext cx="4233672" cy="1005840"/>
          </a:xfrm>
          <a:prstGeom prst="roundRect">
            <a:avLst>
              <a:gd name="adj" fmla="val 9091"/>
            </a:avLst>
          </a:prstGeom>
          <a:solidFill>
            <a:schemeClr val="accent3">
              <a:alpha val="22000"/>
            </a:schemeClr>
          </a:solidFill>
          <a:ln w="12700">
            <a:solidFill>
              <a:schemeClr val="accent3"/>
            </a:solidFill>
            <a:prstDash val="solid"/>
          </a:ln>
        </p:spPr>
      </p:sp>
      <p:sp>
        <p:nvSpPr>
          <p:cNvPr id="14" name="Text 10"/>
          <p:cNvSpPr txBox="1"/>
          <p:nvPr/>
        </p:nvSpPr>
        <p:spPr>
          <a:xfrm>
            <a:off x="7589520" y="5303520"/>
            <a:ext cx="3867912" cy="822960"/>
          </a:xfrm>
          <a:prstGeom prst="rect">
            <a:avLst/>
          </a:prstGeom>
          <a:noFill/>
        </p:spPr>
        <p:txBody>
          <a:bodyPr wrap="square" lIns="0" tIns="0" rIns="0" bIns="0" rtlCol="0" anchor="ctr"/>
          <a:lstStyle/>
          <a:p>
            <a:pPr marL="0" indent="0">
              <a:buNone/>
            </a:pPr>
            <a:r>
              <a:rPr lang="en-US" sz="1300" b="1" dirty="0">
                <a:solidFill>
                  <a:schemeClr val="tx1"/>
                </a:solidFill>
              </a:rPr>
              <a:t>Important  </a:t>
            </a:r>
            <a:r>
              <a:rPr lang="en-US" sz="1300" dirty="0">
                <a:solidFill>
                  <a:schemeClr val="tx1"/>
                </a:solidFill>
              </a:rPr>
              <a:t>Browser checks can be bypassed. Always validate on the server too.</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09728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09728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&lt;main&gt;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Semantic HTML5 Elements</a:t>
            </a:r>
            <a:endParaRPr lang="en-US" sz="3200" dirty="0"/>
          </a:p>
        </p:txBody>
      </p:sp>
      <p:sp>
        <p:nvSpPr>
          <p:cNvPr id="6" name="Wireframe backdrop"/>
          <p:cNvSpPr/>
          <p:nvPr/>
        </p:nvSpPr>
        <p:spPr>
          <a:xfrm>
            <a:off x="548640" y="1691640"/>
            <a:ext cx="5760720" cy="4526280"/>
          </a:xfrm>
          <a:prstGeom prst="roundRect">
            <a:avLst>
              <a:gd name="adj" fmla="val 2020"/>
            </a:avLst>
          </a:prstGeom>
          <a:solidFill>
            <a:schemeClr val="bg2"/>
          </a:solidFill>
          <a:ln w="6350">
            <a:solidFill>
              <a:schemeClr val="bg2"/>
            </a:solidFill>
            <a:prstDash val="solid"/>
          </a:ln>
        </p:spPr>
      </p:sp>
      <p:sp>
        <p:nvSpPr>
          <p:cNvPr id="7" name="Wireframe block"/>
          <p:cNvSpPr/>
          <p:nvPr/>
        </p:nvSpPr>
        <p:spPr>
          <a:xfrm>
            <a:off x="777240" y="1874520"/>
            <a:ext cx="5303520" cy="640080"/>
          </a:xfrm>
          <a:prstGeom prst="roundRect">
            <a:avLst>
              <a:gd name="adj" fmla="val 8571"/>
            </a:avLst>
          </a:prstGeom>
          <a:solidFill>
            <a:schemeClr val="accent1"/>
          </a:solidFill>
          <a:ln w="6350">
            <a:solidFill>
              <a:schemeClr val="accent1"/>
            </a:solidFill>
            <a:prstDash val="solid"/>
          </a:ln>
        </p:spPr>
      </p:sp>
      <p:sp>
        <p:nvSpPr>
          <p:cNvPr id="8" name="Text 5"/>
          <p:cNvSpPr txBox="1"/>
          <p:nvPr/>
        </p:nvSpPr>
        <p:spPr>
          <a:xfrm>
            <a:off x="777240" y="1874520"/>
            <a:ext cx="5303520" cy="640080"/>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&lt;header&gt;</a:t>
            </a:r>
            <a:endParaRPr lang="en-US" sz="1400" dirty="0"/>
          </a:p>
        </p:txBody>
      </p:sp>
      <p:sp>
        <p:nvSpPr>
          <p:cNvPr id="9" name="Wireframe block"/>
          <p:cNvSpPr/>
          <p:nvPr/>
        </p:nvSpPr>
        <p:spPr>
          <a:xfrm>
            <a:off x="777240" y="2651760"/>
            <a:ext cx="5303520" cy="457200"/>
          </a:xfrm>
          <a:prstGeom prst="roundRect">
            <a:avLst>
              <a:gd name="adj" fmla="val 12000"/>
            </a:avLst>
          </a:prstGeom>
          <a:solidFill>
            <a:schemeClr val="accent2"/>
          </a:solidFill>
          <a:ln w="6350">
            <a:solidFill>
              <a:schemeClr val="accent2"/>
            </a:solidFill>
            <a:prstDash val="solid"/>
          </a:ln>
        </p:spPr>
      </p:sp>
      <p:sp>
        <p:nvSpPr>
          <p:cNvPr id="10" name="Text 7"/>
          <p:cNvSpPr txBox="1"/>
          <p:nvPr/>
        </p:nvSpPr>
        <p:spPr>
          <a:xfrm>
            <a:off x="777240" y="2651760"/>
            <a:ext cx="5303520" cy="457200"/>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&lt;nav&gt;</a:t>
            </a:r>
            <a:endParaRPr lang="en-US" sz="1400" dirty="0"/>
          </a:p>
        </p:txBody>
      </p:sp>
      <p:sp>
        <p:nvSpPr>
          <p:cNvPr id="11" name="Main container"/>
          <p:cNvSpPr/>
          <p:nvPr/>
        </p:nvSpPr>
        <p:spPr>
          <a:xfrm>
            <a:off x="777240" y="3246120"/>
            <a:ext cx="5303520" cy="2148840"/>
          </a:xfrm>
          <a:prstGeom prst="roundRect">
            <a:avLst>
              <a:gd name="adj" fmla="val 2553"/>
            </a:avLst>
          </a:prstGeom>
          <a:solidFill>
            <a:srgbClr val="FFFFFF"/>
          </a:solidFill>
          <a:ln w="15875">
            <a:solidFill>
              <a:schemeClr val="tx2"/>
            </a:solidFill>
            <a:prstDash val="dash"/>
          </a:ln>
        </p:spPr>
      </p:sp>
      <p:sp>
        <p:nvSpPr>
          <p:cNvPr id="12" name="Text 9"/>
          <p:cNvSpPr txBox="1"/>
          <p:nvPr/>
        </p:nvSpPr>
        <p:spPr>
          <a:xfrm>
            <a:off x="914400" y="3310128"/>
            <a:ext cx="1371600" cy="256032"/>
          </a:xfrm>
          <a:prstGeom prst="rect">
            <a:avLst/>
          </a:prstGeom>
          <a:noFill/>
        </p:spPr>
        <p:txBody>
          <a:bodyPr wrap="square" lIns="0" tIns="0" rIns="0" bIns="0" rtlCol="0" anchor="ctr"/>
          <a:lstStyle/>
          <a:p>
            <a:pPr marL="0" indent="0">
              <a:buNone/>
            </a:pPr>
            <a:r>
              <a:rPr lang="en-US" sz="1200" b="1" dirty="0">
                <a:solidFill>
                  <a:schemeClr val="tx2"/>
                </a:solidFill>
                <a:latin typeface="Courier New" panose="02070309020205020404" pitchFamily="34" charset="0"/>
                <a:ea typeface="Courier New" panose="02070309020205020404" pitchFamily="34" charset="-122"/>
                <a:cs typeface="Courier New" panose="02070309020205020404" pitchFamily="34" charset="-120"/>
              </a:rPr>
              <a:t>&lt;main&gt;</a:t>
            </a:r>
            <a:endParaRPr lang="en-US" sz="1200" dirty="0"/>
          </a:p>
        </p:txBody>
      </p:sp>
      <p:sp>
        <p:nvSpPr>
          <p:cNvPr id="13" name="Wireframe block"/>
          <p:cNvSpPr/>
          <p:nvPr/>
        </p:nvSpPr>
        <p:spPr>
          <a:xfrm>
            <a:off x="914400" y="3657600"/>
            <a:ext cx="3200400" cy="1600200"/>
          </a:xfrm>
          <a:prstGeom prst="roundRect">
            <a:avLst>
              <a:gd name="adj" fmla="val 3429"/>
            </a:avLst>
          </a:prstGeom>
          <a:solidFill>
            <a:schemeClr val="accent4"/>
          </a:solidFill>
          <a:ln w="6350">
            <a:solidFill>
              <a:schemeClr val="accent4"/>
            </a:solidFill>
            <a:prstDash val="solid"/>
          </a:ln>
        </p:spPr>
      </p:sp>
      <p:sp>
        <p:nvSpPr>
          <p:cNvPr id="14" name="Text 11"/>
          <p:cNvSpPr txBox="1"/>
          <p:nvPr/>
        </p:nvSpPr>
        <p:spPr>
          <a:xfrm>
            <a:off x="914400" y="3657600"/>
            <a:ext cx="3200400" cy="1600200"/>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&lt;article&gt;</a:t>
            </a:r>
            <a:endParaRPr lang="en-US" sz="1400" dirty="0"/>
          </a:p>
        </p:txBody>
      </p:sp>
      <p:sp>
        <p:nvSpPr>
          <p:cNvPr id="15" name="Wireframe block"/>
          <p:cNvSpPr/>
          <p:nvPr/>
        </p:nvSpPr>
        <p:spPr>
          <a:xfrm>
            <a:off x="4251960" y="3657600"/>
            <a:ext cx="1691640" cy="1600200"/>
          </a:xfrm>
          <a:prstGeom prst="roundRect">
            <a:avLst>
              <a:gd name="adj" fmla="val 3429"/>
            </a:avLst>
          </a:prstGeom>
          <a:solidFill>
            <a:schemeClr val="accent5"/>
          </a:solidFill>
          <a:ln w="6350">
            <a:solidFill>
              <a:schemeClr val="accent5"/>
            </a:solidFill>
            <a:prstDash val="solid"/>
          </a:ln>
        </p:spPr>
      </p:sp>
      <p:sp>
        <p:nvSpPr>
          <p:cNvPr id="16" name="Text 13"/>
          <p:cNvSpPr txBox="1"/>
          <p:nvPr/>
        </p:nvSpPr>
        <p:spPr>
          <a:xfrm>
            <a:off x="4251960" y="3657600"/>
            <a:ext cx="1691640" cy="1600200"/>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&lt;aside&gt;</a:t>
            </a:r>
            <a:endParaRPr lang="en-US" sz="1400" dirty="0"/>
          </a:p>
        </p:txBody>
      </p:sp>
      <p:sp>
        <p:nvSpPr>
          <p:cNvPr id="17" name="Wireframe block"/>
          <p:cNvSpPr/>
          <p:nvPr/>
        </p:nvSpPr>
        <p:spPr>
          <a:xfrm>
            <a:off x="777240" y="5532120"/>
            <a:ext cx="5303520" cy="502920"/>
          </a:xfrm>
          <a:prstGeom prst="roundRect">
            <a:avLst>
              <a:gd name="adj" fmla="val 10909"/>
            </a:avLst>
          </a:prstGeom>
          <a:solidFill>
            <a:schemeClr val="tx1"/>
          </a:solidFill>
          <a:ln w="6350">
            <a:solidFill>
              <a:schemeClr val="tx1"/>
            </a:solidFill>
            <a:prstDash val="solid"/>
          </a:ln>
        </p:spPr>
      </p:sp>
      <p:sp>
        <p:nvSpPr>
          <p:cNvPr id="18" name="Text 15"/>
          <p:cNvSpPr txBox="1"/>
          <p:nvPr/>
        </p:nvSpPr>
        <p:spPr>
          <a:xfrm>
            <a:off x="777240" y="5532120"/>
            <a:ext cx="5303520" cy="502920"/>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&lt;footer&gt;</a:t>
            </a:r>
            <a:endParaRPr lang="en-US" sz="1400" dirty="0"/>
          </a:p>
        </p:txBody>
      </p:sp>
      <p:sp>
        <p:nvSpPr>
          <p:cNvPr id="19" name="Text 16"/>
          <p:cNvSpPr txBox="1"/>
          <p:nvPr/>
        </p:nvSpPr>
        <p:spPr>
          <a:xfrm>
            <a:off x="6583680" y="1691640"/>
            <a:ext cx="5029200" cy="365760"/>
          </a:xfrm>
          <a:prstGeom prst="rect">
            <a:avLst/>
          </a:prstGeom>
          <a:noFill/>
        </p:spPr>
        <p:txBody>
          <a:bodyPr wrap="square" lIns="0" tIns="0" rIns="0" bIns="0" rtlCol="0" anchor="ctr"/>
          <a:lstStyle/>
          <a:p>
            <a:pPr marL="0" indent="0">
              <a:buNone/>
            </a:pPr>
            <a:r>
              <a:rPr lang="en-US" sz="1700" b="1" dirty="0">
                <a:solidFill>
                  <a:schemeClr val="tx1"/>
                </a:solidFill>
              </a:rPr>
              <a:t>Landmark elements</a:t>
            </a:r>
            <a:endParaRPr lang="en-US" sz="1700" dirty="0"/>
          </a:p>
        </p:txBody>
      </p:sp>
      <p:sp>
        <p:nvSpPr>
          <p:cNvPr id="20" name="Text 17"/>
          <p:cNvSpPr txBox="1"/>
          <p:nvPr/>
        </p:nvSpPr>
        <p:spPr>
          <a:xfrm>
            <a:off x="6583680" y="2148840"/>
            <a:ext cx="5056632" cy="2743200"/>
          </a:xfrm>
          <a:prstGeom prst="rect">
            <a:avLst/>
          </a:prstGeom>
          <a:noFill/>
        </p:spPr>
        <p:txBody>
          <a:bodyPr wrap="square" lIns="0" tIns="0" rIns="0" bIns="0" rtlCol="0" anchor="t"/>
          <a:lstStyle/>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&lt;header&gt;</a:t>
            </a:r>
            <a:r>
              <a:rPr lang="en-US" sz="1400" dirty="0">
                <a:solidFill>
                  <a:schemeClr val="tx1"/>
                </a:solidFill>
              </a:rPr>
              <a:t>  logo, title, introduction</a:t>
            </a:r>
            <a:endParaRPr lang="en-US" sz="1400" dirty="0"/>
          </a:p>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&lt;nav&gt;</a:t>
            </a:r>
            <a:r>
              <a:rPr lang="en-US" sz="1400" dirty="0">
                <a:solidFill>
                  <a:schemeClr val="tx1"/>
                </a:solidFill>
              </a:rPr>
              <a:t>  main navigation links</a:t>
            </a:r>
            <a:endParaRPr lang="en-US" sz="1400" dirty="0"/>
          </a:p>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&lt;main&gt;</a:t>
            </a:r>
            <a:r>
              <a:rPr lang="en-US" sz="1400" dirty="0">
                <a:solidFill>
                  <a:schemeClr val="tx1"/>
                </a:solidFill>
              </a:rPr>
              <a:t>  unique page content (one per page)</a:t>
            </a:r>
            <a:endParaRPr lang="en-US" sz="1400" dirty="0"/>
          </a:p>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&lt;section&gt;</a:t>
            </a:r>
            <a:r>
              <a:rPr lang="en-US" sz="1400" dirty="0">
                <a:solidFill>
                  <a:schemeClr val="tx1"/>
                </a:solidFill>
              </a:rPr>
              <a:t>  thematic group, usually with a heading</a:t>
            </a:r>
            <a:endParaRPr lang="en-US" sz="1400" dirty="0"/>
          </a:p>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&lt;article&gt;</a:t>
            </a:r>
            <a:r>
              <a:rPr lang="en-US" sz="1400" dirty="0">
                <a:solidFill>
                  <a:schemeClr val="tx1"/>
                </a:solidFill>
              </a:rPr>
              <a:t>  self-contained item, such as a post</a:t>
            </a:r>
            <a:endParaRPr lang="en-US" sz="1400" dirty="0"/>
          </a:p>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&lt;aside&gt;</a:t>
            </a:r>
            <a:r>
              <a:rPr lang="en-US" sz="1400" dirty="0">
                <a:solidFill>
                  <a:schemeClr val="tx1"/>
                </a:solidFill>
              </a:rPr>
              <a:t>  related side information</a:t>
            </a:r>
            <a:endParaRPr lang="en-US" sz="1400" dirty="0"/>
          </a:p>
          <a:p>
            <a:pPr marL="0" indent="0">
              <a:spcAft>
                <a:spcPts val="600"/>
              </a:spcAft>
              <a:buNone/>
            </a:pPr>
            <a:r>
              <a:rPr lang="en-US" sz="1400" b="1" dirty="0">
                <a:solidFill>
                  <a:schemeClr val="accent2"/>
                </a:solidFill>
                <a:latin typeface="Courier New" panose="02070309020205020404" pitchFamily="34" charset="0"/>
                <a:ea typeface="Courier New" panose="02070309020205020404" pitchFamily="34" charset="-122"/>
                <a:cs typeface="Courier New" panose="02070309020205020404" pitchFamily="34" charset="-120"/>
              </a:rPr>
              <a:t>&lt;footer&gt;</a:t>
            </a:r>
            <a:r>
              <a:rPr lang="en-US" sz="1400" dirty="0">
                <a:solidFill>
                  <a:schemeClr val="tx1"/>
                </a:solidFill>
              </a:rPr>
              <a:t>  author, copyright, contacts</a:t>
            </a:r>
            <a:endParaRPr lang="en-US" sz="1400" dirty="0"/>
          </a:p>
        </p:txBody>
      </p:sp>
      <p:sp>
        <p:nvSpPr>
          <p:cNvPr id="21" name="Note callout"/>
          <p:cNvSpPr/>
          <p:nvPr/>
        </p:nvSpPr>
        <p:spPr>
          <a:xfrm>
            <a:off x="6583680" y="5029200"/>
            <a:ext cx="5056632" cy="1188720"/>
          </a:xfrm>
          <a:prstGeom prst="roundRect">
            <a:avLst>
              <a:gd name="adj" fmla="val 7692"/>
            </a:avLst>
          </a:prstGeom>
          <a:solidFill>
            <a:schemeClr val="accent3">
              <a:alpha val="22000"/>
            </a:schemeClr>
          </a:solidFill>
          <a:ln w="12700">
            <a:solidFill>
              <a:schemeClr val="accent3"/>
            </a:solidFill>
            <a:prstDash val="solid"/>
          </a:ln>
        </p:spPr>
      </p:sp>
      <p:sp>
        <p:nvSpPr>
          <p:cNvPr id="22" name="Text 19"/>
          <p:cNvSpPr txBox="1"/>
          <p:nvPr/>
        </p:nvSpPr>
        <p:spPr>
          <a:xfrm>
            <a:off x="6766560" y="5120640"/>
            <a:ext cx="4690872" cy="1005840"/>
          </a:xfrm>
          <a:prstGeom prst="rect">
            <a:avLst/>
          </a:prstGeom>
          <a:noFill/>
        </p:spPr>
        <p:txBody>
          <a:bodyPr wrap="square" lIns="0" tIns="0" rIns="0" bIns="0" rtlCol="0" anchor="ctr"/>
          <a:lstStyle/>
          <a:p>
            <a:pPr marL="0" indent="0">
              <a:buNone/>
            </a:pPr>
            <a:r>
              <a:rPr lang="en-US" sz="1300" b="1" dirty="0">
                <a:solidFill>
                  <a:schemeClr val="tx1"/>
                </a:solidFill>
              </a:rPr>
              <a:t>Why semantic?  </a:t>
            </a:r>
            <a:r>
              <a:rPr lang="en-US" sz="1300" dirty="0">
                <a:solidFill>
                  <a:schemeClr val="tx1"/>
                </a:solidFill>
              </a:rPr>
              <a:t>Better accessibility for screen readers, SEO, readability and easier maintenance.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3106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3106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&lt;header&gt;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Semantic Page Layout in Code</a:t>
            </a:r>
            <a:endParaRPr lang="en-US" sz="3200" dirty="0"/>
          </a:p>
        </p:txBody>
      </p:sp>
      <p:sp>
        <p:nvSpPr>
          <p:cNvPr id="6" name="Code panel"/>
          <p:cNvSpPr/>
          <p:nvPr/>
        </p:nvSpPr>
        <p:spPr>
          <a:xfrm>
            <a:off x="548640" y="1691640"/>
            <a:ext cx="6583680" cy="4526280"/>
          </a:xfrm>
          <a:prstGeom prst="roundRect">
            <a:avLst>
              <a:gd name="adj" fmla="val 2020"/>
            </a:avLst>
          </a:prstGeom>
          <a:solidFill>
            <a:schemeClr val="tx1"/>
          </a:solidFill>
          <a:ln w="6350">
            <a:solidFill>
              <a:schemeClr val="tx1"/>
            </a:solidFill>
            <a:prstDash val="solid"/>
          </a:ln>
        </p:spPr>
      </p:sp>
      <p:sp>
        <p:nvSpPr>
          <p:cNvPr id="7" name="Window dot"/>
          <p:cNvSpPr/>
          <p:nvPr/>
        </p:nvSpPr>
        <p:spPr>
          <a:xfrm>
            <a:off x="777240" y="1874520"/>
            <a:ext cx="118872" cy="118872"/>
          </a:xfrm>
          <a:prstGeom prst="ellipse">
            <a:avLst/>
          </a:prstGeom>
          <a:solidFill>
            <a:srgbClr val="FF5F56"/>
          </a:solidFill>
          <a:ln w="3175">
            <a:solidFill>
              <a:srgbClr val="FF5F56"/>
            </a:solidFill>
            <a:prstDash val="solid"/>
          </a:ln>
        </p:spPr>
      </p:sp>
      <p:sp>
        <p:nvSpPr>
          <p:cNvPr id="8" name="Window dot"/>
          <p:cNvSpPr/>
          <p:nvPr/>
        </p:nvSpPr>
        <p:spPr>
          <a:xfrm>
            <a:off x="960120" y="1874520"/>
            <a:ext cx="118872" cy="118872"/>
          </a:xfrm>
          <a:prstGeom prst="ellipse">
            <a:avLst/>
          </a:prstGeom>
          <a:solidFill>
            <a:srgbClr val="FFBD2E"/>
          </a:solidFill>
          <a:ln w="3175">
            <a:solidFill>
              <a:srgbClr val="FFBD2E"/>
            </a:solidFill>
            <a:prstDash val="solid"/>
          </a:ln>
        </p:spPr>
      </p:sp>
      <p:sp>
        <p:nvSpPr>
          <p:cNvPr id="9" name="Window dot"/>
          <p:cNvSpPr/>
          <p:nvPr/>
        </p:nvSpPr>
        <p:spPr>
          <a:xfrm>
            <a:off x="1143000" y="1874520"/>
            <a:ext cx="118872" cy="118872"/>
          </a:xfrm>
          <a:prstGeom prst="ellipse">
            <a:avLst/>
          </a:prstGeom>
          <a:solidFill>
            <a:srgbClr val="27C93F"/>
          </a:solidFill>
          <a:ln w="3175">
            <a:solidFill>
              <a:srgbClr val="27C93F"/>
            </a:solidFill>
            <a:prstDash val="solid"/>
          </a:ln>
        </p:spPr>
      </p:sp>
      <p:sp>
        <p:nvSpPr>
          <p:cNvPr id="10" name="Text 7"/>
          <p:cNvSpPr txBox="1"/>
          <p:nvPr/>
        </p:nvSpPr>
        <p:spPr>
          <a:xfrm>
            <a:off x="1417320" y="1828800"/>
            <a:ext cx="5486400"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club.html</a:t>
            </a:r>
            <a:endParaRPr lang="en-US" sz="1000" dirty="0"/>
          </a:p>
        </p:txBody>
      </p:sp>
      <p:sp>
        <p:nvSpPr>
          <p:cNvPr id="11" name="Text 8"/>
          <p:cNvSpPr txBox="1"/>
          <p:nvPr/>
        </p:nvSpPr>
        <p:spPr>
          <a:xfrm>
            <a:off x="777240" y="2194560"/>
            <a:ext cx="6126480"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Wollo Informatics Club</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"index.html"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Home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"events.html"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Events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&lt;main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&lt;article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Hackathon 2026</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&lt;/h2</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Join us this semester.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&lt;/article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&lt;aside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&lt;h3</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Related links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&lt;/h3</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&lt;/aside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&lt;/main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&lt;footer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&amp;copy; 2026 Wollo University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&lt;/footer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2" name="Text 9"/>
          <p:cNvSpPr txBox="1"/>
          <p:nvPr/>
        </p:nvSpPr>
        <p:spPr>
          <a:xfrm>
            <a:off x="7406640" y="1691640"/>
            <a:ext cx="4233672" cy="274320"/>
          </a:xfrm>
          <a:prstGeom prst="rect">
            <a:avLst/>
          </a:prstGeom>
          <a:noFill/>
        </p:spPr>
        <p:txBody>
          <a:bodyPr wrap="square" lIns="0" tIns="0" rIns="0" bIns="0" rtlCol="0" anchor="ctr"/>
          <a:lstStyle/>
          <a:p>
            <a:pPr marL="0" indent="0">
              <a:buNone/>
            </a:pPr>
            <a:r>
              <a:rPr lang="en-US" sz="1400" b="1" dirty="0">
                <a:solidFill>
                  <a:schemeClr val="tx1"/>
                </a:solidFill>
              </a:rPr>
              <a:t>Non-semantic (avoid)</a:t>
            </a:r>
            <a:endParaRPr lang="en-US" sz="1400" dirty="0"/>
          </a:p>
        </p:txBody>
      </p:sp>
      <p:sp>
        <p:nvSpPr>
          <p:cNvPr id="13" name="Code panel"/>
          <p:cNvSpPr/>
          <p:nvPr/>
        </p:nvSpPr>
        <p:spPr>
          <a:xfrm>
            <a:off x="7406640" y="2011680"/>
            <a:ext cx="4233672" cy="1097280"/>
          </a:xfrm>
          <a:prstGeom prst="roundRect">
            <a:avLst>
              <a:gd name="adj" fmla="val 8333"/>
            </a:avLst>
          </a:prstGeom>
          <a:solidFill>
            <a:schemeClr val="tx1"/>
          </a:solidFill>
          <a:ln w="6350">
            <a:solidFill>
              <a:schemeClr val="tx1"/>
            </a:solidFill>
            <a:prstDash val="solid"/>
          </a:ln>
        </p:spPr>
      </p:sp>
      <p:sp>
        <p:nvSpPr>
          <p:cNvPr id="14" name="Text 11"/>
          <p:cNvSpPr txBox="1"/>
          <p:nvPr/>
        </p:nvSpPr>
        <p:spPr>
          <a:xfrm>
            <a:off x="7635240" y="2194560"/>
            <a:ext cx="3776472" cy="77724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&lt;div</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class</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&lt;div</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class</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&lt;/div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&lt;/div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5" name="Text 12"/>
          <p:cNvSpPr txBox="1"/>
          <p:nvPr/>
        </p:nvSpPr>
        <p:spPr>
          <a:xfrm>
            <a:off x="7406640" y="3291840"/>
            <a:ext cx="4233672" cy="274320"/>
          </a:xfrm>
          <a:prstGeom prst="rect">
            <a:avLst/>
          </a:prstGeom>
          <a:noFill/>
        </p:spPr>
        <p:txBody>
          <a:bodyPr wrap="square" lIns="0" tIns="0" rIns="0" bIns="0" rtlCol="0" anchor="ctr"/>
          <a:lstStyle/>
          <a:p>
            <a:pPr marL="0" indent="0">
              <a:buNone/>
            </a:pPr>
            <a:r>
              <a:rPr lang="en-US" sz="1400" b="1" dirty="0">
                <a:solidFill>
                  <a:schemeClr val="tx1"/>
                </a:solidFill>
              </a:rPr>
              <a:t>Semantic (prefer)</a:t>
            </a:r>
            <a:endParaRPr lang="en-US" sz="1400" dirty="0"/>
          </a:p>
        </p:txBody>
      </p:sp>
      <p:sp>
        <p:nvSpPr>
          <p:cNvPr id="16" name="Code panel"/>
          <p:cNvSpPr/>
          <p:nvPr/>
        </p:nvSpPr>
        <p:spPr>
          <a:xfrm>
            <a:off x="7406640" y="3611880"/>
            <a:ext cx="4233672" cy="1097280"/>
          </a:xfrm>
          <a:prstGeom prst="roundRect">
            <a:avLst>
              <a:gd name="adj" fmla="val 8333"/>
            </a:avLst>
          </a:prstGeom>
          <a:solidFill>
            <a:schemeClr val="tx1"/>
          </a:solidFill>
          <a:ln w="6350">
            <a:solidFill>
              <a:schemeClr val="tx1"/>
            </a:solidFill>
            <a:prstDash val="solid"/>
          </a:ln>
        </p:spPr>
      </p:sp>
      <p:sp>
        <p:nvSpPr>
          <p:cNvPr id="17" name="Text 14"/>
          <p:cNvSpPr txBox="1"/>
          <p:nvPr/>
        </p:nvSpPr>
        <p:spPr>
          <a:xfrm>
            <a:off x="7635240" y="3794760"/>
            <a:ext cx="3776472" cy="77724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18" name="Note callout"/>
          <p:cNvSpPr/>
          <p:nvPr/>
        </p:nvSpPr>
        <p:spPr>
          <a:xfrm>
            <a:off x="7406640" y="5029200"/>
            <a:ext cx="4233672" cy="1188720"/>
          </a:xfrm>
          <a:prstGeom prst="roundRect">
            <a:avLst>
              <a:gd name="adj" fmla="val 7692"/>
            </a:avLst>
          </a:prstGeom>
          <a:solidFill>
            <a:schemeClr val="accent3">
              <a:alpha val="22000"/>
            </a:schemeClr>
          </a:solidFill>
          <a:ln w="12700">
            <a:solidFill>
              <a:schemeClr val="accent3"/>
            </a:solidFill>
            <a:prstDash val="solid"/>
          </a:ln>
        </p:spPr>
      </p:sp>
      <p:sp>
        <p:nvSpPr>
          <p:cNvPr id="19" name="Text 16"/>
          <p:cNvSpPr txBox="1"/>
          <p:nvPr/>
        </p:nvSpPr>
        <p:spPr>
          <a:xfrm>
            <a:off x="7589520" y="5120640"/>
            <a:ext cx="3867912" cy="1005840"/>
          </a:xfrm>
          <a:prstGeom prst="rect">
            <a:avLst/>
          </a:prstGeom>
          <a:noFill/>
        </p:spPr>
        <p:txBody>
          <a:bodyPr wrap="square" lIns="0" tIns="0" rIns="0" bIns="0" rtlCol="0" anchor="ctr"/>
          <a:lstStyle/>
          <a:p>
            <a:pPr marL="0" indent="0">
              <a:buNone/>
            </a:pPr>
            <a:r>
              <a:rPr lang="en-US" sz="1300" b="1" dirty="0">
                <a:solidFill>
                  <a:schemeClr val="tx1"/>
                </a:solidFill>
              </a:rPr>
              <a:t>Rule  </a:t>
            </a:r>
            <a:r>
              <a:rPr lang="en-US" sz="1300" dirty="0">
                <a:solidFill>
                  <a:schemeClr val="tx1"/>
                </a:solidFill>
              </a:rPr>
              <a:t>Use one &lt;main&gt; per page. Start each &lt;section&gt; with a heading.</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20396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20396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&lt;title&gt;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SEO Basics for HTML</a:t>
            </a:r>
            <a:endParaRPr lang="en-US" sz="3200" dirty="0"/>
          </a:p>
        </p:txBody>
      </p:sp>
      <p:sp>
        <p:nvSpPr>
          <p:cNvPr id="6" name="SEO card"/>
          <p:cNvSpPr/>
          <p:nvPr/>
        </p:nvSpPr>
        <p:spPr>
          <a:xfrm>
            <a:off x="548640" y="1691640"/>
            <a:ext cx="3246120" cy="1371600"/>
          </a:xfrm>
          <a:prstGeom prst="roundRect">
            <a:avLst>
              <a:gd name="adj" fmla="val 6667"/>
            </a:avLst>
          </a:prstGeom>
          <a:solidFill>
            <a:schemeClr val="bg2"/>
          </a:solidFill>
          <a:ln w="6350">
            <a:solidFill>
              <a:schemeClr val="bg2"/>
            </a:solidFill>
            <a:prstDash val="solid"/>
          </a:ln>
        </p:spPr>
      </p:sp>
      <p:sp>
        <p:nvSpPr>
          <p:cNvPr id="7" name="Number badge"/>
          <p:cNvSpPr/>
          <p:nvPr/>
        </p:nvSpPr>
        <p:spPr>
          <a:xfrm>
            <a:off x="731520" y="1874520"/>
            <a:ext cx="365760" cy="365760"/>
          </a:xfrm>
          <a:prstGeom prst="ellipse">
            <a:avLst/>
          </a:prstGeom>
          <a:solidFill>
            <a:schemeClr val="accent1"/>
          </a:solidFill>
          <a:ln w="6350">
            <a:solidFill>
              <a:schemeClr val="accent1"/>
            </a:solidFill>
            <a:prstDash val="solid"/>
          </a:ln>
        </p:spPr>
      </p:sp>
      <p:sp>
        <p:nvSpPr>
          <p:cNvPr id="8" name="Text 5"/>
          <p:cNvSpPr txBox="1"/>
          <p:nvPr/>
        </p:nvSpPr>
        <p:spPr>
          <a:xfrm>
            <a:off x="731520" y="1874520"/>
            <a:ext cx="365760" cy="365760"/>
          </a:xfrm>
          <a:prstGeom prst="rect">
            <a:avLst/>
          </a:prstGeom>
          <a:noFill/>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Text 6"/>
          <p:cNvSpPr txBox="1"/>
          <p:nvPr/>
        </p:nvSpPr>
        <p:spPr>
          <a:xfrm>
            <a:off x="1234440" y="1874520"/>
            <a:ext cx="2423160" cy="365760"/>
          </a:xfrm>
          <a:prstGeom prst="rect">
            <a:avLst/>
          </a:prstGeom>
          <a:noFill/>
        </p:spPr>
        <p:txBody>
          <a:bodyPr wrap="square" lIns="0" tIns="0" rIns="0" bIns="0" rtlCol="0" anchor="ctr"/>
          <a:lstStyle/>
          <a:p>
            <a:pPr marL="0" indent="0">
              <a:buNone/>
            </a:pPr>
            <a:r>
              <a:rPr lang="en-US" sz="1600" b="1" dirty="0">
                <a:solidFill>
                  <a:schemeClr val="tx1"/>
                </a:solidFill>
              </a:rPr>
              <a:t>Unique title</a:t>
            </a:r>
            <a:endParaRPr lang="en-US" sz="1600" dirty="0"/>
          </a:p>
        </p:txBody>
      </p:sp>
      <p:sp>
        <p:nvSpPr>
          <p:cNvPr id="10" name="Text 7"/>
          <p:cNvSpPr txBox="1"/>
          <p:nvPr/>
        </p:nvSpPr>
        <p:spPr>
          <a:xfrm>
            <a:off x="731520" y="2377440"/>
            <a:ext cx="2926080" cy="594360"/>
          </a:xfrm>
          <a:prstGeom prst="rect">
            <a:avLst/>
          </a:prstGeom>
          <a:noFill/>
        </p:spPr>
        <p:txBody>
          <a:bodyPr wrap="square" lIns="0" tIns="0" rIns="0" bIns="0" rtlCol="0" anchor="t"/>
          <a:lstStyle/>
          <a:p>
            <a:pPr marL="0" indent="0">
              <a:buNone/>
            </a:pPr>
            <a:r>
              <a:rPr lang="en-US" sz="1400" dirty="0">
                <a:solidFill>
                  <a:schemeClr val="tx2"/>
                </a:solidFill>
              </a:rPr>
              <a:t>50–60 characters, key words first</a:t>
            </a:r>
            <a:endParaRPr lang="en-US" sz="1400" dirty="0"/>
          </a:p>
        </p:txBody>
      </p:sp>
      <p:sp>
        <p:nvSpPr>
          <p:cNvPr id="11" name="SEO card"/>
          <p:cNvSpPr/>
          <p:nvPr/>
        </p:nvSpPr>
        <p:spPr>
          <a:xfrm>
            <a:off x="3977640" y="1691640"/>
            <a:ext cx="3246120" cy="1371600"/>
          </a:xfrm>
          <a:prstGeom prst="roundRect">
            <a:avLst>
              <a:gd name="adj" fmla="val 6667"/>
            </a:avLst>
          </a:prstGeom>
          <a:solidFill>
            <a:schemeClr val="bg2"/>
          </a:solidFill>
          <a:ln w="6350">
            <a:solidFill>
              <a:schemeClr val="bg2"/>
            </a:solidFill>
            <a:prstDash val="solid"/>
          </a:ln>
        </p:spPr>
      </p:sp>
      <p:sp>
        <p:nvSpPr>
          <p:cNvPr id="12" name="Number badge"/>
          <p:cNvSpPr/>
          <p:nvPr/>
        </p:nvSpPr>
        <p:spPr>
          <a:xfrm>
            <a:off x="4160520" y="1874520"/>
            <a:ext cx="365760" cy="365760"/>
          </a:xfrm>
          <a:prstGeom prst="ellipse">
            <a:avLst/>
          </a:prstGeom>
          <a:solidFill>
            <a:schemeClr val="accent1"/>
          </a:solidFill>
          <a:ln w="6350">
            <a:solidFill>
              <a:schemeClr val="accent1"/>
            </a:solidFill>
            <a:prstDash val="solid"/>
          </a:ln>
        </p:spPr>
      </p:sp>
      <p:sp>
        <p:nvSpPr>
          <p:cNvPr id="13" name="Text 10"/>
          <p:cNvSpPr txBox="1"/>
          <p:nvPr/>
        </p:nvSpPr>
        <p:spPr>
          <a:xfrm>
            <a:off x="4160520" y="1874520"/>
            <a:ext cx="365760" cy="365760"/>
          </a:xfrm>
          <a:prstGeom prst="rect">
            <a:avLst/>
          </a:prstGeom>
          <a:noFill/>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4" name="Text 11"/>
          <p:cNvSpPr txBox="1"/>
          <p:nvPr/>
        </p:nvSpPr>
        <p:spPr>
          <a:xfrm>
            <a:off x="4663440" y="1874520"/>
            <a:ext cx="2423160" cy="365760"/>
          </a:xfrm>
          <a:prstGeom prst="rect">
            <a:avLst/>
          </a:prstGeom>
          <a:noFill/>
        </p:spPr>
        <p:txBody>
          <a:bodyPr wrap="square" lIns="0" tIns="0" rIns="0" bIns="0" rtlCol="0" anchor="ctr"/>
          <a:lstStyle/>
          <a:p>
            <a:pPr marL="0" indent="0">
              <a:buNone/>
            </a:pPr>
            <a:r>
              <a:rPr lang="en-US" sz="1600" b="1" dirty="0">
                <a:solidFill>
                  <a:schemeClr val="tx1"/>
                </a:solidFill>
              </a:rPr>
              <a:t>Meta description</a:t>
            </a:r>
            <a:endParaRPr lang="en-US" sz="1600" dirty="0"/>
          </a:p>
        </p:txBody>
      </p:sp>
      <p:sp>
        <p:nvSpPr>
          <p:cNvPr id="15" name="Text 12"/>
          <p:cNvSpPr txBox="1"/>
          <p:nvPr/>
        </p:nvSpPr>
        <p:spPr>
          <a:xfrm>
            <a:off x="4160520" y="2377440"/>
            <a:ext cx="2926080" cy="594360"/>
          </a:xfrm>
          <a:prstGeom prst="rect">
            <a:avLst/>
          </a:prstGeom>
          <a:noFill/>
        </p:spPr>
        <p:txBody>
          <a:bodyPr wrap="square" lIns="0" tIns="0" rIns="0" bIns="0" rtlCol="0" anchor="t"/>
          <a:lstStyle/>
          <a:p>
            <a:pPr marL="0" indent="0">
              <a:buNone/>
            </a:pPr>
            <a:r>
              <a:rPr lang="en-US" sz="1400" dirty="0">
                <a:solidFill>
                  <a:schemeClr val="tx2"/>
                </a:solidFill>
              </a:rPr>
              <a:t>About 150 characters summarising the page</a:t>
            </a:r>
            <a:endParaRPr lang="en-US" sz="1400" dirty="0"/>
          </a:p>
        </p:txBody>
      </p:sp>
      <p:sp>
        <p:nvSpPr>
          <p:cNvPr id="16" name="SEO card"/>
          <p:cNvSpPr/>
          <p:nvPr/>
        </p:nvSpPr>
        <p:spPr>
          <a:xfrm>
            <a:off x="548640" y="3246120"/>
            <a:ext cx="3246120" cy="1371600"/>
          </a:xfrm>
          <a:prstGeom prst="roundRect">
            <a:avLst>
              <a:gd name="adj" fmla="val 6667"/>
            </a:avLst>
          </a:prstGeom>
          <a:solidFill>
            <a:schemeClr val="bg2"/>
          </a:solidFill>
          <a:ln w="6350">
            <a:solidFill>
              <a:schemeClr val="bg2"/>
            </a:solidFill>
            <a:prstDash val="solid"/>
          </a:ln>
        </p:spPr>
      </p:sp>
      <p:sp>
        <p:nvSpPr>
          <p:cNvPr id="17" name="Number badge"/>
          <p:cNvSpPr/>
          <p:nvPr/>
        </p:nvSpPr>
        <p:spPr>
          <a:xfrm>
            <a:off x="731520" y="3429000"/>
            <a:ext cx="365760" cy="365760"/>
          </a:xfrm>
          <a:prstGeom prst="ellipse">
            <a:avLst/>
          </a:prstGeom>
          <a:solidFill>
            <a:schemeClr val="accent1"/>
          </a:solidFill>
          <a:ln w="6350">
            <a:solidFill>
              <a:schemeClr val="accent1"/>
            </a:solidFill>
            <a:prstDash val="solid"/>
          </a:ln>
        </p:spPr>
      </p:sp>
      <p:sp>
        <p:nvSpPr>
          <p:cNvPr id="18" name="Text 15"/>
          <p:cNvSpPr txBox="1"/>
          <p:nvPr/>
        </p:nvSpPr>
        <p:spPr>
          <a:xfrm>
            <a:off x="731520" y="3429000"/>
            <a:ext cx="365760" cy="365760"/>
          </a:xfrm>
          <a:prstGeom prst="rect">
            <a:avLst/>
          </a:prstGeom>
          <a:noFill/>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9" name="Text 16"/>
          <p:cNvSpPr txBox="1"/>
          <p:nvPr/>
        </p:nvSpPr>
        <p:spPr>
          <a:xfrm>
            <a:off x="1234440" y="3429000"/>
            <a:ext cx="2423160" cy="365760"/>
          </a:xfrm>
          <a:prstGeom prst="rect">
            <a:avLst/>
          </a:prstGeom>
          <a:noFill/>
        </p:spPr>
        <p:txBody>
          <a:bodyPr wrap="square" lIns="0" tIns="0" rIns="0" bIns="0" rtlCol="0" anchor="ctr"/>
          <a:lstStyle/>
          <a:p>
            <a:pPr marL="0" indent="0">
              <a:buNone/>
            </a:pPr>
            <a:r>
              <a:rPr lang="en-US" sz="1600" b="1" dirty="0">
                <a:solidFill>
                  <a:schemeClr val="tx1"/>
                </a:solidFill>
              </a:rPr>
              <a:t>One h1</a:t>
            </a:r>
            <a:endParaRPr lang="en-US" sz="1600" dirty="0"/>
          </a:p>
        </p:txBody>
      </p:sp>
      <p:sp>
        <p:nvSpPr>
          <p:cNvPr id="20" name="Text 17"/>
          <p:cNvSpPr txBox="1"/>
          <p:nvPr/>
        </p:nvSpPr>
        <p:spPr>
          <a:xfrm>
            <a:off x="731520" y="3931920"/>
            <a:ext cx="2926080" cy="594360"/>
          </a:xfrm>
          <a:prstGeom prst="rect">
            <a:avLst/>
          </a:prstGeom>
          <a:noFill/>
        </p:spPr>
        <p:txBody>
          <a:bodyPr wrap="square" lIns="0" tIns="0" rIns="0" bIns="0" rtlCol="0" anchor="t"/>
          <a:lstStyle/>
          <a:p>
            <a:pPr marL="0" indent="0">
              <a:buNone/>
            </a:pPr>
            <a:r>
              <a:rPr lang="en-US" sz="1400" dirty="0">
                <a:solidFill>
                  <a:schemeClr val="tx2"/>
                </a:solidFill>
              </a:rPr>
              <a:t>Then h2–h6 in logical order</a:t>
            </a:r>
            <a:endParaRPr lang="en-US" sz="1400" dirty="0"/>
          </a:p>
        </p:txBody>
      </p:sp>
      <p:sp>
        <p:nvSpPr>
          <p:cNvPr id="21" name="SEO card"/>
          <p:cNvSpPr/>
          <p:nvPr/>
        </p:nvSpPr>
        <p:spPr>
          <a:xfrm>
            <a:off x="3977640" y="3246120"/>
            <a:ext cx="3246120" cy="1371600"/>
          </a:xfrm>
          <a:prstGeom prst="roundRect">
            <a:avLst>
              <a:gd name="adj" fmla="val 6667"/>
            </a:avLst>
          </a:prstGeom>
          <a:solidFill>
            <a:schemeClr val="bg2"/>
          </a:solidFill>
          <a:ln w="6350">
            <a:solidFill>
              <a:schemeClr val="bg2"/>
            </a:solidFill>
            <a:prstDash val="solid"/>
          </a:ln>
        </p:spPr>
      </p:sp>
      <p:sp>
        <p:nvSpPr>
          <p:cNvPr id="22" name="Number badge"/>
          <p:cNvSpPr/>
          <p:nvPr/>
        </p:nvSpPr>
        <p:spPr>
          <a:xfrm>
            <a:off x="4160520" y="3429000"/>
            <a:ext cx="365760" cy="365760"/>
          </a:xfrm>
          <a:prstGeom prst="ellipse">
            <a:avLst/>
          </a:prstGeom>
          <a:solidFill>
            <a:schemeClr val="accent1"/>
          </a:solidFill>
          <a:ln w="6350">
            <a:solidFill>
              <a:schemeClr val="accent1"/>
            </a:solidFill>
            <a:prstDash val="solid"/>
          </a:ln>
        </p:spPr>
      </p:sp>
      <p:sp>
        <p:nvSpPr>
          <p:cNvPr id="23" name="Text 20"/>
          <p:cNvSpPr txBox="1"/>
          <p:nvPr/>
        </p:nvSpPr>
        <p:spPr>
          <a:xfrm>
            <a:off x="4160520" y="3429000"/>
            <a:ext cx="365760" cy="365760"/>
          </a:xfrm>
          <a:prstGeom prst="rect">
            <a:avLst/>
          </a:prstGeom>
          <a:noFill/>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4" name="Text 21"/>
          <p:cNvSpPr txBox="1"/>
          <p:nvPr/>
        </p:nvSpPr>
        <p:spPr>
          <a:xfrm>
            <a:off x="4663440" y="3429000"/>
            <a:ext cx="2423160" cy="365760"/>
          </a:xfrm>
          <a:prstGeom prst="rect">
            <a:avLst/>
          </a:prstGeom>
          <a:noFill/>
        </p:spPr>
        <p:txBody>
          <a:bodyPr wrap="square" lIns="0" tIns="0" rIns="0" bIns="0" rtlCol="0" anchor="ctr"/>
          <a:lstStyle/>
          <a:p>
            <a:pPr marL="0" indent="0">
              <a:buNone/>
            </a:pPr>
            <a:r>
              <a:rPr lang="en-US" sz="1600" b="1" dirty="0">
                <a:solidFill>
                  <a:schemeClr val="tx1"/>
                </a:solidFill>
              </a:rPr>
              <a:t>Image alt text</a:t>
            </a:r>
            <a:endParaRPr lang="en-US" sz="1600" dirty="0"/>
          </a:p>
        </p:txBody>
      </p:sp>
      <p:sp>
        <p:nvSpPr>
          <p:cNvPr id="25" name="Text 22"/>
          <p:cNvSpPr txBox="1"/>
          <p:nvPr/>
        </p:nvSpPr>
        <p:spPr>
          <a:xfrm>
            <a:off x="4160520" y="3931920"/>
            <a:ext cx="2926080" cy="594360"/>
          </a:xfrm>
          <a:prstGeom prst="rect">
            <a:avLst/>
          </a:prstGeom>
          <a:noFill/>
        </p:spPr>
        <p:txBody>
          <a:bodyPr wrap="square" lIns="0" tIns="0" rIns="0" bIns="0" rtlCol="0" anchor="t"/>
          <a:lstStyle/>
          <a:p>
            <a:pPr marL="0" indent="0">
              <a:buNone/>
            </a:pPr>
            <a:r>
              <a:rPr lang="en-US" sz="1400" dirty="0">
                <a:solidFill>
                  <a:schemeClr val="tx2"/>
                </a:solidFill>
              </a:rPr>
              <a:t>Describes each image to search engines</a:t>
            </a:r>
            <a:endParaRPr lang="en-US" sz="1400" dirty="0"/>
          </a:p>
        </p:txBody>
      </p:sp>
      <p:sp>
        <p:nvSpPr>
          <p:cNvPr id="26" name="SEO card"/>
          <p:cNvSpPr/>
          <p:nvPr/>
        </p:nvSpPr>
        <p:spPr>
          <a:xfrm>
            <a:off x="548640" y="4800600"/>
            <a:ext cx="3246120" cy="1371600"/>
          </a:xfrm>
          <a:prstGeom prst="roundRect">
            <a:avLst>
              <a:gd name="adj" fmla="val 6667"/>
            </a:avLst>
          </a:prstGeom>
          <a:solidFill>
            <a:schemeClr val="bg2"/>
          </a:solidFill>
          <a:ln w="6350">
            <a:solidFill>
              <a:schemeClr val="bg2"/>
            </a:solidFill>
            <a:prstDash val="solid"/>
          </a:ln>
        </p:spPr>
      </p:sp>
      <p:sp>
        <p:nvSpPr>
          <p:cNvPr id="27" name="Number badge"/>
          <p:cNvSpPr/>
          <p:nvPr/>
        </p:nvSpPr>
        <p:spPr>
          <a:xfrm>
            <a:off x="731520" y="4983480"/>
            <a:ext cx="365760" cy="365760"/>
          </a:xfrm>
          <a:prstGeom prst="ellipse">
            <a:avLst/>
          </a:prstGeom>
          <a:solidFill>
            <a:schemeClr val="accent1"/>
          </a:solidFill>
          <a:ln w="6350">
            <a:solidFill>
              <a:schemeClr val="accent1"/>
            </a:solidFill>
            <a:prstDash val="solid"/>
          </a:ln>
        </p:spPr>
      </p:sp>
      <p:sp>
        <p:nvSpPr>
          <p:cNvPr id="28" name="Text 25"/>
          <p:cNvSpPr txBox="1"/>
          <p:nvPr/>
        </p:nvSpPr>
        <p:spPr>
          <a:xfrm>
            <a:off x="731520" y="4983480"/>
            <a:ext cx="365760" cy="365760"/>
          </a:xfrm>
          <a:prstGeom prst="rect">
            <a:avLst/>
          </a:prstGeom>
          <a:noFill/>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9" name="Text 26"/>
          <p:cNvSpPr txBox="1"/>
          <p:nvPr/>
        </p:nvSpPr>
        <p:spPr>
          <a:xfrm>
            <a:off x="1234440" y="4983480"/>
            <a:ext cx="2423160" cy="365760"/>
          </a:xfrm>
          <a:prstGeom prst="rect">
            <a:avLst/>
          </a:prstGeom>
          <a:noFill/>
        </p:spPr>
        <p:txBody>
          <a:bodyPr wrap="square" lIns="0" tIns="0" rIns="0" bIns="0" rtlCol="0" anchor="ctr"/>
          <a:lstStyle/>
          <a:p>
            <a:pPr marL="0" indent="0">
              <a:buNone/>
            </a:pPr>
            <a:r>
              <a:rPr lang="en-US" sz="1600" b="1" dirty="0">
                <a:solidFill>
                  <a:schemeClr val="tx1"/>
                </a:solidFill>
              </a:rPr>
              <a:t>Semantic tags</a:t>
            </a:r>
            <a:endParaRPr lang="en-US" sz="1600" dirty="0"/>
          </a:p>
        </p:txBody>
      </p:sp>
      <p:sp>
        <p:nvSpPr>
          <p:cNvPr id="30" name="Text 27"/>
          <p:cNvSpPr txBox="1"/>
          <p:nvPr/>
        </p:nvSpPr>
        <p:spPr>
          <a:xfrm>
            <a:off x="731520" y="5486400"/>
            <a:ext cx="2926080" cy="594360"/>
          </a:xfrm>
          <a:prstGeom prst="rect">
            <a:avLst/>
          </a:prstGeom>
          <a:noFill/>
        </p:spPr>
        <p:txBody>
          <a:bodyPr wrap="square" lIns="0" tIns="0" rIns="0" bIns="0" rtlCol="0" anchor="t"/>
          <a:lstStyle/>
          <a:p>
            <a:pPr marL="0" indent="0">
              <a:buNone/>
            </a:pPr>
            <a:r>
              <a:rPr lang="en-US" sz="1400" dirty="0">
                <a:solidFill>
                  <a:schemeClr val="tx2"/>
                </a:solidFill>
              </a:rPr>
              <a:t>header, nav, main, article, footer</a:t>
            </a:r>
            <a:endParaRPr lang="en-US" sz="1400" dirty="0"/>
          </a:p>
        </p:txBody>
      </p:sp>
      <p:sp>
        <p:nvSpPr>
          <p:cNvPr id="31" name="SEO card"/>
          <p:cNvSpPr/>
          <p:nvPr/>
        </p:nvSpPr>
        <p:spPr>
          <a:xfrm>
            <a:off x="3977640" y="4800600"/>
            <a:ext cx="3246120" cy="1371600"/>
          </a:xfrm>
          <a:prstGeom prst="roundRect">
            <a:avLst>
              <a:gd name="adj" fmla="val 6667"/>
            </a:avLst>
          </a:prstGeom>
          <a:solidFill>
            <a:schemeClr val="bg2"/>
          </a:solidFill>
          <a:ln w="6350">
            <a:solidFill>
              <a:schemeClr val="bg2"/>
            </a:solidFill>
            <a:prstDash val="solid"/>
          </a:ln>
        </p:spPr>
      </p:sp>
      <p:sp>
        <p:nvSpPr>
          <p:cNvPr id="32" name="Number badge"/>
          <p:cNvSpPr/>
          <p:nvPr/>
        </p:nvSpPr>
        <p:spPr>
          <a:xfrm>
            <a:off x="4160520" y="4983480"/>
            <a:ext cx="365760" cy="365760"/>
          </a:xfrm>
          <a:prstGeom prst="ellipse">
            <a:avLst/>
          </a:prstGeom>
          <a:solidFill>
            <a:schemeClr val="accent1"/>
          </a:solidFill>
          <a:ln w="6350">
            <a:solidFill>
              <a:schemeClr val="accent1"/>
            </a:solidFill>
            <a:prstDash val="solid"/>
          </a:ln>
        </p:spPr>
      </p:sp>
      <p:sp>
        <p:nvSpPr>
          <p:cNvPr id="33" name="Text 30"/>
          <p:cNvSpPr txBox="1"/>
          <p:nvPr/>
        </p:nvSpPr>
        <p:spPr>
          <a:xfrm>
            <a:off x="4160520" y="4983480"/>
            <a:ext cx="365760" cy="365760"/>
          </a:xfrm>
          <a:prstGeom prst="rect">
            <a:avLst/>
          </a:prstGeom>
          <a:noFill/>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34" name="Text 31"/>
          <p:cNvSpPr txBox="1"/>
          <p:nvPr/>
        </p:nvSpPr>
        <p:spPr>
          <a:xfrm>
            <a:off x="4663440" y="4983480"/>
            <a:ext cx="2423160" cy="365760"/>
          </a:xfrm>
          <a:prstGeom prst="rect">
            <a:avLst/>
          </a:prstGeom>
          <a:noFill/>
        </p:spPr>
        <p:txBody>
          <a:bodyPr wrap="square" lIns="0" tIns="0" rIns="0" bIns="0" rtlCol="0" anchor="ctr"/>
          <a:lstStyle/>
          <a:p>
            <a:pPr marL="0" indent="0">
              <a:buNone/>
            </a:pPr>
            <a:r>
              <a:rPr lang="en-US" sz="1600" b="1" dirty="0">
                <a:solidFill>
                  <a:schemeClr val="tx1"/>
                </a:solidFill>
              </a:rPr>
              <a:t>Good link text</a:t>
            </a:r>
            <a:endParaRPr lang="en-US" sz="1600" dirty="0"/>
          </a:p>
        </p:txBody>
      </p:sp>
      <p:sp>
        <p:nvSpPr>
          <p:cNvPr id="35" name="Text 32"/>
          <p:cNvSpPr txBox="1"/>
          <p:nvPr/>
        </p:nvSpPr>
        <p:spPr>
          <a:xfrm>
            <a:off x="4160520" y="5486400"/>
            <a:ext cx="2926080" cy="594360"/>
          </a:xfrm>
          <a:prstGeom prst="rect">
            <a:avLst/>
          </a:prstGeom>
          <a:noFill/>
        </p:spPr>
        <p:txBody>
          <a:bodyPr wrap="square" lIns="0" tIns="0" rIns="0" bIns="0" rtlCol="0" anchor="t"/>
          <a:lstStyle/>
          <a:p>
            <a:pPr marL="0" indent="0">
              <a:buNone/>
            </a:pPr>
            <a:r>
              <a:rPr lang="en-US" sz="1400" dirty="0">
                <a:solidFill>
                  <a:schemeClr val="tx2"/>
                </a:solidFill>
              </a:rPr>
              <a:t>"Course syllabus", not "click here"</a:t>
            </a:r>
            <a:endParaRPr lang="en-US" sz="1400" dirty="0"/>
          </a:p>
        </p:txBody>
      </p:sp>
      <p:sp>
        <p:nvSpPr>
          <p:cNvPr id="36" name="Code panel"/>
          <p:cNvSpPr/>
          <p:nvPr/>
        </p:nvSpPr>
        <p:spPr>
          <a:xfrm>
            <a:off x="7498080" y="1691640"/>
            <a:ext cx="4142232" cy="3017520"/>
          </a:xfrm>
          <a:prstGeom prst="roundRect">
            <a:avLst>
              <a:gd name="adj" fmla="val 3030"/>
            </a:avLst>
          </a:prstGeom>
          <a:solidFill>
            <a:schemeClr val="tx1"/>
          </a:solidFill>
          <a:ln w="6350">
            <a:solidFill>
              <a:schemeClr val="tx1"/>
            </a:solidFill>
            <a:prstDash val="solid"/>
          </a:ln>
        </p:spPr>
      </p:sp>
      <p:sp>
        <p:nvSpPr>
          <p:cNvPr id="37" name="Window dot"/>
          <p:cNvSpPr/>
          <p:nvPr/>
        </p:nvSpPr>
        <p:spPr>
          <a:xfrm>
            <a:off x="7726680" y="1874520"/>
            <a:ext cx="118872" cy="118872"/>
          </a:xfrm>
          <a:prstGeom prst="ellipse">
            <a:avLst/>
          </a:prstGeom>
          <a:solidFill>
            <a:srgbClr val="FF5F56"/>
          </a:solidFill>
          <a:ln w="3175">
            <a:solidFill>
              <a:srgbClr val="FF5F56"/>
            </a:solidFill>
            <a:prstDash val="solid"/>
          </a:ln>
        </p:spPr>
      </p:sp>
      <p:sp>
        <p:nvSpPr>
          <p:cNvPr id="38" name="Window dot"/>
          <p:cNvSpPr/>
          <p:nvPr/>
        </p:nvSpPr>
        <p:spPr>
          <a:xfrm>
            <a:off x="7909560" y="1874520"/>
            <a:ext cx="118872" cy="118872"/>
          </a:xfrm>
          <a:prstGeom prst="ellipse">
            <a:avLst/>
          </a:prstGeom>
          <a:solidFill>
            <a:srgbClr val="FFBD2E"/>
          </a:solidFill>
          <a:ln w="3175">
            <a:solidFill>
              <a:srgbClr val="FFBD2E"/>
            </a:solidFill>
            <a:prstDash val="solid"/>
          </a:ln>
        </p:spPr>
      </p:sp>
      <p:sp>
        <p:nvSpPr>
          <p:cNvPr id="39" name="Window dot"/>
          <p:cNvSpPr/>
          <p:nvPr/>
        </p:nvSpPr>
        <p:spPr>
          <a:xfrm>
            <a:off x="8092440" y="1874520"/>
            <a:ext cx="118872" cy="118872"/>
          </a:xfrm>
          <a:prstGeom prst="ellipse">
            <a:avLst/>
          </a:prstGeom>
          <a:solidFill>
            <a:srgbClr val="27C93F"/>
          </a:solidFill>
          <a:ln w="3175">
            <a:solidFill>
              <a:srgbClr val="27C93F"/>
            </a:solidFill>
            <a:prstDash val="solid"/>
          </a:ln>
        </p:spPr>
      </p:sp>
      <p:sp>
        <p:nvSpPr>
          <p:cNvPr id="40" name="Text 37"/>
          <p:cNvSpPr txBox="1"/>
          <p:nvPr/>
        </p:nvSpPr>
        <p:spPr>
          <a:xfrm>
            <a:off x="8366760" y="1828800"/>
            <a:ext cx="3044952"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seo.html</a:t>
            </a:r>
            <a:endParaRPr lang="en-US" sz="1000" dirty="0"/>
          </a:p>
        </p:txBody>
      </p:sp>
      <p:sp>
        <p:nvSpPr>
          <p:cNvPr id="41" name="Text 38"/>
          <p:cNvSpPr txBox="1"/>
          <p:nvPr/>
        </p:nvSpPr>
        <p:spPr>
          <a:xfrm>
            <a:off x="7726680" y="2194560"/>
            <a:ext cx="3685032" cy="237744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HTML Basics Tutorial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&lt;/title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"description"</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content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"Learn HTML step by step."</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&lt;meta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name</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"robots"</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content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"index, follow"</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&lt;link</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rel</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"canonical"</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"https://example.com/html"</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
        <p:nvSpPr>
          <p:cNvPr id="42" name="Note callout"/>
          <p:cNvSpPr/>
          <p:nvPr/>
        </p:nvSpPr>
        <p:spPr>
          <a:xfrm>
            <a:off x="7498080" y="4892040"/>
            <a:ext cx="4142232" cy="1325880"/>
          </a:xfrm>
          <a:prstGeom prst="roundRect">
            <a:avLst>
              <a:gd name="adj" fmla="val 6897"/>
            </a:avLst>
          </a:prstGeom>
          <a:solidFill>
            <a:schemeClr val="accent3">
              <a:alpha val="22000"/>
            </a:schemeClr>
          </a:solidFill>
          <a:ln w="12700">
            <a:solidFill>
              <a:schemeClr val="accent3"/>
            </a:solidFill>
            <a:prstDash val="solid"/>
          </a:ln>
        </p:spPr>
      </p:sp>
      <p:sp>
        <p:nvSpPr>
          <p:cNvPr id="43" name="Text 40"/>
          <p:cNvSpPr txBox="1"/>
          <p:nvPr/>
        </p:nvSpPr>
        <p:spPr>
          <a:xfrm>
            <a:off x="7680960" y="4983480"/>
            <a:ext cx="3776472" cy="1143000"/>
          </a:xfrm>
          <a:prstGeom prst="rect">
            <a:avLst/>
          </a:prstGeom>
          <a:noFill/>
        </p:spPr>
        <p:txBody>
          <a:bodyPr wrap="square" lIns="0" tIns="0" rIns="0" bIns="0" rtlCol="0" anchor="ctr"/>
          <a:lstStyle/>
          <a:p>
            <a:pPr marL="0" indent="0">
              <a:buNone/>
            </a:pPr>
            <a:r>
              <a:rPr lang="en-US" sz="1300" b="1" dirty="0">
                <a:solidFill>
                  <a:schemeClr val="tx1"/>
                </a:solidFill>
              </a:rPr>
              <a:t>Also  </a:t>
            </a:r>
            <a:r>
              <a:rPr lang="en-US" sz="1300" dirty="0">
                <a:solidFill>
                  <a:schemeClr val="tx1"/>
                </a:solidFill>
              </a:rPr>
              <a:t>Mobile-friendly viewport, optimised images, HTTPS and fast loading.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41732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41732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validator</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Validation and Debugging</a:t>
            </a:r>
            <a:endParaRPr lang="en-US" sz="3200" dirty="0"/>
          </a:p>
        </p:txBody>
      </p:sp>
      <p:sp>
        <p:nvSpPr>
          <p:cNvPr id="6" name="Debug step"/>
          <p:cNvSpPr/>
          <p:nvPr/>
        </p:nvSpPr>
        <p:spPr>
          <a:xfrm>
            <a:off x="548640" y="1691640"/>
            <a:ext cx="2514600" cy="1005840"/>
          </a:xfrm>
          <a:prstGeom prst="roundRect">
            <a:avLst>
              <a:gd name="adj" fmla="val 9091"/>
            </a:avLst>
          </a:prstGeom>
          <a:solidFill>
            <a:schemeClr val="bg2"/>
          </a:solidFill>
          <a:ln w="6350">
            <a:solidFill>
              <a:schemeClr val="bg2"/>
            </a:solidFill>
            <a:prstDash val="solid"/>
          </a:ln>
        </p:spPr>
      </p:sp>
      <p:sp>
        <p:nvSpPr>
          <p:cNvPr id="7" name="Text 4"/>
          <p:cNvSpPr txBox="1"/>
          <p:nvPr/>
        </p:nvSpPr>
        <p:spPr>
          <a:xfrm>
            <a:off x="731520" y="1783080"/>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1  Write</a:t>
            </a:r>
            <a:endParaRPr lang="en-US" sz="1700" dirty="0"/>
          </a:p>
        </p:txBody>
      </p:sp>
      <p:sp>
        <p:nvSpPr>
          <p:cNvPr id="8" name="Text 5"/>
          <p:cNvSpPr txBox="1"/>
          <p:nvPr/>
        </p:nvSpPr>
        <p:spPr>
          <a:xfrm>
            <a:off x="731520" y="2194560"/>
            <a:ext cx="2194560" cy="365760"/>
          </a:xfrm>
          <a:prstGeom prst="rect">
            <a:avLst/>
          </a:prstGeom>
          <a:noFill/>
        </p:spPr>
        <p:txBody>
          <a:bodyPr wrap="square" lIns="0" tIns="0" rIns="0" bIns="0" rtlCol="0" anchor="ctr"/>
          <a:lstStyle/>
          <a:p>
            <a:pPr marL="0" indent="0">
              <a:buNone/>
            </a:pPr>
            <a:r>
              <a:rPr lang="en-US" sz="1400" dirty="0">
                <a:solidFill>
                  <a:schemeClr val="tx1"/>
                </a:solidFill>
              </a:rPr>
              <a:t>Code in VS Code</a:t>
            </a:r>
            <a:endParaRPr lang="en-US" sz="1400" dirty="0"/>
          </a:p>
        </p:txBody>
      </p:sp>
      <p:sp>
        <p:nvSpPr>
          <p:cNvPr id="9" name="Flow arrow"/>
          <p:cNvSpPr/>
          <p:nvPr/>
        </p:nvSpPr>
        <p:spPr>
          <a:xfrm>
            <a:off x="3090672" y="2057400"/>
            <a:ext cx="292608" cy="274320"/>
          </a:xfrm>
          <a:prstGeom prst="rightArrow">
            <a:avLst/>
          </a:prstGeom>
          <a:solidFill>
            <a:schemeClr val="tx2"/>
          </a:solidFill>
          <a:ln w="6350">
            <a:solidFill>
              <a:schemeClr val="tx2"/>
            </a:solidFill>
            <a:prstDash val="solid"/>
          </a:ln>
        </p:spPr>
      </p:sp>
      <p:sp>
        <p:nvSpPr>
          <p:cNvPr id="10" name="Debug step"/>
          <p:cNvSpPr/>
          <p:nvPr/>
        </p:nvSpPr>
        <p:spPr>
          <a:xfrm>
            <a:off x="3410712" y="1691640"/>
            <a:ext cx="2514600" cy="1005840"/>
          </a:xfrm>
          <a:prstGeom prst="roundRect">
            <a:avLst>
              <a:gd name="adj" fmla="val 9091"/>
            </a:avLst>
          </a:prstGeom>
          <a:solidFill>
            <a:schemeClr val="bg2"/>
          </a:solidFill>
          <a:ln w="6350">
            <a:solidFill>
              <a:schemeClr val="bg2"/>
            </a:solidFill>
            <a:prstDash val="solid"/>
          </a:ln>
        </p:spPr>
      </p:sp>
      <p:sp>
        <p:nvSpPr>
          <p:cNvPr id="11" name="Text 8"/>
          <p:cNvSpPr txBox="1"/>
          <p:nvPr/>
        </p:nvSpPr>
        <p:spPr>
          <a:xfrm>
            <a:off x="3593592" y="1783080"/>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2  Validate</a:t>
            </a:r>
            <a:endParaRPr lang="en-US" sz="1700" dirty="0"/>
          </a:p>
        </p:txBody>
      </p:sp>
      <p:sp>
        <p:nvSpPr>
          <p:cNvPr id="12" name="Text 9"/>
          <p:cNvSpPr txBox="1"/>
          <p:nvPr/>
        </p:nvSpPr>
        <p:spPr>
          <a:xfrm>
            <a:off x="3593592" y="2194560"/>
            <a:ext cx="2194560" cy="365760"/>
          </a:xfrm>
          <a:prstGeom prst="rect">
            <a:avLst/>
          </a:prstGeom>
          <a:noFill/>
        </p:spPr>
        <p:txBody>
          <a:bodyPr wrap="square" lIns="0" tIns="0" rIns="0" bIns="0" rtlCol="0" anchor="ctr"/>
          <a:lstStyle/>
          <a:p>
            <a:pPr marL="0" indent="0">
              <a:buNone/>
            </a:pPr>
            <a:r>
              <a:rPr lang="en-US" sz="1400" dirty="0">
                <a:solidFill>
                  <a:schemeClr val="tx1"/>
                </a:solidFill>
              </a:rPr>
              <a:t>validator.w3.org</a:t>
            </a:r>
            <a:endParaRPr lang="en-US" sz="1400" dirty="0"/>
          </a:p>
        </p:txBody>
      </p:sp>
      <p:sp>
        <p:nvSpPr>
          <p:cNvPr id="13" name="Flow arrow"/>
          <p:cNvSpPr/>
          <p:nvPr/>
        </p:nvSpPr>
        <p:spPr>
          <a:xfrm>
            <a:off x="5952744" y="2057400"/>
            <a:ext cx="292608" cy="274320"/>
          </a:xfrm>
          <a:prstGeom prst="rightArrow">
            <a:avLst/>
          </a:prstGeom>
          <a:solidFill>
            <a:schemeClr val="tx2"/>
          </a:solidFill>
          <a:ln w="6350">
            <a:solidFill>
              <a:schemeClr val="tx2"/>
            </a:solidFill>
            <a:prstDash val="solid"/>
          </a:ln>
        </p:spPr>
      </p:sp>
      <p:sp>
        <p:nvSpPr>
          <p:cNvPr id="14" name="Debug step"/>
          <p:cNvSpPr/>
          <p:nvPr/>
        </p:nvSpPr>
        <p:spPr>
          <a:xfrm>
            <a:off x="6272784" y="1691640"/>
            <a:ext cx="2514600" cy="1005840"/>
          </a:xfrm>
          <a:prstGeom prst="roundRect">
            <a:avLst>
              <a:gd name="adj" fmla="val 9091"/>
            </a:avLst>
          </a:prstGeom>
          <a:solidFill>
            <a:schemeClr val="bg2"/>
          </a:solidFill>
          <a:ln w="6350">
            <a:solidFill>
              <a:schemeClr val="bg2"/>
            </a:solidFill>
            <a:prstDash val="solid"/>
          </a:ln>
        </p:spPr>
      </p:sp>
      <p:sp>
        <p:nvSpPr>
          <p:cNvPr id="15" name="Text 12"/>
          <p:cNvSpPr txBox="1"/>
          <p:nvPr/>
        </p:nvSpPr>
        <p:spPr>
          <a:xfrm>
            <a:off x="6455664" y="1783080"/>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3  Read errors</a:t>
            </a:r>
            <a:endParaRPr lang="en-US" sz="1700" dirty="0"/>
          </a:p>
        </p:txBody>
      </p:sp>
      <p:sp>
        <p:nvSpPr>
          <p:cNvPr id="16" name="Text 13"/>
          <p:cNvSpPr txBox="1"/>
          <p:nvPr/>
        </p:nvSpPr>
        <p:spPr>
          <a:xfrm>
            <a:off x="6455664" y="2194560"/>
            <a:ext cx="2194560" cy="365760"/>
          </a:xfrm>
          <a:prstGeom prst="rect">
            <a:avLst/>
          </a:prstGeom>
          <a:noFill/>
        </p:spPr>
        <p:txBody>
          <a:bodyPr wrap="square" lIns="0" tIns="0" rIns="0" bIns="0" rtlCol="0" anchor="ctr"/>
          <a:lstStyle/>
          <a:p>
            <a:pPr marL="0" indent="0">
              <a:buNone/>
            </a:pPr>
            <a:r>
              <a:rPr lang="en-US" sz="1400" dirty="0">
                <a:solidFill>
                  <a:schemeClr val="tx1"/>
                </a:solidFill>
              </a:rPr>
              <a:t>Check line numbers</a:t>
            </a:r>
            <a:endParaRPr lang="en-US" sz="1400" dirty="0"/>
          </a:p>
        </p:txBody>
      </p:sp>
      <p:sp>
        <p:nvSpPr>
          <p:cNvPr id="17" name="Flow arrow"/>
          <p:cNvSpPr/>
          <p:nvPr/>
        </p:nvSpPr>
        <p:spPr>
          <a:xfrm>
            <a:off x="8814816" y="2057400"/>
            <a:ext cx="292608" cy="274320"/>
          </a:xfrm>
          <a:prstGeom prst="rightArrow">
            <a:avLst/>
          </a:prstGeom>
          <a:solidFill>
            <a:schemeClr val="tx2"/>
          </a:solidFill>
          <a:ln w="6350">
            <a:solidFill>
              <a:schemeClr val="tx2"/>
            </a:solidFill>
            <a:prstDash val="solid"/>
          </a:ln>
        </p:spPr>
      </p:sp>
      <p:sp>
        <p:nvSpPr>
          <p:cNvPr id="18" name="Debug step"/>
          <p:cNvSpPr/>
          <p:nvPr/>
        </p:nvSpPr>
        <p:spPr>
          <a:xfrm>
            <a:off x="9134856" y="1691640"/>
            <a:ext cx="2514600" cy="1005840"/>
          </a:xfrm>
          <a:prstGeom prst="roundRect">
            <a:avLst>
              <a:gd name="adj" fmla="val 9091"/>
            </a:avLst>
          </a:prstGeom>
          <a:solidFill>
            <a:schemeClr val="bg2"/>
          </a:solidFill>
          <a:ln w="6350">
            <a:solidFill>
              <a:schemeClr val="bg2"/>
            </a:solidFill>
            <a:prstDash val="solid"/>
          </a:ln>
        </p:spPr>
      </p:sp>
      <p:sp>
        <p:nvSpPr>
          <p:cNvPr id="19" name="Text 16"/>
          <p:cNvSpPr txBox="1"/>
          <p:nvPr/>
        </p:nvSpPr>
        <p:spPr>
          <a:xfrm>
            <a:off x="9317736" y="1783080"/>
            <a:ext cx="2194560" cy="365760"/>
          </a:xfrm>
          <a:prstGeom prst="rect">
            <a:avLst/>
          </a:prstGeom>
          <a:noFill/>
        </p:spPr>
        <p:txBody>
          <a:bodyPr wrap="square" lIns="0" tIns="0" rIns="0" bIns="0" rtlCol="0" anchor="ctr"/>
          <a:lstStyle/>
          <a:p>
            <a:pPr marL="0" indent="0">
              <a:buNone/>
            </a:pPr>
            <a:r>
              <a:rPr lang="en-US" sz="1700" b="1" dirty="0">
                <a:solidFill>
                  <a:schemeClr val="accent1"/>
                </a:solidFill>
              </a:rPr>
              <a:t>4  Fix and retest</a:t>
            </a:r>
            <a:endParaRPr lang="en-US" sz="1700" dirty="0"/>
          </a:p>
        </p:txBody>
      </p:sp>
      <p:sp>
        <p:nvSpPr>
          <p:cNvPr id="20" name="Text 17"/>
          <p:cNvSpPr txBox="1"/>
          <p:nvPr/>
        </p:nvSpPr>
        <p:spPr>
          <a:xfrm>
            <a:off x="9317736" y="2194560"/>
            <a:ext cx="2194560" cy="365760"/>
          </a:xfrm>
          <a:prstGeom prst="rect">
            <a:avLst/>
          </a:prstGeom>
          <a:noFill/>
        </p:spPr>
        <p:txBody>
          <a:bodyPr wrap="square" lIns="0" tIns="0" rIns="0" bIns="0" rtlCol="0" anchor="ctr"/>
          <a:lstStyle/>
          <a:p>
            <a:pPr marL="0" indent="0">
              <a:buNone/>
            </a:pPr>
            <a:r>
              <a:rPr lang="en-US" sz="1400" dirty="0">
                <a:solidFill>
                  <a:schemeClr val="tx1"/>
                </a:solidFill>
              </a:rPr>
              <a:t>Repeat until clean</a:t>
            </a:r>
            <a:endParaRPr lang="en-US" sz="1400" dirty="0"/>
          </a:p>
        </p:txBody>
      </p:sp>
      <p:graphicFrame>
        <p:nvGraphicFramePr>
          <p:cNvPr id="23" name="Errors table"/>
          <p:cNvGraphicFramePr>
            <a:graphicFrameLocks noGrp="1"/>
          </p:cNvGraphicFramePr>
          <p:nvPr/>
        </p:nvGraphicFramePr>
        <p:xfrm>
          <a:off x="548640" y="2971800"/>
          <a:ext cx="6858000" cy="3200400"/>
        </p:xfrm>
        <a:graphic>
          <a:graphicData uri="http://schemas.openxmlformats.org/drawingml/2006/table">
            <a:tbl>
              <a:tblPr/>
              <a:tblGrid>
                <a:gridCol w="2743200"/>
                <a:gridCol w="4114800"/>
              </a:tblGrid>
              <a:tr h="457200">
                <a:tc>
                  <a:txBody>
                    <a:bodyPr/>
                    <a:lstStyle/>
                    <a:p>
                      <a:pPr marL="0" indent="0" algn="l">
                        <a:buNone/>
                      </a:pPr>
                      <a:r>
                        <a:rPr lang="en-US" sz="1300" b="1" dirty="0">
                          <a:solidFill>
                            <a:schemeClr val="bg1"/>
                          </a:solidFill>
                        </a:rPr>
                        <a:t>Common error</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c>
                  <a:txBody>
                    <a:bodyPr/>
                    <a:lstStyle/>
                    <a:p>
                      <a:pPr marL="0" indent="0" algn="l">
                        <a:buNone/>
                      </a:pPr>
                      <a:r>
                        <a:rPr lang="en-US" sz="1300" b="1" dirty="0">
                          <a:solidFill>
                            <a:schemeClr val="bg1"/>
                          </a:solidFill>
                        </a:rPr>
                        <a:t>Fix</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chemeClr val="accent1"/>
                    </a:solidFill>
                  </a:tcPr>
                </a:tc>
              </a:tr>
              <a:tr h="457200">
                <a:tc>
                  <a:txBody>
                    <a:bodyPr/>
                    <a:lstStyle/>
                    <a:p>
                      <a:pPr marL="0" indent="0">
                        <a:buNone/>
                      </a:pPr>
                      <a:r>
                        <a:rPr lang="en-US" sz="1300" dirty="0">
                          <a:solidFill>
                            <a:schemeClr val="tx1"/>
                          </a:solidFill>
                        </a:rPr>
                        <a:t>Unclosed tag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Close every opened element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57200">
                <a:tc>
                  <a:txBody>
                    <a:bodyPr/>
                    <a:lstStyle/>
                    <a:p>
                      <a:pPr marL="0" indent="0">
                        <a:buNone/>
                      </a:pPr>
                      <a:r>
                        <a:rPr lang="en-US" sz="1200" dirty="0">
                          <a:solidFill>
                            <a:schemeClr val="tx1"/>
                          </a:solidFill>
                          <a:latin typeface="Courier New" panose="02070309020205020404" pitchFamily="34" charset="0"/>
                          <a:ea typeface="Courier New" panose="02070309020205020404" pitchFamily="34" charset="-122"/>
                          <a:cs typeface="Courier New" panose="02070309020205020404" pitchFamily="34" charset="-120"/>
                        </a:rPr>
                        <a:t>&lt;b&gt;&lt;i&gt;x&lt;/b&gt;&lt;/i&gt;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Close in reverse order: &lt;/i&gt;&lt;/b&gt;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57200">
                <a:tc>
                  <a:txBody>
                    <a:bodyPr/>
                    <a:lstStyle/>
                    <a:p>
                      <a:pPr marL="0" indent="0">
                        <a:buNone/>
                      </a:pPr>
                      <a:r>
                        <a:rPr lang="en-US" sz="1300" dirty="0">
                          <a:solidFill>
                            <a:schemeClr val="tx1"/>
                          </a:solidFill>
                        </a:rPr>
                        <a:t>img without alt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Add descriptive alt text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57200">
                <a:tc>
                  <a:txBody>
                    <a:bodyPr/>
                    <a:lstStyle/>
                    <a:p>
                      <a:pPr marL="0" indent="0">
                        <a:buNone/>
                      </a:pPr>
                      <a:r>
                        <a:rPr lang="en-US" sz="1300" dirty="0">
                          <a:solidFill>
                            <a:schemeClr val="tx1"/>
                          </a:solidFill>
                        </a:rPr>
                        <a:t>Duplicate id values</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Every id must be unique</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57200">
                <a:tc>
                  <a:txBody>
                    <a:bodyPr/>
                    <a:lstStyle/>
                    <a:p>
                      <a:pPr marL="0" indent="0">
                        <a:buNone/>
                      </a:pPr>
                      <a:r>
                        <a:rPr lang="en-US" sz="1300" dirty="0">
                          <a:solidFill>
                            <a:schemeClr val="tx1"/>
                          </a:solidFill>
                        </a:rPr>
                        <a:t>Image not showing</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Check path and file extension</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r h="457200">
                <a:tc>
                  <a:txBody>
                    <a:bodyPr/>
                    <a:lstStyle/>
                    <a:p>
                      <a:pPr marL="0" indent="0">
                        <a:buNone/>
                      </a:pPr>
                      <a:r>
                        <a:rPr lang="en-US" sz="1300" dirty="0">
                          <a:solidFill>
                            <a:schemeClr val="tx1"/>
                          </a:solidFill>
                        </a:rPr>
                        <a:t>&lt;font&gt;, &lt;center&gt;</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c>
                  <a:txBody>
                    <a:bodyPr/>
                    <a:lstStyle/>
                    <a:p>
                      <a:pPr marL="0" indent="0">
                        <a:buNone/>
                      </a:pPr>
                      <a:r>
                        <a:rPr lang="en-US" sz="1300" dirty="0">
                          <a:solidFill>
                            <a:schemeClr val="tx1"/>
                          </a:solidFill>
                        </a:rPr>
                        <a:t>Deprecated: use CSS instead</a:t>
                      </a:r>
                      <a:endParaRPr lang="en-US" sz="1300" dirty="0"/>
                    </a:p>
                  </a:txBody>
                  <a:tcPr marT="0" marB="0" anchor="ctr">
                    <a:lnL w="12700" cap="flat" cmpd="sng" algn="ctr">
                      <a:solidFill>
                        <a:srgbClr val="C9CDD6"/>
                      </a:solidFill>
                      <a:prstDash val="solid"/>
                      <a:round/>
                      <a:headEnd type="none" w="med" len="med"/>
                      <a:tailEnd type="none" w="med" len="med"/>
                    </a:lnL>
                    <a:lnR w="12700" cap="flat" cmpd="sng" algn="ctr">
                      <a:solidFill>
                        <a:srgbClr val="C9CDD6"/>
                      </a:solidFill>
                      <a:prstDash val="solid"/>
                      <a:round/>
                      <a:headEnd type="none" w="med" len="med"/>
                      <a:tailEnd type="none" w="med" len="med"/>
                    </a:lnR>
                    <a:lnT w="12700" cap="flat" cmpd="sng" algn="ctr">
                      <a:solidFill>
                        <a:srgbClr val="C9CDD6"/>
                      </a:solidFill>
                      <a:prstDash val="solid"/>
                      <a:round/>
                      <a:headEnd type="none" w="med" len="med"/>
                      <a:tailEnd type="none" w="med" len="med"/>
                    </a:lnT>
                    <a:lnB w="12700" cap="flat" cmpd="sng" algn="ctr">
                      <a:solidFill>
                        <a:srgbClr val="C9CDD6"/>
                      </a:solidFill>
                      <a:prstDash val="solid"/>
                      <a:round/>
                      <a:headEnd type="none" w="med" len="med"/>
                      <a:tailEnd type="none" w="med" len="med"/>
                    </a:lnB>
                    <a:solidFill>
                      <a:srgbClr val="FFFFFF"/>
                    </a:solidFill>
                  </a:tcPr>
                </a:tc>
              </a:tr>
            </a:tbl>
          </a:graphicData>
        </a:graphic>
      </p:graphicFrame>
      <p:sp>
        <p:nvSpPr>
          <p:cNvPr id="22" name="Tools card"/>
          <p:cNvSpPr/>
          <p:nvPr/>
        </p:nvSpPr>
        <p:spPr>
          <a:xfrm>
            <a:off x="7680960" y="2971800"/>
            <a:ext cx="3959352" cy="3200400"/>
          </a:xfrm>
          <a:prstGeom prst="roundRect">
            <a:avLst>
              <a:gd name="adj" fmla="val 2857"/>
            </a:avLst>
          </a:prstGeom>
          <a:solidFill>
            <a:schemeClr val="bg2"/>
          </a:solidFill>
          <a:ln w="6350">
            <a:solidFill>
              <a:schemeClr val="bg2"/>
            </a:solidFill>
            <a:prstDash val="solid"/>
          </a:ln>
        </p:spPr>
      </p:sp>
      <p:sp>
        <p:nvSpPr>
          <p:cNvPr id="5" name="Text 19"/>
          <p:cNvSpPr txBox="1"/>
          <p:nvPr/>
        </p:nvSpPr>
        <p:spPr>
          <a:xfrm>
            <a:off x="7909560" y="3108960"/>
            <a:ext cx="3474720" cy="320040"/>
          </a:xfrm>
          <a:prstGeom prst="rect">
            <a:avLst/>
          </a:prstGeom>
          <a:noFill/>
        </p:spPr>
        <p:txBody>
          <a:bodyPr wrap="square" lIns="0" tIns="0" rIns="0" bIns="0" rtlCol="0" anchor="ctr"/>
          <a:lstStyle/>
          <a:p>
            <a:pPr marL="0" indent="0">
              <a:buNone/>
            </a:pPr>
            <a:r>
              <a:rPr lang="en-US" sz="1700" b="1" dirty="0">
                <a:solidFill>
                  <a:schemeClr val="tx1"/>
                </a:solidFill>
              </a:rPr>
              <a:t>Debugging tools</a:t>
            </a:r>
            <a:endParaRPr lang="en-US" sz="1700" dirty="0"/>
          </a:p>
        </p:txBody>
      </p:sp>
      <p:sp>
        <p:nvSpPr>
          <p:cNvPr id="24" name="Text 20"/>
          <p:cNvSpPr txBox="1"/>
          <p:nvPr/>
        </p:nvSpPr>
        <p:spPr>
          <a:xfrm>
            <a:off x="7909560" y="3566160"/>
            <a:ext cx="3520440" cy="2468880"/>
          </a:xfrm>
          <a:prstGeom prst="rect">
            <a:avLst/>
          </a:prstGeom>
          <a:noFill/>
        </p:spPr>
        <p:txBody>
          <a:bodyPr wrap="square" lIns="0" tIns="0" rIns="0" bIns="0" rtlCol="0" anchor="t"/>
          <a:lstStyle/>
          <a:p>
            <a:pPr marL="0" indent="0">
              <a:spcAft>
                <a:spcPts val="700"/>
              </a:spcAft>
              <a:buNone/>
            </a:pPr>
            <a:r>
              <a:rPr lang="en-US" sz="1400" b="1" dirty="0">
                <a:solidFill>
                  <a:schemeClr val="tx1"/>
                </a:solidFill>
              </a:rPr>
              <a:t>W3C Validator </a:t>
            </a:r>
            <a:r>
              <a:rPr lang="en-US" sz="1400" dirty="0">
                <a:solidFill>
                  <a:schemeClr val="tx1"/>
                </a:solidFill>
              </a:rPr>
              <a:t>finds syntax errors</a:t>
            </a:r>
            <a:endParaRPr lang="en-US" sz="1400" dirty="0"/>
          </a:p>
          <a:p>
            <a:pPr marL="0" indent="0">
              <a:spcAft>
                <a:spcPts val="700"/>
              </a:spcAft>
              <a:buNone/>
            </a:pPr>
            <a:r>
              <a:rPr lang="en-US" sz="1400" b="1" dirty="0">
                <a:solidFill>
                  <a:schemeClr val="tx1"/>
                </a:solidFill>
              </a:rPr>
              <a:t>DevTools (F12) </a:t>
            </a:r>
            <a:r>
              <a:rPr lang="en-US" sz="1400" dirty="0">
                <a:solidFill>
                  <a:schemeClr val="tx1"/>
                </a:solidFill>
              </a:rPr>
              <a:t>Elements and Console tabs</a:t>
            </a:r>
            <a:endParaRPr lang="en-US" sz="1400" dirty="0"/>
          </a:p>
          <a:p>
            <a:pPr marL="0" indent="0">
              <a:spcAft>
                <a:spcPts val="700"/>
              </a:spcAft>
              <a:buNone/>
            </a:pPr>
            <a:r>
              <a:rPr lang="en-US" sz="1400" b="1" dirty="0">
                <a:solidFill>
                  <a:schemeClr val="tx1"/>
                </a:solidFill>
              </a:rPr>
              <a:t>HTMLHint </a:t>
            </a:r>
            <a:r>
              <a:rPr lang="en-US" sz="1400" dirty="0">
                <a:solidFill>
                  <a:schemeClr val="tx1"/>
                </a:solidFill>
              </a:rPr>
              <a:t>VS Code extension</a:t>
            </a:r>
            <a:endParaRPr lang="en-US" sz="1400" dirty="0"/>
          </a:p>
          <a:p>
            <a:pPr marL="0" indent="0">
              <a:spcAft>
                <a:spcPts val="700"/>
              </a:spcAft>
              <a:buNone/>
            </a:pPr>
            <a:r>
              <a:rPr lang="en-US" sz="1400" b="1" dirty="0">
                <a:solidFill>
                  <a:schemeClr val="tx1"/>
                </a:solidFill>
              </a:rPr>
              <a:t>Lighthouse </a:t>
            </a:r>
            <a:r>
              <a:rPr lang="en-US" sz="1400" dirty="0">
                <a:solidFill>
                  <a:schemeClr val="tx1"/>
                </a:solidFill>
              </a:rPr>
              <a:t>accessibility and SEO audit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184404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184404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 tips --&gt;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Best Practices</a:t>
            </a:r>
            <a:endParaRPr lang="en-US" sz="3200" dirty="0"/>
          </a:p>
        </p:txBody>
      </p:sp>
      <p:sp>
        <p:nvSpPr>
          <p:cNvPr id="6" name="Do/Don't card"/>
          <p:cNvSpPr/>
          <p:nvPr/>
        </p:nvSpPr>
        <p:spPr>
          <a:xfrm>
            <a:off x="548640" y="1691640"/>
            <a:ext cx="5440680" cy="4526280"/>
          </a:xfrm>
          <a:prstGeom prst="roundRect">
            <a:avLst>
              <a:gd name="adj" fmla="val 2020"/>
            </a:avLst>
          </a:prstGeom>
          <a:solidFill>
            <a:schemeClr val="bg2"/>
          </a:solidFill>
          <a:ln w="6350">
            <a:solidFill>
              <a:schemeClr val="bg2"/>
            </a:solidFill>
            <a:prstDash val="solid"/>
          </a:ln>
        </p:spPr>
      </p:sp>
      <p:sp>
        <p:nvSpPr>
          <p:cNvPr id="7" name="Label chip"/>
          <p:cNvSpPr/>
          <p:nvPr/>
        </p:nvSpPr>
        <p:spPr>
          <a:xfrm>
            <a:off x="777240" y="1874520"/>
            <a:ext cx="822960" cy="365760"/>
          </a:xfrm>
          <a:prstGeom prst="roundRect">
            <a:avLst>
              <a:gd name="adj" fmla="val 20000"/>
            </a:avLst>
          </a:prstGeom>
          <a:solidFill>
            <a:schemeClr val="accent4"/>
          </a:solidFill>
          <a:ln w="6350">
            <a:solidFill>
              <a:schemeClr val="accent4"/>
            </a:solidFill>
            <a:prstDash val="solid"/>
          </a:ln>
        </p:spPr>
      </p:sp>
      <p:sp>
        <p:nvSpPr>
          <p:cNvPr id="8" name="Text 5"/>
          <p:cNvSpPr txBox="1"/>
          <p:nvPr/>
        </p:nvSpPr>
        <p:spPr>
          <a:xfrm>
            <a:off x="777240" y="1874520"/>
            <a:ext cx="822960" cy="365760"/>
          </a:xfrm>
          <a:prstGeom prst="rect">
            <a:avLst/>
          </a:prstGeom>
          <a:noFill/>
        </p:spPr>
        <p:txBody>
          <a:bodyPr wrap="square" lIns="0" tIns="0" rIns="0" bIns="0" rtlCol="0" anchor="ctr"/>
          <a:lstStyle/>
          <a:p>
            <a:pPr marL="0" indent="0" algn="ctr">
              <a:buNone/>
            </a:pPr>
            <a:r>
              <a:rPr lang="en-US" sz="1400" b="1" dirty="0">
                <a:solidFill>
                  <a:schemeClr val="bg1"/>
                </a:solidFill>
              </a:rPr>
              <a:t>DO</a:t>
            </a:r>
            <a:endParaRPr lang="en-US" sz="1400" dirty="0"/>
          </a:p>
        </p:txBody>
      </p:sp>
      <p:sp>
        <p:nvSpPr>
          <p:cNvPr id="9" name="Text 6"/>
          <p:cNvSpPr txBox="1"/>
          <p:nvPr/>
        </p:nvSpPr>
        <p:spPr>
          <a:xfrm>
            <a:off x="777240" y="2423160"/>
            <a:ext cx="4983480" cy="2468880"/>
          </a:xfrm>
          <a:prstGeom prst="rect">
            <a:avLst/>
          </a:prstGeom>
          <a:noFill/>
        </p:spPr>
        <p:txBody>
          <a:bodyPr wrap="square" lIns="0" tIns="0" rIns="0" bIns="0" rtlCol="0" anchor="t"/>
          <a:lstStyle/>
          <a:p>
            <a:pPr marL="177800" indent="-177800">
              <a:spcAft>
                <a:spcPts val="700"/>
              </a:spcAft>
              <a:buSzPct val="100000"/>
              <a:buChar char="•"/>
            </a:pPr>
            <a:r>
              <a:rPr lang="en-US" sz="1500" dirty="0">
                <a:solidFill>
                  <a:schemeClr val="tx1"/>
                </a:solidFill>
              </a:rPr>
              <a:t>Write lowercase tags and attributes</a:t>
            </a:r>
            <a:endParaRPr lang="en-US" sz="1500" dirty="0"/>
          </a:p>
          <a:p>
            <a:pPr marL="177800" indent="-177800">
              <a:spcAft>
                <a:spcPts val="700"/>
              </a:spcAft>
              <a:buSzPct val="100000"/>
              <a:buChar char="•"/>
            </a:pPr>
            <a:r>
              <a:rPr lang="en-US" sz="1500" dirty="0">
                <a:solidFill>
                  <a:schemeClr val="tx1"/>
                </a:solidFill>
              </a:rPr>
              <a:t>Quote all attribute values</a:t>
            </a:r>
            <a:endParaRPr lang="en-US" sz="1500" dirty="0"/>
          </a:p>
          <a:p>
            <a:pPr marL="177800" indent="-177800">
              <a:spcAft>
                <a:spcPts val="700"/>
              </a:spcAft>
              <a:buSzPct val="100000"/>
              <a:buChar char="•"/>
            </a:pPr>
            <a:r>
              <a:rPr lang="en-US" sz="1500" dirty="0">
                <a:solidFill>
                  <a:schemeClr val="tx1"/>
                </a:solidFill>
              </a:rPr>
              <a:t>Close and properly nest every element</a:t>
            </a:r>
            <a:endParaRPr lang="en-US" sz="1500" dirty="0"/>
          </a:p>
          <a:p>
            <a:pPr marL="177800" indent="-177800">
              <a:spcAft>
                <a:spcPts val="700"/>
              </a:spcAft>
              <a:buSzPct val="100000"/>
              <a:buChar char="•"/>
            </a:pPr>
            <a:r>
              <a:rPr lang="en-US" sz="1500" dirty="0">
                <a:solidFill>
                  <a:schemeClr val="tx1"/>
                </a:solidFill>
              </a:rPr>
              <a:t>Add lang on &lt;html&gt; and alt on images</a:t>
            </a:r>
            <a:endParaRPr lang="en-US" sz="1500" dirty="0"/>
          </a:p>
          <a:p>
            <a:pPr marL="177800" indent="-177800">
              <a:spcAft>
                <a:spcPts val="700"/>
              </a:spcAft>
              <a:buSzPct val="100000"/>
              <a:buChar char="•"/>
            </a:pPr>
            <a:r>
              <a:rPr lang="en-US" sz="1500" dirty="0">
                <a:solidFill>
                  <a:schemeClr val="tx1"/>
                </a:solidFill>
              </a:rPr>
              <a:t>Use semantic elements and clear names</a:t>
            </a:r>
            <a:endParaRPr lang="en-US" sz="1500" dirty="0"/>
          </a:p>
          <a:p>
            <a:pPr marL="177800" indent="-177800">
              <a:spcAft>
                <a:spcPts val="700"/>
              </a:spcAft>
              <a:buSzPct val="100000"/>
              <a:buChar char="•"/>
            </a:pPr>
            <a:r>
              <a:rPr lang="en-US" sz="1500" dirty="0">
                <a:solidFill>
                  <a:schemeClr val="tx1"/>
                </a:solidFill>
              </a:rPr>
              <a:t>Keep HTML, CSS and JS in separate files</a:t>
            </a:r>
            <a:endParaRPr lang="en-US" sz="1500" dirty="0"/>
          </a:p>
        </p:txBody>
      </p:sp>
      <p:sp>
        <p:nvSpPr>
          <p:cNvPr id="10" name="Code panel"/>
          <p:cNvSpPr/>
          <p:nvPr/>
        </p:nvSpPr>
        <p:spPr>
          <a:xfrm>
            <a:off x="777240" y="5074920"/>
            <a:ext cx="4983480" cy="868680"/>
          </a:xfrm>
          <a:prstGeom prst="roundRect">
            <a:avLst>
              <a:gd name="adj" fmla="val 10526"/>
            </a:avLst>
          </a:prstGeom>
          <a:solidFill>
            <a:schemeClr val="tx1"/>
          </a:solidFill>
          <a:ln w="6350">
            <a:solidFill>
              <a:schemeClr val="tx1"/>
            </a:solidFill>
            <a:prstDash val="solid"/>
          </a:ln>
        </p:spPr>
      </p:sp>
      <p:sp>
        <p:nvSpPr>
          <p:cNvPr id="11" name="Text 8"/>
          <p:cNvSpPr txBox="1"/>
          <p:nvPr/>
        </p:nvSpPr>
        <p:spPr>
          <a:xfrm>
            <a:off x="1005840" y="5257800"/>
            <a:ext cx="4526280" cy="548640"/>
          </a:xfrm>
          <a:prstGeom prst="rect">
            <a:avLst/>
          </a:prstGeom>
          <a:noFill/>
        </p:spPr>
        <p:txBody>
          <a:bodyPr wrap="square" lIns="0" tIns="0" rIns="0" bIns="0" rtlCol="0" anchor="t"/>
          <a:lstStyle/>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&lt;img</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src</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"logo.png"</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alt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"Wollo logo"</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p:txBody>
      </p:sp>
      <p:sp>
        <p:nvSpPr>
          <p:cNvPr id="12" name="Do/Don't card"/>
          <p:cNvSpPr/>
          <p:nvPr/>
        </p:nvSpPr>
        <p:spPr>
          <a:xfrm>
            <a:off x="6199632" y="1691640"/>
            <a:ext cx="5440680" cy="4526280"/>
          </a:xfrm>
          <a:prstGeom prst="roundRect">
            <a:avLst>
              <a:gd name="adj" fmla="val 2020"/>
            </a:avLst>
          </a:prstGeom>
          <a:solidFill>
            <a:schemeClr val="bg2"/>
          </a:solidFill>
          <a:ln w="6350">
            <a:solidFill>
              <a:schemeClr val="bg2"/>
            </a:solidFill>
            <a:prstDash val="solid"/>
          </a:ln>
        </p:spPr>
      </p:sp>
      <p:sp>
        <p:nvSpPr>
          <p:cNvPr id="13" name="Label chip"/>
          <p:cNvSpPr/>
          <p:nvPr/>
        </p:nvSpPr>
        <p:spPr>
          <a:xfrm>
            <a:off x="6428232" y="1874520"/>
            <a:ext cx="1188720" cy="365760"/>
          </a:xfrm>
          <a:prstGeom prst="roundRect">
            <a:avLst>
              <a:gd name="adj" fmla="val 20000"/>
            </a:avLst>
          </a:prstGeom>
          <a:solidFill>
            <a:schemeClr val="accent1"/>
          </a:solidFill>
          <a:ln w="6350">
            <a:solidFill>
              <a:schemeClr val="accent1"/>
            </a:solidFill>
            <a:prstDash val="solid"/>
          </a:ln>
        </p:spPr>
      </p:sp>
      <p:sp>
        <p:nvSpPr>
          <p:cNvPr id="14" name="Text 11"/>
          <p:cNvSpPr txBox="1"/>
          <p:nvPr/>
        </p:nvSpPr>
        <p:spPr>
          <a:xfrm>
            <a:off x="6428232" y="1874520"/>
            <a:ext cx="1188720" cy="365760"/>
          </a:xfrm>
          <a:prstGeom prst="rect">
            <a:avLst/>
          </a:prstGeom>
          <a:noFill/>
        </p:spPr>
        <p:txBody>
          <a:bodyPr wrap="square" lIns="0" tIns="0" rIns="0" bIns="0" rtlCol="0" anchor="ctr"/>
          <a:lstStyle/>
          <a:p>
            <a:pPr marL="0" indent="0" algn="ctr">
              <a:buNone/>
            </a:pPr>
            <a:r>
              <a:rPr lang="en-US" sz="1400" b="1" dirty="0">
                <a:solidFill>
                  <a:schemeClr val="bg1"/>
                </a:solidFill>
              </a:rPr>
              <a:t>DON'T</a:t>
            </a:r>
            <a:endParaRPr lang="en-US" sz="1400" dirty="0"/>
          </a:p>
        </p:txBody>
      </p:sp>
      <p:sp>
        <p:nvSpPr>
          <p:cNvPr id="15" name="Text 12"/>
          <p:cNvSpPr txBox="1"/>
          <p:nvPr/>
        </p:nvSpPr>
        <p:spPr>
          <a:xfrm>
            <a:off x="6428232" y="2423160"/>
            <a:ext cx="4983480" cy="2468880"/>
          </a:xfrm>
          <a:prstGeom prst="rect">
            <a:avLst/>
          </a:prstGeom>
          <a:noFill/>
        </p:spPr>
        <p:txBody>
          <a:bodyPr wrap="square" lIns="0" tIns="0" rIns="0" bIns="0" rtlCol="0" anchor="t"/>
          <a:lstStyle/>
          <a:p>
            <a:pPr marL="177800" indent="-177800">
              <a:spcAft>
                <a:spcPts val="700"/>
              </a:spcAft>
              <a:buSzPct val="100000"/>
              <a:buChar char="•"/>
            </a:pPr>
            <a:r>
              <a:rPr lang="en-US" sz="1500" dirty="0">
                <a:solidFill>
                  <a:schemeClr val="tx1"/>
                </a:solidFill>
              </a:rPr>
              <a:t>Use &lt;table&gt; for page layout</a:t>
            </a:r>
            <a:endParaRPr lang="en-US" sz="1500" dirty="0"/>
          </a:p>
          <a:p>
            <a:pPr marL="177800" indent="-177800">
              <a:spcAft>
                <a:spcPts val="700"/>
              </a:spcAft>
              <a:buSzPct val="100000"/>
              <a:buChar char="•"/>
            </a:pPr>
            <a:r>
              <a:rPr lang="en-US" sz="1500" dirty="0">
                <a:solidFill>
                  <a:schemeClr val="tx1"/>
                </a:solidFill>
              </a:rPr>
              <a:t>Use deprecated tags like &lt;font&gt;</a:t>
            </a:r>
            <a:endParaRPr lang="en-US" sz="1500" dirty="0"/>
          </a:p>
          <a:p>
            <a:pPr marL="177800" indent="-177800">
              <a:spcAft>
                <a:spcPts val="700"/>
              </a:spcAft>
              <a:buSzPct val="100000"/>
              <a:buChar char="•"/>
            </a:pPr>
            <a:r>
              <a:rPr lang="en-US" sz="1500" dirty="0">
                <a:solidFill>
                  <a:schemeClr val="tx1"/>
                </a:solidFill>
              </a:rPr>
              <a:t>Skip heading levels (h1 to h4)</a:t>
            </a:r>
            <a:endParaRPr lang="en-US" sz="1500" dirty="0"/>
          </a:p>
          <a:p>
            <a:pPr marL="177800" indent="-177800">
              <a:spcAft>
                <a:spcPts val="700"/>
              </a:spcAft>
              <a:buSzPct val="100000"/>
              <a:buChar char="•"/>
            </a:pPr>
            <a:r>
              <a:rPr lang="en-US" sz="1500" dirty="0">
                <a:solidFill>
                  <a:schemeClr val="tx1"/>
                </a:solidFill>
              </a:rPr>
              <a:t>Repeat the same id on a page</a:t>
            </a:r>
            <a:endParaRPr lang="en-US" sz="1500" dirty="0"/>
          </a:p>
          <a:p>
            <a:pPr marL="177800" indent="-177800">
              <a:spcAft>
                <a:spcPts val="700"/>
              </a:spcAft>
              <a:buSzPct val="100000"/>
              <a:buChar char="•"/>
            </a:pPr>
            <a:r>
              <a:rPr lang="en-US" sz="1500" dirty="0">
                <a:solidFill>
                  <a:schemeClr val="tx1"/>
                </a:solidFill>
              </a:rPr>
              <a:t>Write link text such as "click here"</a:t>
            </a:r>
            <a:endParaRPr lang="en-US" sz="1500" dirty="0"/>
          </a:p>
          <a:p>
            <a:pPr marL="177800" indent="-177800">
              <a:spcAft>
                <a:spcPts val="700"/>
              </a:spcAft>
              <a:buSzPct val="100000"/>
              <a:buChar char="•"/>
            </a:pPr>
            <a:r>
              <a:rPr lang="en-US" sz="1500" dirty="0">
                <a:solidFill>
                  <a:schemeClr val="tx1"/>
                </a:solidFill>
              </a:rPr>
              <a:t>Put inline styles everywhere</a:t>
            </a:r>
            <a:endParaRPr lang="en-US" sz="1500" dirty="0"/>
          </a:p>
        </p:txBody>
      </p:sp>
      <p:sp>
        <p:nvSpPr>
          <p:cNvPr id="16" name="Code panel"/>
          <p:cNvSpPr/>
          <p:nvPr/>
        </p:nvSpPr>
        <p:spPr>
          <a:xfrm>
            <a:off x="6428232" y="5074920"/>
            <a:ext cx="4983480" cy="868680"/>
          </a:xfrm>
          <a:prstGeom prst="roundRect">
            <a:avLst>
              <a:gd name="adj" fmla="val 10526"/>
            </a:avLst>
          </a:prstGeom>
          <a:solidFill>
            <a:schemeClr val="tx1"/>
          </a:solidFill>
          <a:ln w="6350">
            <a:solidFill>
              <a:schemeClr val="tx1"/>
            </a:solidFill>
            <a:prstDash val="solid"/>
          </a:ln>
        </p:spPr>
      </p:sp>
      <p:sp>
        <p:nvSpPr>
          <p:cNvPr id="17" name="Text 14"/>
          <p:cNvSpPr txBox="1"/>
          <p:nvPr/>
        </p:nvSpPr>
        <p:spPr>
          <a:xfrm>
            <a:off x="6656832" y="5257800"/>
            <a:ext cx="4526280" cy="548640"/>
          </a:xfrm>
          <a:prstGeom prst="rect">
            <a:avLst/>
          </a:prstGeom>
          <a:noFill/>
        </p:spPr>
        <p:txBody>
          <a:bodyPr wrap="square" lIns="0" tIns="0" rIns="0" bIns="0" rtlCol="0" anchor="t"/>
          <a:lstStyle/>
          <a:p>
            <a:pPr marL="0" indent="0">
              <a:buNone/>
            </a:pP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&lt;font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color</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"red"</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3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Welcome</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&lt;/font</a:t>
            </a:r>
            <a:r>
              <a:rPr lang="en-US" sz="13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99060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99060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&lt;lab&gt;</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Lab Exercise: Student Profile Page</a:t>
            </a:r>
            <a:endParaRPr lang="en-US" sz="3200" dirty="0"/>
          </a:p>
        </p:txBody>
      </p:sp>
      <p:sp>
        <p:nvSpPr>
          <p:cNvPr id="6" name="Requirements card"/>
          <p:cNvSpPr/>
          <p:nvPr/>
        </p:nvSpPr>
        <p:spPr>
          <a:xfrm>
            <a:off x="548640" y="1691640"/>
            <a:ext cx="5760720" cy="4526280"/>
          </a:xfrm>
          <a:prstGeom prst="roundRect">
            <a:avLst>
              <a:gd name="adj" fmla="val 2020"/>
            </a:avLst>
          </a:prstGeom>
          <a:solidFill>
            <a:schemeClr val="bg2"/>
          </a:solidFill>
          <a:ln w="6350">
            <a:solidFill>
              <a:schemeClr val="bg2"/>
            </a:solidFill>
            <a:prstDash val="solid"/>
          </a:ln>
        </p:spPr>
      </p:sp>
      <p:sp>
        <p:nvSpPr>
          <p:cNvPr id="7" name="Text 4"/>
          <p:cNvSpPr txBox="1"/>
          <p:nvPr/>
        </p:nvSpPr>
        <p:spPr>
          <a:xfrm>
            <a:off x="777240" y="1828800"/>
            <a:ext cx="5303520" cy="365760"/>
          </a:xfrm>
          <a:prstGeom prst="rect">
            <a:avLst/>
          </a:prstGeom>
          <a:noFill/>
        </p:spPr>
        <p:txBody>
          <a:bodyPr wrap="square" lIns="0" tIns="0" rIns="0" bIns="0" rtlCol="0" anchor="ctr"/>
          <a:lstStyle/>
          <a:p>
            <a:pPr marL="0" indent="0">
              <a:buNone/>
            </a:pPr>
            <a:r>
              <a:rPr lang="en-US" sz="1700" b="1" dirty="0">
                <a:solidFill>
                  <a:schemeClr val="tx1"/>
                </a:solidFill>
              </a:rPr>
              <a:t>Requirements</a:t>
            </a:r>
            <a:endParaRPr lang="en-US" sz="1700" dirty="0"/>
          </a:p>
        </p:txBody>
      </p:sp>
      <p:sp>
        <p:nvSpPr>
          <p:cNvPr id="8" name="Text 5"/>
          <p:cNvSpPr txBox="1"/>
          <p:nvPr/>
        </p:nvSpPr>
        <p:spPr>
          <a:xfrm>
            <a:off x="777240" y="2286000"/>
            <a:ext cx="5303520" cy="3017520"/>
          </a:xfrm>
          <a:prstGeom prst="rect">
            <a:avLst/>
          </a:prstGeom>
          <a:noFill/>
        </p:spPr>
        <p:txBody>
          <a:bodyPr wrap="square" lIns="0" tIns="0" rIns="0" bIns="0" rtlCol="0" anchor="t"/>
          <a:lstStyle/>
          <a:p>
            <a:pPr marL="342900" indent="-342900">
              <a:spcAft>
                <a:spcPts val="600"/>
              </a:spcAft>
              <a:buSzPct val="100000"/>
              <a:buFont typeface="+mj-lt"/>
              <a:buAutoNum type="arabicPeriod"/>
            </a:pPr>
            <a:r>
              <a:rPr lang="en-US" sz="1400" dirty="0">
                <a:solidFill>
                  <a:schemeClr val="tx1"/>
                </a:solidFill>
              </a:rPr>
              <a:t>Valid HTML5 skeleton with title and meta tags</a:t>
            </a:r>
            <a:endParaRPr lang="en-US" sz="1400" dirty="0"/>
          </a:p>
          <a:p>
            <a:pPr marL="342900" indent="-342900">
              <a:spcAft>
                <a:spcPts val="600"/>
              </a:spcAft>
              <a:buSzPct val="100000"/>
              <a:buFont typeface="+mj-lt"/>
              <a:buAutoNum type="arabicPeriod"/>
            </a:pPr>
            <a:r>
              <a:rPr lang="en-US" sz="1400" dirty="0">
                <a:solidFill>
                  <a:schemeClr val="tx1"/>
                </a:solidFill>
              </a:rPr>
              <a:t>Header with h1 and nav links to sections</a:t>
            </a:r>
            <a:endParaRPr lang="en-US" sz="1400" dirty="0"/>
          </a:p>
          <a:p>
            <a:pPr marL="342900" indent="-342900">
              <a:spcAft>
                <a:spcPts val="600"/>
              </a:spcAft>
              <a:buSzPct val="100000"/>
              <a:buFont typeface="+mj-lt"/>
              <a:buAutoNum type="arabicPeriod"/>
            </a:pPr>
            <a:r>
              <a:rPr lang="en-US" sz="1400" dirty="0">
                <a:solidFill>
                  <a:schemeClr val="tx1"/>
                </a:solidFill>
              </a:rPr>
              <a:t>About section: image with alt, and a paragraph</a:t>
            </a:r>
            <a:endParaRPr lang="en-US" sz="1400" dirty="0"/>
          </a:p>
          <a:p>
            <a:pPr marL="342900" indent="-342900">
              <a:spcAft>
                <a:spcPts val="600"/>
              </a:spcAft>
              <a:buSzPct val="100000"/>
              <a:buFont typeface="+mj-lt"/>
              <a:buAutoNum type="arabicPeriod"/>
            </a:pPr>
            <a:r>
              <a:rPr lang="en-US" sz="1400" dirty="0">
                <a:solidFill>
                  <a:schemeClr val="tx1"/>
                </a:solidFill>
              </a:rPr>
              <a:t>Courses section: table with caption and thead</a:t>
            </a:r>
            <a:endParaRPr lang="en-US" sz="1400" dirty="0"/>
          </a:p>
          <a:p>
            <a:pPr marL="342900" indent="-342900">
              <a:spcAft>
                <a:spcPts val="600"/>
              </a:spcAft>
              <a:buSzPct val="100000"/>
              <a:buFont typeface="+mj-lt"/>
              <a:buAutoNum type="arabicPeriod"/>
            </a:pPr>
            <a:r>
              <a:rPr lang="en-US" sz="1400" dirty="0">
                <a:solidFill>
                  <a:schemeClr val="tx1"/>
                </a:solidFill>
              </a:rPr>
              <a:t>Skills section: one ordered and one unordered list</a:t>
            </a:r>
            <a:endParaRPr lang="en-US" sz="1400" dirty="0"/>
          </a:p>
          <a:p>
            <a:pPr marL="342900" indent="-342900">
              <a:spcAft>
                <a:spcPts val="600"/>
              </a:spcAft>
              <a:buSzPct val="100000"/>
              <a:buFont typeface="+mj-lt"/>
              <a:buAutoNum type="arabicPeriod"/>
            </a:pPr>
            <a:r>
              <a:rPr lang="en-US" sz="1400" dirty="0">
                <a:solidFill>
                  <a:schemeClr val="tx1"/>
                </a:solidFill>
              </a:rPr>
              <a:t>Contact form with 5+ input types and validation</a:t>
            </a:r>
            <a:endParaRPr lang="en-US" sz="1400" dirty="0"/>
          </a:p>
          <a:p>
            <a:pPr marL="342900" indent="-342900">
              <a:spcAft>
                <a:spcPts val="600"/>
              </a:spcAft>
              <a:buSzPct val="100000"/>
              <a:buFont typeface="+mj-lt"/>
              <a:buAutoNum type="arabicPeriod"/>
            </a:pPr>
            <a:r>
              <a:rPr lang="en-US" sz="1400" dirty="0">
                <a:solidFill>
                  <a:schemeClr val="tx1"/>
                </a:solidFill>
              </a:rPr>
              <a:t>Footer with the © symbol using an entity</a:t>
            </a:r>
            <a:endParaRPr lang="en-US" sz="1400" dirty="0"/>
          </a:p>
          <a:p>
            <a:pPr marL="342900" indent="-342900">
              <a:spcAft>
                <a:spcPts val="600"/>
              </a:spcAft>
              <a:buSzPct val="100000"/>
              <a:buFont typeface="+mj-lt"/>
              <a:buAutoNum type="arabicPeriod"/>
            </a:pPr>
            <a:r>
              <a:rPr lang="en-US" sz="1400" dirty="0">
                <a:solidFill>
                  <a:schemeClr val="tx1"/>
                </a:solidFill>
              </a:rPr>
              <a:t>Validate at validator.w3.org with 0 errors</a:t>
            </a:r>
            <a:endParaRPr lang="en-US" sz="1400" dirty="0"/>
          </a:p>
        </p:txBody>
      </p:sp>
      <p:sp>
        <p:nvSpPr>
          <p:cNvPr id="9" name="Note callout"/>
          <p:cNvSpPr/>
          <p:nvPr/>
        </p:nvSpPr>
        <p:spPr>
          <a:xfrm>
            <a:off x="777240" y="5303520"/>
            <a:ext cx="5303520" cy="777240"/>
          </a:xfrm>
          <a:prstGeom prst="roundRect">
            <a:avLst>
              <a:gd name="adj" fmla="val 11765"/>
            </a:avLst>
          </a:prstGeom>
          <a:solidFill>
            <a:schemeClr val="accent3">
              <a:alpha val="22000"/>
            </a:schemeClr>
          </a:solidFill>
          <a:ln w="12700">
            <a:solidFill>
              <a:schemeClr val="accent3"/>
            </a:solidFill>
            <a:prstDash val="solid"/>
          </a:ln>
        </p:spPr>
      </p:sp>
      <p:sp>
        <p:nvSpPr>
          <p:cNvPr id="10" name="Text 7"/>
          <p:cNvSpPr txBox="1"/>
          <p:nvPr/>
        </p:nvSpPr>
        <p:spPr>
          <a:xfrm>
            <a:off x="960120" y="5394960"/>
            <a:ext cx="4937760" cy="594360"/>
          </a:xfrm>
          <a:prstGeom prst="rect">
            <a:avLst/>
          </a:prstGeom>
          <a:noFill/>
        </p:spPr>
        <p:txBody>
          <a:bodyPr wrap="square" lIns="0" tIns="0" rIns="0" bIns="0" rtlCol="0" anchor="ctr"/>
          <a:lstStyle/>
          <a:p>
            <a:pPr marL="0" indent="0">
              <a:buNone/>
            </a:pPr>
            <a:r>
              <a:rPr lang="en-US" sz="1300" b="1" dirty="0">
                <a:solidFill>
                  <a:schemeClr val="tx1"/>
                </a:solidFill>
              </a:rPr>
              <a:t>Bonus  </a:t>
            </a:r>
            <a:r>
              <a:rPr lang="en-US" sz="1300" dirty="0">
                <a:solidFill>
                  <a:schemeClr val="tx1"/>
                </a:solidFill>
              </a:rPr>
              <a:t>Commit and push the project to GitHub.</a:t>
            </a:r>
            <a:endParaRPr lang="en-US" sz="1300" dirty="0"/>
          </a:p>
        </p:txBody>
      </p:sp>
      <p:sp>
        <p:nvSpPr>
          <p:cNvPr id="11" name="Code panel"/>
          <p:cNvSpPr/>
          <p:nvPr/>
        </p:nvSpPr>
        <p:spPr>
          <a:xfrm>
            <a:off x="6583680" y="1691640"/>
            <a:ext cx="5056632" cy="4526280"/>
          </a:xfrm>
          <a:prstGeom prst="roundRect">
            <a:avLst>
              <a:gd name="adj" fmla="val 2020"/>
            </a:avLst>
          </a:prstGeom>
          <a:solidFill>
            <a:schemeClr val="tx1"/>
          </a:solidFill>
          <a:ln w="6350">
            <a:solidFill>
              <a:schemeClr val="tx1"/>
            </a:solidFill>
            <a:prstDash val="solid"/>
          </a:ln>
        </p:spPr>
      </p:sp>
      <p:sp>
        <p:nvSpPr>
          <p:cNvPr id="12" name="Window dot"/>
          <p:cNvSpPr/>
          <p:nvPr/>
        </p:nvSpPr>
        <p:spPr>
          <a:xfrm>
            <a:off x="6812280" y="1874520"/>
            <a:ext cx="118872" cy="118872"/>
          </a:xfrm>
          <a:prstGeom prst="ellipse">
            <a:avLst/>
          </a:prstGeom>
          <a:solidFill>
            <a:srgbClr val="FF5F56"/>
          </a:solidFill>
          <a:ln w="3175">
            <a:solidFill>
              <a:srgbClr val="FF5F56"/>
            </a:solidFill>
            <a:prstDash val="solid"/>
          </a:ln>
        </p:spPr>
      </p:sp>
      <p:sp>
        <p:nvSpPr>
          <p:cNvPr id="13" name="Window dot"/>
          <p:cNvSpPr/>
          <p:nvPr/>
        </p:nvSpPr>
        <p:spPr>
          <a:xfrm>
            <a:off x="6995160" y="1874520"/>
            <a:ext cx="118872" cy="118872"/>
          </a:xfrm>
          <a:prstGeom prst="ellipse">
            <a:avLst/>
          </a:prstGeom>
          <a:solidFill>
            <a:srgbClr val="FFBD2E"/>
          </a:solidFill>
          <a:ln w="3175">
            <a:solidFill>
              <a:srgbClr val="FFBD2E"/>
            </a:solidFill>
            <a:prstDash val="solid"/>
          </a:ln>
        </p:spPr>
      </p:sp>
      <p:sp>
        <p:nvSpPr>
          <p:cNvPr id="14" name="Window dot"/>
          <p:cNvSpPr/>
          <p:nvPr/>
        </p:nvSpPr>
        <p:spPr>
          <a:xfrm>
            <a:off x="7178040" y="1874520"/>
            <a:ext cx="118872" cy="118872"/>
          </a:xfrm>
          <a:prstGeom prst="ellipse">
            <a:avLst/>
          </a:prstGeom>
          <a:solidFill>
            <a:srgbClr val="27C93F"/>
          </a:solidFill>
          <a:ln w="3175">
            <a:solidFill>
              <a:srgbClr val="27C93F"/>
            </a:solidFill>
            <a:prstDash val="solid"/>
          </a:ln>
        </p:spPr>
      </p:sp>
      <p:sp>
        <p:nvSpPr>
          <p:cNvPr id="15" name="Text 12"/>
          <p:cNvSpPr txBox="1"/>
          <p:nvPr/>
        </p:nvSpPr>
        <p:spPr>
          <a:xfrm>
            <a:off x="7452360" y="1828800"/>
            <a:ext cx="3959352" cy="219456"/>
          </a:xfrm>
          <a:prstGeom prst="rect">
            <a:avLst/>
          </a:prstGeom>
          <a:noFill/>
        </p:spPr>
        <p:txBody>
          <a:bodyPr wrap="square" lIns="0" tIns="0" rIns="0" bIns="0" rtlCol="0" anchor="ctr"/>
          <a:lstStyle/>
          <a:p>
            <a:pPr marL="0" indent="0">
              <a:buNone/>
            </a:pPr>
            <a:r>
              <a:rPr lang="en-US" sz="1000" dirty="0">
                <a:solidFill>
                  <a:srgbClr val="8B93A7"/>
                </a:solidFill>
                <a:latin typeface="Courier New" panose="02070309020205020404" pitchFamily="34" charset="0"/>
                <a:ea typeface="Courier New" panose="02070309020205020404" pitchFamily="34" charset="-122"/>
                <a:cs typeface="Courier New" panose="02070309020205020404" pitchFamily="34" charset="-120"/>
              </a:rPr>
              <a:t>profile.html</a:t>
            </a:r>
            <a:endParaRPr lang="en-US" sz="1000" dirty="0"/>
          </a:p>
        </p:txBody>
      </p:sp>
      <p:sp>
        <p:nvSpPr>
          <p:cNvPr id="16" name="Text 13"/>
          <p:cNvSpPr txBox="1"/>
          <p:nvPr/>
        </p:nvSpPr>
        <p:spPr>
          <a:xfrm>
            <a:off x="6812280" y="2194560"/>
            <a:ext cx="4599432" cy="3886200"/>
          </a:xfrm>
          <a:prstGeom prst="rect">
            <a:avLst/>
          </a:prstGeom>
          <a:noFill/>
        </p:spPr>
        <p:txBody>
          <a:bodyPr wrap="square" lIns="0" tIns="0" rIns="0" bIns="0" rtlCol="0" anchor="t"/>
          <a:lstStyle/>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Your Name</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&lt;/h1</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"#about"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About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"#courses"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Courses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href</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&lt;/a</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&lt;/nav</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&lt;/header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&lt;main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&lt;section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"about"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&lt;/section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&lt;section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"courses"</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&lt;/section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&lt;section</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D166"/>
                </a:solidFill>
                <a:latin typeface="Courier New" panose="02070309020205020404" pitchFamily="34" charset="0"/>
                <a:ea typeface="Courier New" panose="02070309020205020404" pitchFamily="34" charset="-122"/>
                <a:cs typeface="Courier New" panose="02070309020205020404" pitchFamily="34" charset="-120"/>
              </a:rPr>
              <a:t>id</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9AE6B4"/>
                </a:solidFill>
                <a:latin typeface="Courier New" panose="02070309020205020404" pitchFamily="34" charset="0"/>
                <a:ea typeface="Courier New" panose="02070309020205020404" pitchFamily="34" charset="-122"/>
                <a:cs typeface="Courier New" panose="02070309020205020404" pitchFamily="34" charset="-120"/>
              </a:rPr>
              <a:t>"contact"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&lt;/section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&lt;/main</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&lt;footer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AF0"/>
                </a:solidFill>
                <a:latin typeface="Courier New" panose="02070309020205020404" pitchFamily="34" charset="0"/>
                <a:ea typeface="Courier New" panose="02070309020205020404" pitchFamily="34" charset="-122"/>
                <a:cs typeface="Courier New" panose="02070309020205020404" pitchFamily="34" charset="-120"/>
              </a:rPr>
              <a:t>&amp;copy; 2026</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&lt;/footer</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a:p>
            <a:pPr marL="0" indent="0">
              <a:buNone/>
            </a:pP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&lt;/body</a:t>
            </a:r>
            <a:r>
              <a:rPr lang="en-US" sz="1200" dirty="0">
                <a:solidFill>
                  <a:srgbClr val="FF8A65"/>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chip"/>
          <p:cNvSpPr/>
          <p:nvPr/>
        </p:nvSpPr>
        <p:spPr>
          <a:xfrm>
            <a:off x="548640" y="365760"/>
            <a:ext cx="990600" cy="329184"/>
          </a:xfrm>
          <a:prstGeom prst="roundRect">
            <a:avLst>
              <a:gd name="adj" fmla="val 22222"/>
            </a:avLst>
          </a:prstGeom>
          <a:solidFill>
            <a:schemeClr val="accent1"/>
          </a:solidFill>
          <a:ln w="6350">
            <a:solidFill>
              <a:schemeClr val="accent1"/>
            </a:solidFill>
            <a:prstDash val="solid"/>
          </a:ln>
        </p:spPr>
      </p:sp>
      <p:sp>
        <p:nvSpPr>
          <p:cNvPr id="3" name="Text 1"/>
          <p:cNvSpPr txBox="1"/>
          <p:nvPr/>
        </p:nvSpPr>
        <p:spPr>
          <a:xfrm>
            <a:off x="548640" y="365760"/>
            <a:ext cx="990600" cy="329184"/>
          </a:xfrm>
          <a:prstGeom prst="rect">
            <a:avLst/>
          </a:prstGeom>
          <a:noFill/>
        </p:spPr>
        <p:txBody>
          <a:bodyPr wrap="square" lIns="0" tIns="0" rIns="0" bIns="0" rtlCol="0" anchor="ctr"/>
          <a:lstStyle/>
          <a:p>
            <a:pPr marL="0" indent="0" algn="ctr">
              <a:buNone/>
            </a:pPr>
            <a:r>
              <a:rPr lang="en-US" sz="1400" b="1" dirty="0">
                <a:solidFill>
                  <a:schemeClr val="bg1"/>
                </a:solidFill>
                <a:latin typeface="Courier New" panose="02070309020205020404" pitchFamily="34" charset="0"/>
                <a:ea typeface="Courier New" panose="02070309020205020404" pitchFamily="34" charset="-122"/>
                <a:cs typeface="Courier New" panose="02070309020205020404" pitchFamily="34" charset="-120"/>
              </a:rPr>
              <a:t>recap</a:t>
            </a:r>
            <a:endParaRPr lang="en-US" sz="1400" dirty="0"/>
          </a:p>
        </p:txBody>
      </p:sp>
      <p:sp>
        <p:nvSpPr>
          <p:cNvPr id="4" name="Text 0"/>
          <p:cNvSpPr/>
          <p:nvPr>
            <p:ph type="title" idx="100" hasCustomPrompt="1"/>
          </p:nvPr>
        </p:nvSpPr>
        <p:spPr>
          <a:xfrm>
            <a:off x="548640" y="777240"/>
            <a:ext cx="11064240" cy="731520"/>
          </a:xfrm>
          <a:prstGeom prst="rect">
            <a:avLst/>
          </a:prstGeom>
          <a:noFill/>
        </p:spPr>
        <p:txBody>
          <a:bodyPr wrap="square" lIns="0" tIns="0" rIns="0" bIns="0" rtlCol="0" anchor="ctr"/>
          <a:lstStyle/>
          <a:p>
            <a:pPr marL="0" indent="0" algn="l">
              <a:buNone/>
            </a:pPr>
            <a:r>
              <a:rPr lang="en-US" sz="3200" b="1" dirty="0">
                <a:solidFill>
                  <a:schemeClr val="tx1"/>
                </a:solidFill>
              </a:rPr>
              <a:t>Summary and Review Questions</a:t>
            </a:r>
            <a:endParaRPr lang="en-US" sz="3200" dirty="0"/>
          </a:p>
        </p:txBody>
      </p:sp>
      <p:sp>
        <p:nvSpPr>
          <p:cNvPr id="6" name="Takeaway row"/>
          <p:cNvSpPr/>
          <p:nvPr/>
        </p:nvSpPr>
        <p:spPr>
          <a:xfrm>
            <a:off x="548640" y="1691640"/>
            <a:ext cx="6675120" cy="658368"/>
          </a:xfrm>
          <a:prstGeom prst="roundRect">
            <a:avLst>
              <a:gd name="adj" fmla="val 13889"/>
            </a:avLst>
          </a:prstGeom>
          <a:solidFill>
            <a:schemeClr val="bg2"/>
          </a:solidFill>
          <a:ln w="6350">
            <a:solidFill>
              <a:schemeClr val="bg2"/>
            </a:solidFill>
            <a:prstDash val="solid"/>
          </a:ln>
        </p:spPr>
      </p:sp>
      <p:sp>
        <p:nvSpPr>
          <p:cNvPr id="7" name="Number badge"/>
          <p:cNvSpPr/>
          <p:nvPr/>
        </p:nvSpPr>
        <p:spPr>
          <a:xfrm>
            <a:off x="713232" y="1819656"/>
            <a:ext cx="402336" cy="402336"/>
          </a:xfrm>
          <a:prstGeom prst="ellipse">
            <a:avLst/>
          </a:prstGeom>
          <a:solidFill>
            <a:schemeClr val="accent1"/>
          </a:solidFill>
          <a:ln w="6350">
            <a:solidFill>
              <a:schemeClr val="accent1"/>
            </a:solidFill>
            <a:prstDash val="solid"/>
          </a:ln>
        </p:spPr>
      </p:sp>
      <p:sp>
        <p:nvSpPr>
          <p:cNvPr id="8" name="Text 5"/>
          <p:cNvSpPr txBox="1"/>
          <p:nvPr/>
        </p:nvSpPr>
        <p:spPr>
          <a:xfrm>
            <a:off x="713232" y="1819656"/>
            <a:ext cx="402336" cy="402336"/>
          </a:xfrm>
          <a:prstGeom prst="rect">
            <a:avLst/>
          </a:prstGeom>
          <a:noFill/>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9" name="Text 6"/>
          <p:cNvSpPr txBox="1"/>
          <p:nvPr/>
        </p:nvSpPr>
        <p:spPr>
          <a:xfrm>
            <a:off x="1280160" y="1691640"/>
            <a:ext cx="5806440" cy="658368"/>
          </a:xfrm>
          <a:prstGeom prst="rect">
            <a:avLst/>
          </a:prstGeom>
          <a:noFill/>
        </p:spPr>
        <p:txBody>
          <a:bodyPr wrap="square" lIns="0" tIns="0" rIns="0" bIns="0" rtlCol="0" anchor="ctr"/>
          <a:lstStyle/>
          <a:p>
            <a:pPr marL="0" indent="0">
              <a:buNone/>
            </a:pPr>
            <a:r>
              <a:rPr lang="en-US" sz="1400" dirty="0">
                <a:solidFill>
                  <a:schemeClr val="tx1"/>
                </a:solidFill>
              </a:rPr>
              <a:t>HTML defines structure; CSS styles; JavaScript adds behaviour</a:t>
            </a:r>
            <a:endParaRPr lang="en-US" sz="1400" dirty="0"/>
          </a:p>
        </p:txBody>
      </p:sp>
      <p:sp>
        <p:nvSpPr>
          <p:cNvPr id="10" name="Takeaway row"/>
          <p:cNvSpPr/>
          <p:nvPr/>
        </p:nvSpPr>
        <p:spPr>
          <a:xfrm>
            <a:off x="548640" y="2450592"/>
            <a:ext cx="6675120" cy="658368"/>
          </a:xfrm>
          <a:prstGeom prst="roundRect">
            <a:avLst>
              <a:gd name="adj" fmla="val 13889"/>
            </a:avLst>
          </a:prstGeom>
          <a:solidFill>
            <a:schemeClr val="bg2"/>
          </a:solidFill>
          <a:ln w="6350">
            <a:solidFill>
              <a:schemeClr val="bg2"/>
            </a:solidFill>
            <a:prstDash val="solid"/>
          </a:ln>
        </p:spPr>
      </p:sp>
      <p:sp>
        <p:nvSpPr>
          <p:cNvPr id="11" name="Number badge"/>
          <p:cNvSpPr/>
          <p:nvPr/>
        </p:nvSpPr>
        <p:spPr>
          <a:xfrm>
            <a:off x="713232" y="2578608"/>
            <a:ext cx="402336" cy="402336"/>
          </a:xfrm>
          <a:prstGeom prst="ellipse">
            <a:avLst/>
          </a:prstGeom>
          <a:solidFill>
            <a:schemeClr val="accent1"/>
          </a:solidFill>
          <a:ln w="6350">
            <a:solidFill>
              <a:schemeClr val="accent1"/>
            </a:solidFill>
            <a:prstDash val="solid"/>
          </a:ln>
        </p:spPr>
      </p:sp>
      <p:sp>
        <p:nvSpPr>
          <p:cNvPr id="12" name="Text 9"/>
          <p:cNvSpPr txBox="1"/>
          <p:nvPr/>
        </p:nvSpPr>
        <p:spPr>
          <a:xfrm>
            <a:off x="713232" y="2578608"/>
            <a:ext cx="402336" cy="402336"/>
          </a:xfrm>
          <a:prstGeom prst="rect">
            <a:avLst/>
          </a:prstGeom>
          <a:noFill/>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0"/>
          <p:cNvSpPr txBox="1"/>
          <p:nvPr/>
        </p:nvSpPr>
        <p:spPr>
          <a:xfrm>
            <a:off x="1280160" y="2450592"/>
            <a:ext cx="5806440" cy="658368"/>
          </a:xfrm>
          <a:prstGeom prst="rect">
            <a:avLst/>
          </a:prstGeom>
          <a:noFill/>
        </p:spPr>
        <p:txBody>
          <a:bodyPr wrap="square" lIns="0" tIns="0" rIns="0" bIns="0" rtlCol="0" anchor="ctr"/>
          <a:lstStyle/>
          <a:p>
            <a:pPr marL="0" indent="0">
              <a:buNone/>
            </a:pPr>
            <a:r>
              <a:rPr lang="en-US" sz="1400" dirty="0">
                <a:solidFill>
                  <a:schemeClr val="tx1"/>
                </a:solidFill>
              </a:rPr>
              <a:t>Every page has DOCTYPE, html, head and body</a:t>
            </a:r>
            <a:endParaRPr lang="en-US" sz="1400" dirty="0"/>
          </a:p>
        </p:txBody>
      </p:sp>
      <p:sp>
        <p:nvSpPr>
          <p:cNvPr id="14" name="Takeaway row"/>
          <p:cNvSpPr/>
          <p:nvPr/>
        </p:nvSpPr>
        <p:spPr>
          <a:xfrm>
            <a:off x="548640" y="3209544"/>
            <a:ext cx="6675120" cy="658368"/>
          </a:xfrm>
          <a:prstGeom prst="roundRect">
            <a:avLst>
              <a:gd name="adj" fmla="val 13889"/>
            </a:avLst>
          </a:prstGeom>
          <a:solidFill>
            <a:schemeClr val="bg2"/>
          </a:solidFill>
          <a:ln w="6350">
            <a:solidFill>
              <a:schemeClr val="bg2"/>
            </a:solidFill>
            <a:prstDash val="solid"/>
          </a:ln>
        </p:spPr>
      </p:sp>
      <p:sp>
        <p:nvSpPr>
          <p:cNvPr id="15" name="Number badge"/>
          <p:cNvSpPr/>
          <p:nvPr/>
        </p:nvSpPr>
        <p:spPr>
          <a:xfrm>
            <a:off x="713232" y="3337560"/>
            <a:ext cx="402336" cy="402336"/>
          </a:xfrm>
          <a:prstGeom prst="ellipse">
            <a:avLst/>
          </a:prstGeom>
          <a:solidFill>
            <a:schemeClr val="accent1"/>
          </a:solidFill>
          <a:ln w="6350">
            <a:solidFill>
              <a:schemeClr val="accent1"/>
            </a:solidFill>
            <a:prstDash val="solid"/>
          </a:ln>
        </p:spPr>
      </p:sp>
      <p:sp>
        <p:nvSpPr>
          <p:cNvPr id="16" name="Text 13"/>
          <p:cNvSpPr txBox="1"/>
          <p:nvPr/>
        </p:nvSpPr>
        <p:spPr>
          <a:xfrm>
            <a:off x="713232" y="3337560"/>
            <a:ext cx="402336" cy="402336"/>
          </a:xfrm>
          <a:prstGeom prst="rect">
            <a:avLst/>
          </a:prstGeom>
          <a:noFill/>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7" name="Text 14"/>
          <p:cNvSpPr txBox="1"/>
          <p:nvPr/>
        </p:nvSpPr>
        <p:spPr>
          <a:xfrm>
            <a:off x="1280160" y="3209544"/>
            <a:ext cx="5806440" cy="658368"/>
          </a:xfrm>
          <a:prstGeom prst="rect">
            <a:avLst/>
          </a:prstGeom>
          <a:noFill/>
        </p:spPr>
        <p:txBody>
          <a:bodyPr wrap="square" lIns="0" tIns="0" rIns="0" bIns="0" rtlCol="0" anchor="ctr"/>
          <a:lstStyle/>
          <a:p>
            <a:pPr marL="0" indent="0">
              <a:buNone/>
            </a:pPr>
            <a:r>
              <a:rPr lang="en-US" sz="1400" dirty="0">
                <a:solidFill>
                  <a:schemeClr val="tx1"/>
                </a:solidFill>
              </a:rPr>
              <a:t>Tags and attributes build elements; nest them correctly</a:t>
            </a:r>
            <a:endParaRPr lang="en-US" sz="1400" dirty="0"/>
          </a:p>
        </p:txBody>
      </p:sp>
      <p:sp>
        <p:nvSpPr>
          <p:cNvPr id="18" name="Takeaway row"/>
          <p:cNvSpPr/>
          <p:nvPr/>
        </p:nvSpPr>
        <p:spPr>
          <a:xfrm>
            <a:off x="548640" y="3968496"/>
            <a:ext cx="6675120" cy="658368"/>
          </a:xfrm>
          <a:prstGeom prst="roundRect">
            <a:avLst>
              <a:gd name="adj" fmla="val 13889"/>
            </a:avLst>
          </a:prstGeom>
          <a:solidFill>
            <a:schemeClr val="bg2"/>
          </a:solidFill>
          <a:ln w="6350">
            <a:solidFill>
              <a:schemeClr val="bg2"/>
            </a:solidFill>
            <a:prstDash val="solid"/>
          </a:ln>
        </p:spPr>
      </p:sp>
      <p:sp>
        <p:nvSpPr>
          <p:cNvPr id="19" name="Number badge"/>
          <p:cNvSpPr/>
          <p:nvPr/>
        </p:nvSpPr>
        <p:spPr>
          <a:xfrm>
            <a:off x="713232" y="4096512"/>
            <a:ext cx="402336" cy="402336"/>
          </a:xfrm>
          <a:prstGeom prst="ellipse">
            <a:avLst/>
          </a:prstGeom>
          <a:solidFill>
            <a:schemeClr val="accent1"/>
          </a:solidFill>
          <a:ln w="6350">
            <a:solidFill>
              <a:schemeClr val="accent1"/>
            </a:solidFill>
            <a:prstDash val="solid"/>
          </a:ln>
        </p:spPr>
      </p:sp>
      <p:sp>
        <p:nvSpPr>
          <p:cNvPr id="20" name="Text 17"/>
          <p:cNvSpPr txBox="1"/>
          <p:nvPr/>
        </p:nvSpPr>
        <p:spPr>
          <a:xfrm>
            <a:off x="713232" y="4096512"/>
            <a:ext cx="402336" cy="402336"/>
          </a:xfrm>
          <a:prstGeom prst="rect">
            <a:avLst/>
          </a:prstGeom>
          <a:noFill/>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1" name="Text 18"/>
          <p:cNvSpPr txBox="1"/>
          <p:nvPr/>
        </p:nvSpPr>
        <p:spPr>
          <a:xfrm>
            <a:off x="1280160" y="3968496"/>
            <a:ext cx="5806440" cy="658368"/>
          </a:xfrm>
          <a:prstGeom prst="rect">
            <a:avLst/>
          </a:prstGeom>
          <a:noFill/>
        </p:spPr>
        <p:txBody>
          <a:bodyPr wrap="square" lIns="0" tIns="0" rIns="0" bIns="0" rtlCol="0" anchor="ctr"/>
          <a:lstStyle/>
          <a:p>
            <a:pPr marL="0" indent="0">
              <a:buNone/>
            </a:pPr>
            <a:r>
              <a:rPr lang="en-US" sz="1400" dirty="0">
                <a:solidFill>
                  <a:schemeClr val="tx1"/>
                </a:solidFill>
              </a:rPr>
              <a:t>Links, images, lists and tables present content</a:t>
            </a:r>
            <a:endParaRPr lang="en-US" sz="1400" dirty="0"/>
          </a:p>
        </p:txBody>
      </p:sp>
      <p:sp>
        <p:nvSpPr>
          <p:cNvPr id="22" name="Takeaway row"/>
          <p:cNvSpPr/>
          <p:nvPr/>
        </p:nvSpPr>
        <p:spPr>
          <a:xfrm>
            <a:off x="548640" y="4727448"/>
            <a:ext cx="6675120" cy="658368"/>
          </a:xfrm>
          <a:prstGeom prst="roundRect">
            <a:avLst>
              <a:gd name="adj" fmla="val 13889"/>
            </a:avLst>
          </a:prstGeom>
          <a:solidFill>
            <a:schemeClr val="bg2"/>
          </a:solidFill>
          <a:ln w="6350">
            <a:solidFill>
              <a:schemeClr val="bg2"/>
            </a:solidFill>
            <a:prstDash val="solid"/>
          </a:ln>
        </p:spPr>
      </p:sp>
      <p:sp>
        <p:nvSpPr>
          <p:cNvPr id="23" name="Number badge"/>
          <p:cNvSpPr/>
          <p:nvPr/>
        </p:nvSpPr>
        <p:spPr>
          <a:xfrm>
            <a:off x="713232" y="4855464"/>
            <a:ext cx="402336" cy="402336"/>
          </a:xfrm>
          <a:prstGeom prst="ellipse">
            <a:avLst/>
          </a:prstGeom>
          <a:solidFill>
            <a:schemeClr val="accent1"/>
          </a:solidFill>
          <a:ln w="6350">
            <a:solidFill>
              <a:schemeClr val="accent1"/>
            </a:solidFill>
            <a:prstDash val="solid"/>
          </a:ln>
        </p:spPr>
      </p:sp>
      <p:sp>
        <p:nvSpPr>
          <p:cNvPr id="24" name="Text 21"/>
          <p:cNvSpPr txBox="1"/>
          <p:nvPr/>
        </p:nvSpPr>
        <p:spPr>
          <a:xfrm>
            <a:off x="713232" y="4855464"/>
            <a:ext cx="402336" cy="402336"/>
          </a:xfrm>
          <a:prstGeom prst="rect">
            <a:avLst/>
          </a:prstGeom>
          <a:noFill/>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5" name="Text 22"/>
          <p:cNvSpPr txBox="1"/>
          <p:nvPr/>
        </p:nvSpPr>
        <p:spPr>
          <a:xfrm>
            <a:off x="1280160" y="4727448"/>
            <a:ext cx="5806440" cy="658368"/>
          </a:xfrm>
          <a:prstGeom prst="rect">
            <a:avLst/>
          </a:prstGeom>
          <a:noFill/>
        </p:spPr>
        <p:txBody>
          <a:bodyPr wrap="square" lIns="0" tIns="0" rIns="0" bIns="0" rtlCol="0" anchor="ctr"/>
          <a:lstStyle/>
          <a:p>
            <a:pPr marL="0" indent="0">
              <a:buNone/>
            </a:pPr>
            <a:r>
              <a:rPr lang="en-US" sz="1400" dirty="0">
                <a:solidFill>
                  <a:schemeClr val="tx1"/>
                </a:solidFill>
              </a:rPr>
              <a:t>Forms collect data; HTML5 attributes validate it</a:t>
            </a:r>
            <a:endParaRPr lang="en-US" sz="1400" dirty="0"/>
          </a:p>
        </p:txBody>
      </p:sp>
      <p:sp>
        <p:nvSpPr>
          <p:cNvPr id="26" name="Takeaway row"/>
          <p:cNvSpPr/>
          <p:nvPr/>
        </p:nvSpPr>
        <p:spPr>
          <a:xfrm>
            <a:off x="548640" y="5486400"/>
            <a:ext cx="6675120" cy="658368"/>
          </a:xfrm>
          <a:prstGeom prst="roundRect">
            <a:avLst>
              <a:gd name="adj" fmla="val 13889"/>
            </a:avLst>
          </a:prstGeom>
          <a:solidFill>
            <a:schemeClr val="bg2"/>
          </a:solidFill>
          <a:ln w="6350">
            <a:solidFill>
              <a:schemeClr val="bg2"/>
            </a:solidFill>
            <a:prstDash val="solid"/>
          </a:ln>
        </p:spPr>
      </p:sp>
      <p:sp>
        <p:nvSpPr>
          <p:cNvPr id="27" name="Number badge"/>
          <p:cNvSpPr/>
          <p:nvPr/>
        </p:nvSpPr>
        <p:spPr>
          <a:xfrm>
            <a:off x="713232" y="5614416"/>
            <a:ext cx="402336" cy="402336"/>
          </a:xfrm>
          <a:prstGeom prst="ellipse">
            <a:avLst/>
          </a:prstGeom>
          <a:solidFill>
            <a:schemeClr val="accent1"/>
          </a:solidFill>
          <a:ln w="6350">
            <a:solidFill>
              <a:schemeClr val="accent1"/>
            </a:solidFill>
            <a:prstDash val="solid"/>
          </a:ln>
        </p:spPr>
      </p:sp>
      <p:sp>
        <p:nvSpPr>
          <p:cNvPr id="28" name="Text 25"/>
          <p:cNvSpPr txBox="1"/>
          <p:nvPr/>
        </p:nvSpPr>
        <p:spPr>
          <a:xfrm>
            <a:off x="713232" y="5614416"/>
            <a:ext cx="402336" cy="402336"/>
          </a:xfrm>
          <a:prstGeom prst="rect">
            <a:avLst/>
          </a:prstGeom>
          <a:noFill/>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9" name="Text 26"/>
          <p:cNvSpPr txBox="1"/>
          <p:nvPr/>
        </p:nvSpPr>
        <p:spPr>
          <a:xfrm>
            <a:off x="1280160" y="5486400"/>
            <a:ext cx="5806440" cy="658368"/>
          </a:xfrm>
          <a:prstGeom prst="rect">
            <a:avLst/>
          </a:prstGeom>
          <a:noFill/>
        </p:spPr>
        <p:txBody>
          <a:bodyPr wrap="square" lIns="0" tIns="0" rIns="0" bIns="0" rtlCol="0" anchor="ctr"/>
          <a:lstStyle/>
          <a:p>
            <a:pPr marL="0" indent="0">
              <a:buNone/>
            </a:pPr>
            <a:r>
              <a:rPr lang="en-US" sz="1400" dirty="0">
                <a:solidFill>
                  <a:schemeClr val="tx1"/>
                </a:solidFill>
              </a:rPr>
              <a:t>Semantic tags, SEO and validation make quality pages</a:t>
            </a:r>
            <a:endParaRPr lang="en-US" sz="1400" dirty="0"/>
          </a:p>
        </p:txBody>
      </p:sp>
      <p:sp>
        <p:nvSpPr>
          <p:cNvPr id="30" name="Review card"/>
          <p:cNvSpPr/>
          <p:nvPr/>
        </p:nvSpPr>
        <p:spPr>
          <a:xfrm>
            <a:off x="7498080" y="1691640"/>
            <a:ext cx="4142232" cy="4526280"/>
          </a:xfrm>
          <a:prstGeom prst="roundRect">
            <a:avLst>
              <a:gd name="adj" fmla="val 2649"/>
            </a:avLst>
          </a:prstGeom>
          <a:solidFill>
            <a:schemeClr val="tx1"/>
          </a:solidFill>
          <a:ln w="6350">
            <a:solidFill>
              <a:schemeClr val="tx1"/>
            </a:solidFill>
            <a:prstDash val="solid"/>
          </a:ln>
        </p:spPr>
      </p:sp>
      <p:sp>
        <p:nvSpPr>
          <p:cNvPr id="31" name="Text 28"/>
          <p:cNvSpPr txBox="1"/>
          <p:nvPr/>
        </p:nvSpPr>
        <p:spPr>
          <a:xfrm>
            <a:off x="7772400" y="1874520"/>
            <a:ext cx="3657600" cy="365760"/>
          </a:xfrm>
          <a:prstGeom prst="rect">
            <a:avLst/>
          </a:prstGeom>
          <a:noFill/>
        </p:spPr>
        <p:txBody>
          <a:bodyPr wrap="square" lIns="0" tIns="0" rIns="0" bIns="0" rtlCol="0" anchor="ctr"/>
          <a:lstStyle/>
          <a:p>
            <a:pPr marL="0" indent="0">
              <a:buNone/>
            </a:pPr>
            <a:r>
              <a:rPr lang="en-US" sz="1800" b="1" dirty="0">
                <a:solidFill>
                  <a:schemeClr val="bg1"/>
                </a:solidFill>
              </a:rPr>
              <a:t>Review questions</a:t>
            </a:r>
            <a:endParaRPr lang="en-US" sz="1800" dirty="0"/>
          </a:p>
        </p:txBody>
      </p:sp>
      <p:sp>
        <p:nvSpPr>
          <p:cNvPr id="32" name="Text 29"/>
          <p:cNvSpPr txBox="1"/>
          <p:nvPr/>
        </p:nvSpPr>
        <p:spPr>
          <a:xfrm>
            <a:off x="7772400" y="2423160"/>
            <a:ext cx="3657600" cy="2560320"/>
          </a:xfrm>
          <a:prstGeom prst="rect">
            <a:avLst/>
          </a:prstGeom>
          <a:noFill/>
        </p:spPr>
        <p:txBody>
          <a:bodyPr wrap="square" lIns="0" tIns="0" rIns="0" bIns="0" rtlCol="0" anchor="t"/>
          <a:lstStyle/>
          <a:p>
            <a:pPr marL="342900" indent="-342900">
              <a:spcAft>
                <a:spcPts val="1000"/>
              </a:spcAft>
              <a:buSzPct val="100000"/>
              <a:buFont typeface="+mj-lt"/>
              <a:buAutoNum type="arabicPeriod"/>
            </a:pPr>
            <a:r>
              <a:rPr lang="en-US" sz="1500" dirty="0">
                <a:solidFill>
                  <a:schemeClr val="bg1"/>
                </a:solidFill>
              </a:rPr>
              <a:t>Difference between &lt;strong&gt; and &lt;b&gt;?</a:t>
            </a:r>
            <a:endParaRPr lang="en-US" sz="1500" dirty="0"/>
          </a:p>
          <a:p>
            <a:pPr marL="342900" indent="-342900">
              <a:spcAft>
                <a:spcPts val="1000"/>
              </a:spcAft>
              <a:buSzPct val="100000"/>
              <a:buFont typeface="+mj-lt"/>
              <a:buAutoNum type="arabicPeriod"/>
            </a:pPr>
            <a:r>
              <a:rPr lang="en-US" sz="1500" dirty="0">
                <a:solidFill>
                  <a:schemeClr val="bg1"/>
                </a:solidFill>
              </a:rPr>
              <a:t>Why is the alt attribute important?</a:t>
            </a:r>
            <a:endParaRPr lang="en-US" sz="1500" dirty="0"/>
          </a:p>
          <a:p>
            <a:pPr marL="342900" indent="-342900">
              <a:spcAft>
                <a:spcPts val="1000"/>
              </a:spcAft>
              <a:buSzPct val="100000"/>
              <a:buFont typeface="+mj-lt"/>
              <a:buAutoNum type="arabicPeriod"/>
            </a:pPr>
            <a:r>
              <a:rPr lang="en-US" sz="1500" dirty="0">
                <a:solidFill>
                  <a:schemeClr val="bg1"/>
                </a:solidFill>
              </a:rPr>
              <a:t>Compare the GET and POST methods.</a:t>
            </a:r>
            <a:endParaRPr lang="en-US" sz="1500" dirty="0"/>
          </a:p>
          <a:p>
            <a:pPr marL="342900" indent="-342900">
              <a:spcAft>
                <a:spcPts val="1000"/>
              </a:spcAft>
              <a:buSzPct val="100000"/>
              <a:buFont typeface="+mj-lt"/>
              <a:buAutoNum type="arabicPeriod"/>
            </a:pPr>
            <a:r>
              <a:rPr lang="en-US" sz="1500" dirty="0">
                <a:solidFill>
                  <a:schemeClr val="bg1"/>
                </a:solidFill>
              </a:rPr>
              <a:t>Name five semantic HTML5 elements.</a:t>
            </a:r>
            <a:endParaRPr lang="en-US" sz="1500" dirty="0"/>
          </a:p>
          <a:p>
            <a:pPr marL="342900" indent="-342900">
              <a:spcAft>
                <a:spcPts val="1000"/>
              </a:spcAft>
              <a:buSzPct val="100000"/>
              <a:buFont typeface="+mj-lt"/>
              <a:buAutoNum type="arabicPeriod"/>
            </a:pPr>
            <a:r>
              <a:rPr lang="en-US" sz="1500" dirty="0">
                <a:solidFill>
                  <a:schemeClr val="bg1"/>
                </a:solidFill>
              </a:rPr>
              <a:t>How do you validate an HTML file?</a:t>
            </a:r>
            <a:endParaRPr lang="en-US" sz="1500" dirty="0"/>
          </a:p>
        </p:txBody>
      </p:sp>
      <p:sp>
        <p:nvSpPr>
          <p:cNvPr id="33" name="Text 30"/>
          <p:cNvSpPr txBox="1"/>
          <p:nvPr/>
        </p:nvSpPr>
        <p:spPr>
          <a:xfrm>
            <a:off x="7772400" y="5257800"/>
            <a:ext cx="3657600" cy="731520"/>
          </a:xfrm>
          <a:prstGeom prst="rect">
            <a:avLst/>
          </a:prstGeom>
          <a:noFill/>
        </p:spPr>
        <p:txBody>
          <a:bodyPr wrap="square" lIns="0" tIns="0" rIns="0" bIns="0" rtlCol="0" anchor="ctr"/>
          <a:lstStyle/>
          <a:p>
            <a:pPr marL="0" indent="0">
              <a:buNone/>
            </a:pPr>
            <a:r>
              <a:rPr lang="en-US" sz="1400" b="1" dirty="0">
                <a:solidFill>
                  <a:schemeClr val="accent3"/>
                </a:solidFill>
              </a:rPr>
              <a:t>Next: Chapter 4, CSS Styling and Frameworks</a:t>
            </a:r>
            <a:endParaRPr lang="en-US" sz="1400" dirty="0"/>
          </a:p>
        </p:txBody>
      </p:sp>
    </p:spTree>
  </p:cSld>
  <p:clrMapOvr>
    <a:masterClrMapping/>
  </p:clrMapOvr>
</p:sld>
</file>

<file path=ppt/theme/theme1.xml><?xml version="1.0" encoding="utf-8"?>
<a:theme xmlns:a="http://schemas.openxmlformats.org/drawingml/2006/main" name="HTML Chapter">
  <a:themeElements>
    <a:clrScheme name="HTML Chapter">
      <a:dk1>
        <a:srgbClr val="1B2030"/>
      </a:dk1>
      <a:lt1>
        <a:srgbClr val="FFFFFF"/>
      </a:lt1>
      <a:dk2>
        <a:srgbClr val="4A5266"/>
      </a:dk2>
      <a:lt2>
        <a:srgbClr val="F3F4F7"/>
      </a:lt2>
      <a:accent1>
        <a:srgbClr val="E44D26"/>
      </a:accent1>
      <a:accent2>
        <a:srgbClr val="264DE4"/>
      </a:accent2>
      <a:accent3>
        <a:srgbClr val="F2B01E"/>
      </a:accent3>
      <a:accent4>
        <a:srgbClr val="1F9D6B"/>
      </a:accent4>
      <a:accent5>
        <a:srgbClr val="8A5CF5"/>
      </a:accent5>
      <a:accent6>
        <a:srgbClr val="F16529"/>
      </a:accent6>
      <a:hlink>
        <a:srgbClr val="264DE4"/>
      </a:hlink>
      <a:folHlink>
        <a:srgbClr val="8A5CF5"/>
      </a:folHlink>
    </a:clrScheme>
    <a:fontScheme name="HTML Chap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TML Chapter">
  <a:themeElements>
    <a:clrScheme name="HTML Chapter">
      <a:dk1>
        <a:srgbClr val="1B2030"/>
      </a:dk1>
      <a:lt1>
        <a:srgbClr val="FFFFFF"/>
      </a:lt1>
      <a:dk2>
        <a:srgbClr val="4A5266"/>
      </a:dk2>
      <a:lt2>
        <a:srgbClr val="F3F4F7"/>
      </a:lt2>
      <a:accent1>
        <a:srgbClr val="E44D26"/>
      </a:accent1>
      <a:accent2>
        <a:srgbClr val="264DE4"/>
      </a:accent2>
      <a:accent3>
        <a:srgbClr val="F2B01E"/>
      </a:accent3>
      <a:accent4>
        <a:srgbClr val="1F9D6B"/>
      </a:accent4>
      <a:accent5>
        <a:srgbClr val="8A5CF5"/>
      </a:accent5>
      <a:accent6>
        <a:srgbClr val="F16529"/>
      </a:accent6>
      <a:hlink>
        <a:srgbClr val="264DE4"/>
      </a:hlink>
      <a:folHlink>
        <a:srgbClr val="8A5CF5"/>
      </a:folHlink>
    </a:clrScheme>
    <a:fontScheme name="HTML Chap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14272</Words>
  <Application>WPS Presentation</Application>
  <PresentationFormat>On-screen Show (16:9)</PresentationFormat>
  <Paragraphs>1074</Paragraphs>
  <Slides>25</Slides>
  <Notes>25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25</vt:i4>
      </vt:variant>
    </vt:vector>
  </HeadingPairs>
  <TitlesOfParts>
    <vt:vector size="38" baseType="lpstr">
      <vt:lpstr>Arial</vt:lpstr>
      <vt:lpstr>SimSun</vt:lpstr>
      <vt:lpstr>Wingdings</vt:lpstr>
      <vt:lpstr>Cambria</vt:lpstr>
      <vt:lpstr>Cambria</vt:lpstr>
      <vt:lpstr>Cambria</vt:lpstr>
      <vt:lpstr>Courier New</vt:lpstr>
      <vt:lpstr>Courier New</vt:lpstr>
      <vt:lpstr>Courier New</vt:lpstr>
      <vt:lpstr>Calibri</vt:lpstr>
      <vt:lpstr>Microsoft YaHei</vt:lpstr>
      <vt:lpstr>Arial Unicode MS</vt:lpstr>
      <vt:lpstr>HTML Chapter</vt:lpstr>
      <vt:lpstr>PowerPoint 演示文稿</vt:lpstr>
      <vt:lpstr>What You Will Learn</vt:lpstr>
      <vt:lpstr>What Is HTML?</vt:lpstr>
      <vt:lpstr>Anatomy of an HTML Element</vt:lpstr>
      <vt:lpstr>Structure of an HTML Document</vt:lpstr>
      <vt:lpstr>The Head Section and Metadata</vt:lpstr>
      <vt:lpstr>Headings and Paragraphs</vt:lpstr>
      <vt:lpstr>Text Formatting Tags</vt:lpstr>
      <vt:lpstr>Block vs Inline, Entities and Comments</vt:lpstr>
      <vt:lpstr>Hyperlinks: The Anchor Tag</vt:lpstr>
      <vt:lpstr>Images and Multimedia</vt:lpstr>
      <vt:lpstr>HTML Lists</vt:lpstr>
      <vt:lpstr>Creating Tables</vt:lpstr>
      <vt:lpstr>Advanced Tables: Merging Cells</vt:lpstr>
      <vt:lpstr>HTML Forms: Collecting Data</vt:lpstr>
      <vt:lpstr>Form Input Types</vt:lpstr>
      <vt:lpstr>Complete Form Example</vt:lpstr>
      <vt:lpstr>HTML5 Form Validation</vt:lpstr>
      <vt:lpstr>Semantic HTML5 Elements</vt:lpstr>
      <vt:lpstr>Semantic Page Layout in Code</vt:lpstr>
      <vt:lpstr>SEO Basics for HTML</vt:lpstr>
      <vt:lpstr>Validation and Debugging</vt:lpstr>
      <vt:lpstr>Best Practices</vt:lpstr>
      <vt:lpstr>Lab Exercise: Student Profile Page</vt:lpstr>
      <vt:lpstr>Summary and Review Questions</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Document Markup (HTML)</dc:title>
  <dc:creator>Department of Information Systems, Wollo University</dc:creator>
  <dc:subject>Internet and Web Programming I (InSy3061)</dc:subject>
  <cp:lastModifiedBy>tarekegn walle</cp:lastModifiedBy>
  <cp:revision>2</cp:revision>
  <dcterms:created xsi:type="dcterms:W3CDTF">2026-10-14T04:26:00Z</dcterms:created>
  <dcterms:modified xsi:type="dcterms:W3CDTF">2026-10-14T05:03:46Z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0ED5EC27F5464512A13640460030B284_12</vt:lpwstr>
  </property>
</Properties>
</file>